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2.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7" r:id="rId14"/>
    <p:sldId id="273" r:id="rId15"/>
    <p:sldId id="269" r:id="rId16"/>
    <p:sldId id="270" r:id="rId17"/>
    <p:sldId id="271"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7C00"/>
    <a:srgbClr val="8B0000"/>
    <a:srgbClr val="2C2C2C"/>
    <a:srgbClr val="F7F4EE"/>
    <a:srgbClr val="B71C1C"/>
    <a:srgbClr val="2E7D32"/>
    <a:srgbClr val="6A1B9A"/>
    <a:srgbClr val="1F140D"/>
    <a:srgbClr val="D4A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75" autoAdjust="0"/>
    <p:restoredTop sz="94610"/>
  </p:normalViewPr>
  <p:slideViewPr>
    <p:cSldViewPr snapToGrid="0" snapToObjects="1">
      <p:cViewPr varScale="1">
        <p:scale>
          <a:sx n="105" d="100"/>
          <a:sy n="105" d="100"/>
        </p:scale>
        <p:origin x="126"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m Gbadegesin" userId="835f55c507f24932" providerId="LiveId" clId="{DBAABF96-D7D5-4EA2-BBF4-3BA099922338}"/>
    <pc:docChg chg="addSld modSld">
      <pc:chgData name="Mariam Gbadegesin" userId="835f55c507f24932" providerId="LiveId" clId="{DBAABF96-D7D5-4EA2-BBF4-3BA099922338}" dt="2026-06-21T03:28:38.025" v="1"/>
      <pc:docMkLst>
        <pc:docMk/>
      </pc:docMkLst>
      <pc:sldChg chg="add setBg">
        <pc:chgData name="Mariam Gbadegesin" userId="835f55c507f24932" providerId="LiveId" clId="{DBAABF96-D7D5-4EA2-BBF4-3BA099922338}" dt="2026-06-21T03:28:38.025" v="1"/>
        <pc:sldMkLst>
          <pc:docMk/>
          <pc:sldMk cId="0" sldId="274"/>
        </pc:sldMkLst>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ctr" rtl="0">
              <a:defRPr lang="en-US" sz="1800" b="0" i="0" u="none" strike="noStrike" kern="1200" baseline="0">
                <a:solidFill>
                  <a:srgbClr val="FFC000"/>
                </a:solidFill>
                <a:latin typeface="Arial"/>
                <a:ea typeface="+mn-ea"/>
                <a:cs typeface="+mn-cs"/>
              </a:defRPr>
            </a:pPr>
            <a:r>
              <a:rPr lang="en-US" sz="1800" b="0" i="0" u="none" strike="noStrike" kern="1200" baseline="0">
                <a:solidFill>
                  <a:srgbClr val="FFC000"/>
                </a:solidFill>
                <a:latin typeface="Arial"/>
                <a:ea typeface="+mn-ea"/>
                <a:cs typeface="+mn-cs"/>
              </a:rPr>
              <a:t>Avg CO2 by Region (Mt)</a:t>
            </a:r>
          </a:p>
        </c:rich>
      </c:tx>
      <c:overlay val="0"/>
    </c:title>
    <c:autoTitleDeleted val="0"/>
    <c:plotArea>
      <c:layout>
        <c:manualLayout>
          <c:layoutTarget val="inner"/>
          <c:xMode val="edge"/>
          <c:yMode val="edge"/>
          <c:x val="0.31818303962004751"/>
          <c:y val="0.3414757005306096"/>
          <c:w val="0.59049743782027253"/>
          <c:h val="0.46290781324629382"/>
        </c:manualLayout>
      </c:layout>
      <c:barChart>
        <c:barDir val="bar"/>
        <c:grouping val="clustered"/>
        <c:varyColors val="0"/>
        <c:ser>
          <c:idx val="0"/>
          <c:order val="0"/>
          <c:tx>
            <c:strRef>
              <c:f>Sheet1!$B$1</c:f>
              <c:strCache>
                <c:ptCount val="1"/>
                <c:pt idx="0">
                  <c:v>Avg CO2 (Mt)</c:v>
                </c:pt>
              </c:strCache>
            </c:strRef>
          </c:tx>
          <c:spPr>
            <a:solidFill>
              <a:srgbClr val="2E86AB"/>
            </a:solidFill>
            <a:effectLst/>
          </c:spPr>
          <c:invertIfNegative val="0"/>
          <c:dPt>
            <c:idx val="0"/>
            <c:invertIfNegative val="0"/>
            <c:bubble3D val="0"/>
            <c:extLst>
              <c:ext xmlns:c16="http://schemas.microsoft.com/office/drawing/2014/chart" uri="{C3380CC4-5D6E-409C-BE32-E72D297353CC}">
                <c16:uniqueId val="{00000001-1895-400D-8004-F88393F37DF3}"/>
              </c:ext>
            </c:extLst>
          </c:dPt>
          <c:dPt>
            <c:idx val="1"/>
            <c:invertIfNegative val="0"/>
            <c:bubble3D val="0"/>
            <c:spPr>
              <a:solidFill>
                <a:srgbClr val="8B4513"/>
              </a:solidFill>
              <a:effectLst/>
            </c:spPr>
            <c:extLst>
              <c:ext xmlns:c16="http://schemas.microsoft.com/office/drawing/2014/chart" uri="{C3380CC4-5D6E-409C-BE32-E72D297353CC}">
                <c16:uniqueId val="{00000003-1895-400D-8004-F88393F37DF3}"/>
              </c:ext>
            </c:extLst>
          </c:dPt>
          <c:dPt>
            <c:idx val="2"/>
            <c:invertIfNegative val="0"/>
            <c:bubble3D val="0"/>
            <c:spPr>
              <a:solidFill>
                <a:srgbClr val="4A7C59"/>
              </a:solidFill>
              <a:effectLst/>
            </c:spPr>
            <c:extLst>
              <c:ext xmlns:c16="http://schemas.microsoft.com/office/drawing/2014/chart" uri="{C3380CC4-5D6E-409C-BE32-E72D297353CC}">
                <c16:uniqueId val="{00000005-1895-400D-8004-F88393F37DF3}"/>
              </c:ext>
            </c:extLst>
          </c:dPt>
          <c:dPt>
            <c:idx val="3"/>
            <c:invertIfNegative val="0"/>
            <c:bubble3D val="0"/>
            <c:spPr>
              <a:solidFill>
                <a:srgbClr val="C1440E"/>
              </a:solidFill>
              <a:effectLst/>
            </c:spPr>
            <c:extLst>
              <c:ext xmlns:c16="http://schemas.microsoft.com/office/drawing/2014/chart" uri="{C3380CC4-5D6E-409C-BE32-E72D297353CC}">
                <c16:uniqueId val="{00000007-1895-400D-8004-F88393F37DF3}"/>
              </c:ext>
            </c:extLst>
          </c:dPt>
          <c:dPt>
            <c:idx val="4"/>
            <c:invertIfNegative val="0"/>
            <c:bubble3D val="0"/>
            <c:spPr>
              <a:solidFill>
                <a:srgbClr val="D4A017"/>
              </a:solidFill>
              <a:effectLst/>
            </c:spPr>
            <c:extLst>
              <c:ext xmlns:c16="http://schemas.microsoft.com/office/drawing/2014/chart" uri="{C3380CC4-5D6E-409C-BE32-E72D297353CC}">
                <c16:uniqueId val="{00000009-1895-400D-8004-F88393F37DF3}"/>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East Africa</c:v>
                </c:pt>
                <c:pt idx="1">
                  <c:v>Central Africa</c:v>
                </c:pt>
                <c:pt idx="2">
                  <c:v>West Africa</c:v>
                </c:pt>
                <c:pt idx="3">
                  <c:v>Southern Africa</c:v>
                </c:pt>
                <c:pt idx="4">
                  <c:v>North Africa</c:v>
                </c:pt>
              </c:strCache>
            </c:strRef>
          </c:cat>
          <c:val>
            <c:numRef>
              <c:f>Sheet1!$B$2:$B$6</c:f>
              <c:numCache>
                <c:formatCode>General</c:formatCode>
                <c:ptCount val="5"/>
                <c:pt idx="0">
                  <c:v>3.47</c:v>
                </c:pt>
                <c:pt idx="1">
                  <c:v>3.77</c:v>
                </c:pt>
                <c:pt idx="2">
                  <c:v>10.18</c:v>
                </c:pt>
                <c:pt idx="3">
                  <c:v>52.41</c:v>
                </c:pt>
                <c:pt idx="4">
                  <c:v>82.41</c:v>
                </c:pt>
              </c:numCache>
            </c:numRef>
          </c:val>
          <c:extLst>
            <c:ext xmlns:c16="http://schemas.microsoft.com/office/drawing/2014/chart" uri="{C3380CC4-5D6E-409C-BE32-E72D297353CC}">
              <c16:uniqueId val="{0000000A-1895-400D-8004-F88393F37D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D302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0998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D2010"/>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5.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1572FD6B-A3F4-D6CD-81C0-E1F1E68DAA43}"/>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9156211" cy="4992634"/>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372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svg"/><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sp>
      <p:sp>
        <p:nvSpPr>
          <p:cNvPr id="3" name="Text 1"/>
          <p:cNvSpPr/>
          <p:nvPr/>
        </p:nvSpPr>
        <p:spPr>
          <a:xfrm>
            <a:off x="5029200" y="201168"/>
            <a:ext cx="3931920" cy="274320"/>
          </a:xfrm>
          <a:prstGeom prst="rect">
            <a:avLst/>
          </a:prstGeom>
          <a:noFill/>
          <a:ln/>
        </p:spPr>
        <p:txBody>
          <a:bodyPr wrap="square" lIns="0" tIns="0" rIns="0" bIns="0" rtlCol="0" anchor="ctr"/>
          <a:lstStyle/>
          <a:p>
            <a:pPr marL="0" indent="0" algn="r">
              <a:buNone/>
            </a:pPr>
            <a:r>
              <a:rPr lang="en-US" sz="900" kern="0" spc="150" dirty="0">
                <a:solidFill>
                  <a:srgbClr val="8B0000"/>
                </a:solidFill>
                <a:latin typeface="Calibri" pitchFamily="34" charset="0"/>
                <a:ea typeface="Calibri" pitchFamily="34" charset="-122"/>
                <a:cs typeface="Calibri" pitchFamily="34" charset="-120"/>
              </a:rPr>
              <a:t>SEEDING AFRICA  |  DATA ANALYSIS TRACK</a:t>
            </a:r>
            <a:endParaRPr lang="en-US" sz="900" dirty="0">
              <a:solidFill>
                <a:srgbClr val="8B0000"/>
              </a:solidFill>
            </a:endParaRPr>
          </a:p>
        </p:txBody>
      </p:sp>
      <p:sp>
        <p:nvSpPr>
          <p:cNvPr id="4" name="Text 2"/>
          <p:cNvSpPr/>
          <p:nvPr/>
        </p:nvSpPr>
        <p:spPr>
          <a:xfrm>
            <a:off x="369277" y="844062"/>
            <a:ext cx="8405446" cy="1391646"/>
          </a:xfrm>
          <a:prstGeom prst="rect">
            <a:avLst/>
          </a:prstGeom>
          <a:noFill/>
          <a:ln/>
        </p:spPr>
        <p:txBody>
          <a:bodyPr wrap="square" lIns="0" tIns="0" rIns="0" bIns="0" rtlCol="0" anchor="ctr"/>
          <a:lstStyle/>
          <a:p>
            <a:r>
              <a:rPr lang="en-NG" sz="3200" b="1" dirty="0">
                <a:solidFill>
                  <a:srgbClr val="8B0000"/>
                </a:solidFill>
              </a:rPr>
              <a:t>INFLATION, PURCHASING POWER</a:t>
            </a:r>
            <a:r>
              <a:rPr lang="en-US" sz="3200" b="1" dirty="0">
                <a:solidFill>
                  <a:srgbClr val="8B0000"/>
                </a:solidFill>
              </a:rPr>
              <a:t> </a:t>
            </a:r>
            <a:r>
              <a:rPr lang="en-NG" sz="3200" b="1" dirty="0">
                <a:solidFill>
                  <a:srgbClr val="8B0000"/>
                </a:solidFill>
              </a:rPr>
              <a:t>AND SAVINGS BEHAVIOUR</a:t>
            </a:r>
            <a:r>
              <a:rPr lang="en-US" sz="3200" b="1" dirty="0">
                <a:solidFill>
                  <a:srgbClr val="8B0000"/>
                </a:solidFill>
              </a:rPr>
              <a:t> </a:t>
            </a:r>
            <a:r>
              <a:rPr lang="en-NG" sz="3200" b="1" dirty="0">
                <a:solidFill>
                  <a:srgbClr val="8B0000"/>
                </a:solidFill>
              </a:rPr>
              <a:t>OF NIGERIAN SALARY EARNERS</a:t>
            </a:r>
          </a:p>
        </p:txBody>
      </p:sp>
      <p:sp>
        <p:nvSpPr>
          <p:cNvPr id="5" name="Text 3"/>
          <p:cNvSpPr/>
          <p:nvPr/>
        </p:nvSpPr>
        <p:spPr>
          <a:xfrm>
            <a:off x="369277" y="2235708"/>
            <a:ext cx="8405446" cy="598932"/>
          </a:xfrm>
          <a:prstGeom prst="rect">
            <a:avLst/>
          </a:prstGeom>
          <a:noFill/>
          <a:ln/>
        </p:spPr>
        <p:txBody>
          <a:bodyPr wrap="square" lIns="0" tIns="0" rIns="0" bIns="0" rtlCol="0" anchor="ctr"/>
          <a:lstStyle/>
          <a:p>
            <a:r>
              <a:rPr lang="en-NG" i="1" dirty="0">
                <a:solidFill>
                  <a:srgbClr val="8B0000"/>
                </a:solidFill>
              </a:rPr>
              <a:t>Evidence from a Survey of Nigerian Salary Earners</a:t>
            </a:r>
            <a:r>
              <a:rPr lang="en-US" i="1" dirty="0">
                <a:solidFill>
                  <a:srgbClr val="8B0000"/>
                </a:solidFill>
                <a:latin typeface="Calibri" pitchFamily="34" charset="0"/>
                <a:cs typeface="Calibri" pitchFamily="34" charset="-120"/>
              </a:rPr>
              <a:t> with </a:t>
            </a:r>
            <a:r>
              <a:rPr lang="en-NG" dirty="0">
                <a:solidFill>
                  <a:srgbClr val="8B0000"/>
                </a:solidFill>
              </a:rPr>
              <a:t>3+ Years of Work</a:t>
            </a:r>
            <a:r>
              <a:rPr lang="en-US" dirty="0">
                <a:solidFill>
                  <a:srgbClr val="8B0000"/>
                </a:solidFill>
              </a:rPr>
              <a:t> </a:t>
            </a:r>
            <a:r>
              <a:rPr lang="en-NG" dirty="0">
                <a:solidFill>
                  <a:srgbClr val="8B0000"/>
                </a:solidFill>
              </a:rPr>
              <a:t>Experience</a:t>
            </a:r>
            <a:endParaRPr lang="en-US" i="1" dirty="0">
              <a:solidFill>
                <a:srgbClr val="8B0000"/>
              </a:solidFill>
            </a:endParaRPr>
          </a:p>
        </p:txBody>
      </p:sp>
      <p:sp>
        <p:nvSpPr>
          <p:cNvPr id="6" name="Shape 4"/>
          <p:cNvSpPr/>
          <p:nvPr/>
        </p:nvSpPr>
        <p:spPr>
          <a:xfrm>
            <a:off x="457200" y="2926080"/>
            <a:ext cx="4114800" cy="41148"/>
          </a:xfrm>
          <a:prstGeom prst="rect">
            <a:avLst/>
          </a:prstGeom>
          <a:solidFill>
            <a:srgbClr val="8B0000"/>
          </a:solidFill>
          <a:ln w="12700">
            <a:solidFill>
              <a:srgbClr val="8B0000"/>
            </a:solidFill>
            <a:prstDash val="solid"/>
          </a:ln>
        </p:spPr>
      </p:sp>
      <p:sp>
        <p:nvSpPr>
          <p:cNvPr id="7" name="Text 5"/>
          <p:cNvSpPr/>
          <p:nvPr/>
        </p:nvSpPr>
        <p:spPr>
          <a:xfrm>
            <a:off x="457200" y="3090672"/>
            <a:ext cx="6400800" cy="292608"/>
          </a:xfrm>
          <a:prstGeom prst="rect">
            <a:avLst/>
          </a:prstGeom>
          <a:noFill/>
          <a:ln/>
        </p:spPr>
        <p:txBody>
          <a:bodyPr wrap="square" lIns="0" tIns="0" rIns="0" bIns="0" rtlCol="0" anchor="ctr"/>
          <a:lstStyle/>
          <a:p>
            <a:pPr marL="0" indent="0">
              <a:buNone/>
            </a:pPr>
            <a:r>
              <a:rPr lang="en-US" sz="1400" b="1" dirty="0">
                <a:solidFill>
                  <a:srgbClr val="8B0000"/>
                </a:solidFill>
                <a:latin typeface="Calibri" pitchFamily="34" charset="0"/>
                <a:cs typeface="Calibri" pitchFamily="34" charset="-120"/>
              </a:rPr>
              <a:t>OLATUNJI HALIMOH TEMIDAYO</a:t>
            </a:r>
            <a:endParaRPr lang="en-US" sz="1400" dirty="0">
              <a:solidFill>
                <a:srgbClr val="8B0000"/>
              </a:solidFill>
            </a:endParaRPr>
          </a:p>
        </p:txBody>
      </p:sp>
      <p:sp>
        <p:nvSpPr>
          <p:cNvPr id="8" name="Text 6"/>
          <p:cNvSpPr/>
          <p:nvPr/>
        </p:nvSpPr>
        <p:spPr>
          <a:xfrm>
            <a:off x="457200" y="3401568"/>
            <a:ext cx="6400800" cy="256032"/>
          </a:xfrm>
          <a:prstGeom prst="rect">
            <a:avLst/>
          </a:prstGeom>
          <a:noFill/>
          <a:ln/>
        </p:spPr>
        <p:txBody>
          <a:bodyPr wrap="square" lIns="0" tIns="0" rIns="0" bIns="0" rtlCol="0" anchor="ctr"/>
          <a:lstStyle/>
          <a:p>
            <a:pPr marL="0" indent="0">
              <a:buNone/>
            </a:pPr>
            <a:r>
              <a:rPr lang="en-US" sz="1100" dirty="0">
                <a:solidFill>
                  <a:srgbClr val="8B0000"/>
                </a:solidFill>
                <a:latin typeface="Calibri" pitchFamily="34" charset="0"/>
                <a:ea typeface="Calibri" pitchFamily="34" charset="-122"/>
                <a:cs typeface="Calibri" pitchFamily="34" charset="-120"/>
              </a:rPr>
              <a:t>FemTech Information Technology Institute  |  May 2026</a:t>
            </a:r>
            <a:endParaRPr lang="en-US" sz="1100" dirty="0">
              <a:solidFill>
                <a:srgbClr val="8B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F7F4EE"/>
          </a:solidFill>
          <a:ln w="10160">
            <a:solidFill>
              <a:srgbClr val="D4A017">
                <a:alpha val="30000"/>
              </a:srgbClr>
            </a:solidFill>
            <a:prstDash val="solid"/>
          </a:ln>
        </p:spPr>
      </p:sp>
      <p:pic>
        <p:nvPicPr>
          <p:cNvPr id="28" name="Graphic 27" descr="Bar graph with upward trend with solid fill">
            <a:extLst>
              <a:ext uri="{FF2B5EF4-FFF2-40B4-BE49-F238E27FC236}">
                <a16:creationId xmlns:a16="http://schemas.microsoft.com/office/drawing/2014/main" id="{93E6BC81-A569-3407-776F-6B7F941FBC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8817" y="3012948"/>
            <a:ext cx="1856658" cy="1924812"/>
          </a:xfrm>
          <a:prstGeom prst="rect">
            <a:avLst/>
          </a:prstGeom>
        </p:spPr>
      </p:pic>
      <p:sp>
        <p:nvSpPr>
          <p:cNvPr id="3" name="Shape 1"/>
          <p:cNvSpPr/>
          <p:nvPr/>
        </p:nvSpPr>
        <p:spPr>
          <a:xfrm>
            <a:off x="6858000" y="-457200"/>
            <a:ext cx="3200400" cy="3200400"/>
          </a:xfrm>
          <a:prstGeom prst="ellipse">
            <a:avLst/>
          </a:prstGeom>
          <a:solidFill>
            <a:srgbClr val="F7F4EE"/>
          </a:solidFill>
          <a:ln w="6350">
            <a:solidFill>
              <a:srgbClr val="C1440E">
                <a:alpha val="40000"/>
              </a:srgbClr>
            </a:solidFill>
            <a:prstDash val="solid"/>
          </a:ln>
        </p:spPr>
      </p:sp>
      <p:sp>
        <p:nvSpPr>
          <p:cNvPr id="7" name="Shape 5"/>
          <p:cNvSpPr/>
          <p:nvPr/>
        </p:nvSpPr>
        <p:spPr>
          <a:xfrm>
            <a:off x="6949440" y="1645920"/>
            <a:ext cx="822960" cy="640080"/>
          </a:xfrm>
          <a:prstGeom prst="ellipse">
            <a:avLst/>
          </a:prstGeom>
          <a:solidFill>
            <a:srgbClr val="F7F4EE"/>
          </a:solidFill>
          <a:ln w="12700">
            <a:solidFill>
              <a:srgbClr val="A0998F">
                <a:alpha val="70000"/>
              </a:srgbClr>
            </a:solidFill>
            <a:prstDash val="solid"/>
          </a:ln>
        </p:spPr>
      </p:sp>
      <p:sp>
        <p:nvSpPr>
          <p:cNvPr id="8" name="Shape 6"/>
          <p:cNvSpPr/>
          <p:nvPr/>
        </p:nvSpPr>
        <p:spPr>
          <a:xfrm>
            <a:off x="7223760" y="1188720"/>
            <a:ext cx="1005840" cy="731520"/>
          </a:xfrm>
          <a:prstGeom prst="ellipse">
            <a:avLst/>
          </a:prstGeom>
          <a:solidFill>
            <a:srgbClr val="F7F4EE"/>
          </a:solidFill>
          <a:ln w="12700">
            <a:solidFill>
              <a:srgbClr val="A0998F">
                <a:alpha val="60000"/>
              </a:srgbClr>
            </a:solidFill>
            <a:prstDash val="solid"/>
          </a:ln>
        </p:spPr>
      </p:sp>
      <p:sp>
        <p:nvSpPr>
          <p:cNvPr id="9" name="Shape 7"/>
          <p:cNvSpPr/>
          <p:nvPr/>
        </p:nvSpPr>
        <p:spPr>
          <a:xfrm>
            <a:off x="7589520" y="822960"/>
            <a:ext cx="1188720" cy="822960"/>
          </a:xfrm>
          <a:prstGeom prst="ellipse">
            <a:avLst/>
          </a:prstGeom>
          <a:solidFill>
            <a:srgbClr val="F7F4EE"/>
          </a:solidFill>
          <a:ln w="12700">
            <a:solidFill>
              <a:srgbClr val="A0998F">
                <a:alpha val="50000"/>
              </a:srgbClr>
            </a:solidFill>
            <a:prstDash val="solid"/>
          </a:ln>
        </p:spPr>
      </p:sp>
      <p:sp>
        <p:nvSpPr>
          <p:cNvPr id="10" name="Shape 8"/>
          <p:cNvSpPr/>
          <p:nvPr/>
        </p:nvSpPr>
        <p:spPr>
          <a:xfrm>
            <a:off x="7315200" y="365760"/>
            <a:ext cx="1645920" cy="1005840"/>
          </a:xfrm>
          <a:prstGeom prst="ellipse">
            <a:avLst/>
          </a:prstGeom>
          <a:solidFill>
            <a:srgbClr val="F7F4EE"/>
          </a:solidFill>
          <a:ln w="12700">
            <a:solidFill>
              <a:srgbClr val="A0998F">
                <a:alpha val="40000"/>
              </a:srgbClr>
            </a:solidFill>
            <a:prstDash val="solid"/>
          </a:ln>
        </p:spPr>
      </p:sp>
      <p:sp>
        <p:nvSpPr>
          <p:cNvPr id="12" name="Text 10"/>
          <p:cNvSpPr/>
          <p:nvPr/>
        </p:nvSpPr>
        <p:spPr>
          <a:xfrm>
            <a:off x="182880" y="2926080"/>
            <a:ext cx="3200400" cy="1645920"/>
          </a:xfrm>
          <a:prstGeom prst="rect">
            <a:avLst/>
          </a:prstGeom>
          <a:noFill/>
          <a:ln/>
        </p:spPr>
        <p:txBody>
          <a:bodyPr wrap="square" rtlCol="0" anchor="ctr"/>
          <a:lstStyle/>
          <a:p>
            <a:pPr marL="0" indent="0" algn="ctr">
              <a:buNone/>
            </a:pPr>
            <a:r>
              <a:rPr lang="en-US" sz="10000" b="1" dirty="0">
                <a:solidFill>
                  <a:srgbClr val="C1440E">
                    <a:alpha val="12000"/>
                  </a:srgbClr>
                </a:solidFill>
                <a:latin typeface="Trebuchet MS" pitchFamily="34" charset="0"/>
              </a:rPr>
              <a:t># #</a:t>
            </a:r>
            <a:endParaRPr lang="en-US" sz="10000" dirty="0"/>
          </a:p>
        </p:txBody>
      </p:sp>
      <p:sp>
        <p:nvSpPr>
          <p:cNvPr id="14" name="Shape 12"/>
          <p:cNvSpPr/>
          <p:nvPr/>
        </p:nvSpPr>
        <p:spPr>
          <a:xfrm>
            <a:off x="0" y="0"/>
            <a:ext cx="9144000" cy="13716"/>
          </a:xfrm>
          <a:prstGeom prst="rect">
            <a:avLst/>
          </a:prstGeom>
          <a:solidFill>
            <a:srgbClr val="2A1A0A"/>
          </a:solidFill>
          <a:ln w="12700">
            <a:solidFill>
              <a:srgbClr val="2A1A0A"/>
            </a:solidFill>
            <a:prstDash val="solid"/>
          </a:ln>
        </p:spPr>
      </p:sp>
      <p:sp>
        <p:nvSpPr>
          <p:cNvPr id="19" name="Shape 17"/>
          <p:cNvSpPr/>
          <p:nvPr/>
        </p:nvSpPr>
        <p:spPr>
          <a:xfrm>
            <a:off x="0" y="0"/>
            <a:ext cx="164592" cy="5143500"/>
          </a:xfrm>
          <a:prstGeom prst="rect">
            <a:avLst/>
          </a:prstGeom>
          <a:solidFill>
            <a:srgbClr val="8B0000"/>
          </a:solidFill>
          <a:ln w="12700">
            <a:solidFill>
              <a:srgbClr val="8B0000"/>
            </a:solidFill>
            <a:prstDash val="solid"/>
          </a:ln>
        </p:spPr>
      </p:sp>
      <p:sp>
        <p:nvSpPr>
          <p:cNvPr id="20" name="Text 18"/>
          <p:cNvSpPr/>
          <p:nvPr/>
        </p:nvSpPr>
        <p:spPr>
          <a:xfrm>
            <a:off x="5029200" y="201168"/>
            <a:ext cx="3931920" cy="274320"/>
          </a:xfrm>
          <a:prstGeom prst="rect">
            <a:avLst/>
          </a:prstGeom>
          <a:noFill/>
          <a:ln/>
        </p:spPr>
        <p:txBody>
          <a:bodyPr wrap="square" lIns="0" tIns="0" rIns="0" bIns="0" rtlCol="0" anchor="ctr"/>
          <a:lstStyle/>
          <a:p>
            <a:pPr marL="0" indent="0" algn="r">
              <a:buNone/>
            </a:pPr>
            <a:r>
              <a:rPr lang="en-US" sz="900" kern="0" spc="150" dirty="0">
                <a:solidFill>
                  <a:srgbClr val="8B0000"/>
                </a:solidFill>
                <a:latin typeface="Calibri" pitchFamily="34" charset="0"/>
                <a:ea typeface="Calibri" pitchFamily="34" charset="-122"/>
                <a:cs typeface="Calibri" pitchFamily="34" charset="-120"/>
              </a:rPr>
              <a:t>SEEDING AFRICA  |  DATA ANALYSIS TRACK</a:t>
            </a:r>
            <a:endParaRPr lang="en-US" sz="900" dirty="0">
              <a:solidFill>
                <a:srgbClr val="8B0000"/>
              </a:solidFill>
            </a:endParaRPr>
          </a:p>
        </p:txBody>
      </p:sp>
      <p:sp>
        <p:nvSpPr>
          <p:cNvPr id="21" name="Text 19"/>
          <p:cNvSpPr/>
          <p:nvPr/>
        </p:nvSpPr>
        <p:spPr>
          <a:xfrm>
            <a:off x="457200" y="960120"/>
            <a:ext cx="6858000" cy="1417320"/>
          </a:xfrm>
          <a:prstGeom prst="rect">
            <a:avLst/>
          </a:prstGeom>
          <a:noFill/>
          <a:ln>
            <a:solidFill>
              <a:schemeClr val="accent2">
                <a:lumMod val="50000"/>
              </a:schemeClr>
            </a:solidFill>
          </a:ln>
        </p:spPr>
        <p:txBody>
          <a:bodyPr wrap="square" lIns="0" tIns="0" rIns="0" bIns="0" rtlCol="0" anchor="ctr"/>
          <a:lstStyle/>
          <a:p>
            <a:r>
              <a:rPr lang="en-NG" sz="3100" b="1" dirty="0">
                <a:solidFill>
                  <a:srgbClr val="8B0000"/>
                </a:solidFill>
              </a:rPr>
              <a:t>INFLATION, PURCHASING POWER</a:t>
            </a:r>
            <a:r>
              <a:rPr lang="en-US" sz="3100" b="1" dirty="0">
                <a:solidFill>
                  <a:srgbClr val="8B0000"/>
                </a:solidFill>
              </a:rPr>
              <a:t> </a:t>
            </a:r>
            <a:r>
              <a:rPr lang="en-NG" sz="3100" b="1" dirty="0">
                <a:solidFill>
                  <a:srgbClr val="8B0000"/>
                </a:solidFill>
              </a:rPr>
              <a:t>AND SAVINGS BEHAVIOUR</a:t>
            </a:r>
            <a:r>
              <a:rPr lang="en-US" sz="3100" b="1" dirty="0">
                <a:solidFill>
                  <a:srgbClr val="8B0000"/>
                </a:solidFill>
              </a:rPr>
              <a:t> </a:t>
            </a:r>
            <a:r>
              <a:rPr lang="en-NG" sz="3100" b="1" dirty="0">
                <a:solidFill>
                  <a:srgbClr val="8B0000"/>
                </a:solidFill>
              </a:rPr>
              <a:t>OF NIGERIAN SALARY EARNERS</a:t>
            </a:r>
          </a:p>
        </p:txBody>
      </p:sp>
      <p:sp>
        <p:nvSpPr>
          <p:cNvPr id="22" name="Text 20"/>
          <p:cNvSpPr/>
          <p:nvPr/>
        </p:nvSpPr>
        <p:spPr>
          <a:xfrm>
            <a:off x="457200" y="2423160"/>
            <a:ext cx="6858000" cy="411480"/>
          </a:xfrm>
          <a:prstGeom prst="rect">
            <a:avLst/>
          </a:prstGeom>
          <a:noFill/>
          <a:ln/>
        </p:spPr>
        <p:txBody>
          <a:bodyPr wrap="square" lIns="0" tIns="0" rIns="0" bIns="0" rtlCol="0" anchor="ctr"/>
          <a:lstStyle/>
          <a:p>
            <a:r>
              <a:rPr lang="en-NG" sz="1400" i="1" dirty="0">
                <a:solidFill>
                  <a:srgbClr val="8B0000"/>
                </a:solidFill>
              </a:rPr>
              <a:t>Evidence from a Survey of Nigerian Salary Earners</a:t>
            </a:r>
            <a:r>
              <a:rPr lang="en-US" sz="1400" i="1" dirty="0">
                <a:solidFill>
                  <a:srgbClr val="8B0000"/>
                </a:solidFill>
                <a:latin typeface="Calibri" pitchFamily="34" charset="0"/>
                <a:cs typeface="Calibri" pitchFamily="34" charset="-120"/>
              </a:rPr>
              <a:t> with </a:t>
            </a:r>
            <a:r>
              <a:rPr lang="en-NG" sz="1400" dirty="0">
                <a:solidFill>
                  <a:srgbClr val="8B0000"/>
                </a:solidFill>
              </a:rPr>
              <a:t>3+ Years of Work</a:t>
            </a:r>
            <a:r>
              <a:rPr lang="en-US" sz="1400" dirty="0">
                <a:solidFill>
                  <a:srgbClr val="8B0000"/>
                </a:solidFill>
              </a:rPr>
              <a:t> </a:t>
            </a:r>
            <a:r>
              <a:rPr lang="en-NG" sz="1400" dirty="0">
                <a:solidFill>
                  <a:srgbClr val="8B0000"/>
                </a:solidFill>
              </a:rPr>
              <a:t>Experience</a:t>
            </a:r>
            <a:endParaRPr lang="en-US" sz="1400" i="1" dirty="0">
              <a:solidFill>
                <a:srgbClr val="8B0000"/>
              </a:solidFill>
            </a:endParaRPr>
          </a:p>
        </p:txBody>
      </p:sp>
      <p:sp>
        <p:nvSpPr>
          <p:cNvPr id="23" name="Shape 21"/>
          <p:cNvSpPr/>
          <p:nvPr/>
        </p:nvSpPr>
        <p:spPr>
          <a:xfrm>
            <a:off x="457200" y="2926080"/>
            <a:ext cx="5029200" cy="41148"/>
          </a:xfrm>
          <a:prstGeom prst="rect">
            <a:avLst/>
          </a:prstGeom>
          <a:solidFill>
            <a:srgbClr val="8B0000"/>
          </a:solidFill>
          <a:ln w="12700">
            <a:solidFill>
              <a:srgbClr val="8B0000"/>
            </a:solidFill>
            <a:prstDash val="solid"/>
          </a:ln>
        </p:spPr>
      </p:sp>
      <p:sp>
        <p:nvSpPr>
          <p:cNvPr id="24" name="Text 22"/>
          <p:cNvSpPr/>
          <p:nvPr/>
        </p:nvSpPr>
        <p:spPr>
          <a:xfrm>
            <a:off x="457200" y="3090672"/>
            <a:ext cx="6400800" cy="292608"/>
          </a:xfrm>
          <a:prstGeom prst="rect">
            <a:avLst/>
          </a:prstGeom>
          <a:noFill/>
          <a:ln/>
        </p:spPr>
        <p:txBody>
          <a:bodyPr wrap="square" lIns="0" tIns="0" rIns="0" bIns="0" rtlCol="0" anchor="ctr"/>
          <a:lstStyle/>
          <a:p>
            <a:pPr marL="0" indent="0">
              <a:buNone/>
            </a:pPr>
            <a:r>
              <a:rPr lang="en-US" sz="1400" b="1" dirty="0">
                <a:solidFill>
                  <a:srgbClr val="8B0000"/>
                </a:solidFill>
                <a:latin typeface="Calibri" pitchFamily="34" charset="0"/>
                <a:cs typeface="Calibri" pitchFamily="34" charset="-120"/>
              </a:rPr>
              <a:t>OLATUNJI HALIMOH TEMIDAYO</a:t>
            </a:r>
            <a:endParaRPr lang="en-US" sz="1400" dirty="0">
              <a:solidFill>
                <a:srgbClr val="8B0000"/>
              </a:solidFill>
            </a:endParaRPr>
          </a:p>
        </p:txBody>
      </p:sp>
      <p:sp>
        <p:nvSpPr>
          <p:cNvPr id="25" name="Text 23"/>
          <p:cNvSpPr/>
          <p:nvPr/>
        </p:nvSpPr>
        <p:spPr>
          <a:xfrm>
            <a:off x="457200" y="3401568"/>
            <a:ext cx="6400800" cy="256032"/>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FemTech Information Technology Institute  |  May 2026</a:t>
            </a:r>
            <a:endParaRPr lang="en-US" sz="1100" b="1" dirty="0">
              <a:solidFill>
                <a:srgbClr val="8B0000"/>
              </a:solidFill>
            </a:endParaRPr>
          </a:p>
        </p:txBody>
      </p:sp>
      <p:pic>
        <p:nvPicPr>
          <p:cNvPr id="30" name="Graphic 29" descr="Coins with solid fill">
            <a:extLst>
              <a:ext uri="{FF2B5EF4-FFF2-40B4-BE49-F238E27FC236}">
                <a16:creationId xmlns:a16="http://schemas.microsoft.com/office/drawing/2014/main" id="{C0F9E61D-0262-F1A1-FC58-2DF29489F4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08776" y="2574036"/>
            <a:ext cx="923544" cy="973836"/>
          </a:xfrm>
          <a:prstGeom prst="rect">
            <a:avLst/>
          </a:prstGeom>
        </p:spPr>
      </p:pic>
      <p:sp>
        <p:nvSpPr>
          <p:cNvPr id="26" name="Shape 24"/>
          <p:cNvSpPr/>
          <p:nvPr/>
        </p:nvSpPr>
        <p:spPr>
          <a:xfrm>
            <a:off x="457200" y="4160520"/>
            <a:ext cx="8046720" cy="658368"/>
          </a:xfrm>
          <a:prstGeom prst="rect">
            <a:avLst/>
          </a:prstGeom>
          <a:solidFill>
            <a:srgbClr val="F7F4EE"/>
          </a:solidFill>
          <a:ln w="10160">
            <a:solidFill>
              <a:srgbClr val="8B0000"/>
            </a:solidFill>
            <a:prstDash val="solid"/>
          </a:ln>
        </p:spPr>
      </p:sp>
      <p:sp>
        <p:nvSpPr>
          <p:cNvPr id="27" name="Text 25"/>
          <p:cNvSpPr/>
          <p:nvPr/>
        </p:nvSpPr>
        <p:spPr>
          <a:xfrm>
            <a:off x="548640" y="4224528"/>
            <a:ext cx="8046720" cy="530352"/>
          </a:xfrm>
          <a:prstGeom prst="rect">
            <a:avLst/>
          </a:prstGeom>
          <a:noFill/>
          <a:ln/>
        </p:spPr>
        <p:txBody>
          <a:bodyPr wrap="square" lIns="0" tIns="0" rIns="0" bIns="0" rtlCol="0" anchor="ctr"/>
          <a:lstStyle/>
          <a:p>
            <a:pPr algn="ctr"/>
            <a:r>
              <a:rPr lang="en-NG" sz="1400" dirty="0">
                <a:solidFill>
                  <a:srgbClr val="8B0000"/>
                </a:solidFill>
              </a:rPr>
              <a:t>How has inflation affected the purchasing power and savings behaviour of Nigerian salary earners?</a:t>
            </a:r>
            <a:endParaRPr lang="en-US" sz="1300" dirty="0">
              <a:solidFill>
                <a:srgbClr val="8B0000"/>
              </a:solidFill>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OVERVIEW</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Presentation Outline</a:t>
            </a:r>
            <a:endParaRPr lang="en-US" sz="2600" dirty="0">
              <a:solidFill>
                <a:srgbClr val="8B0000"/>
              </a:solidFill>
            </a:endParaRPr>
          </a:p>
        </p:txBody>
      </p:sp>
      <p:sp>
        <p:nvSpPr>
          <p:cNvPr id="5" name="Shape 3"/>
          <p:cNvSpPr/>
          <p:nvPr/>
        </p:nvSpPr>
        <p:spPr>
          <a:xfrm>
            <a:off x="365760" y="1170432"/>
            <a:ext cx="475488" cy="292608"/>
          </a:xfrm>
          <a:prstGeom prst="rect">
            <a:avLst/>
          </a:prstGeom>
          <a:solidFill>
            <a:srgbClr val="8B0000"/>
          </a:solidFill>
          <a:ln w="12700">
            <a:solidFill>
              <a:srgbClr val="8B0000"/>
            </a:solidFill>
            <a:prstDash val="solid"/>
          </a:ln>
        </p:spPr>
      </p:sp>
      <p:sp>
        <p:nvSpPr>
          <p:cNvPr id="6" name="Text 4"/>
          <p:cNvSpPr/>
          <p:nvPr/>
        </p:nvSpPr>
        <p:spPr>
          <a:xfrm>
            <a:off x="365760" y="1170432"/>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01</a:t>
            </a:r>
            <a:endParaRPr lang="en-US" sz="1200" dirty="0">
              <a:solidFill>
                <a:srgbClr val="F7F4EE"/>
              </a:solidFill>
            </a:endParaRPr>
          </a:p>
        </p:txBody>
      </p:sp>
      <p:sp>
        <p:nvSpPr>
          <p:cNvPr id="7" name="Text 5"/>
          <p:cNvSpPr/>
          <p:nvPr/>
        </p:nvSpPr>
        <p:spPr>
          <a:xfrm>
            <a:off x="987552" y="1179576"/>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Introduction, Aim and Background</a:t>
            </a:r>
            <a:endParaRPr lang="en-US" sz="1150" dirty="0">
              <a:solidFill>
                <a:srgbClr val="2C2C2C"/>
              </a:solidFill>
            </a:endParaRPr>
          </a:p>
        </p:txBody>
      </p:sp>
      <p:sp>
        <p:nvSpPr>
          <p:cNvPr id="8" name="Text 6"/>
          <p:cNvSpPr/>
          <p:nvPr/>
        </p:nvSpPr>
        <p:spPr>
          <a:xfrm>
            <a:off x="987552" y="1353312"/>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The problem, aim, objectives and research questions</a:t>
            </a:r>
            <a:endParaRPr lang="en-US" sz="850" dirty="0"/>
          </a:p>
        </p:txBody>
      </p:sp>
      <p:sp>
        <p:nvSpPr>
          <p:cNvPr id="9" name="Shape 7"/>
          <p:cNvSpPr/>
          <p:nvPr/>
        </p:nvSpPr>
        <p:spPr>
          <a:xfrm>
            <a:off x="365760" y="1549908"/>
            <a:ext cx="475488" cy="292608"/>
          </a:xfrm>
          <a:prstGeom prst="rect">
            <a:avLst/>
          </a:prstGeom>
          <a:solidFill>
            <a:srgbClr val="8B0000"/>
          </a:solidFill>
          <a:ln w="12700">
            <a:solidFill>
              <a:srgbClr val="8B0000"/>
            </a:solidFill>
            <a:prstDash val="solid"/>
          </a:ln>
        </p:spPr>
      </p:sp>
      <p:sp>
        <p:nvSpPr>
          <p:cNvPr id="10" name="Text 8"/>
          <p:cNvSpPr/>
          <p:nvPr/>
        </p:nvSpPr>
        <p:spPr>
          <a:xfrm>
            <a:off x="365760" y="1549908"/>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02</a:t>
            </a:r>
            <a:endParaRPr lang="en-US" sz="1200" dirty="0">
              <a:solidFill>
                <a:srgbClr val="F7F4EE"/>
              </a:solidFill>
            </a:endParaRPr>
          </a:p>
        </p:txBody>
      </p:sp>
      <p:sp>
        <p:nvSpPr>
          <p:cNvPr id="11" name="Text 9"/>
          <p:cNvSpPr/>
          <p:nvPr/>
        </p:nvSpPr>
        <p:spPr>
          <a:xfrm>
            <a:off x="987552" y="1559052"/>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Methodology and Data Sources</a:t>
            </a:r>
            <a:endParaRPr lang="en-US" sz="1150" dirty="0">
              <a:solidFill>
                <a:srgbClr val="2C2C2C"/>
              </a:solidFill>
            </a:endParaRPr>
          </a:p>
        </p:txBody>
      </p:sp>
      <p:sp>
        <p:nvSpPr>
          <p:cNvPr id="12" name="Text 10"/>
          <p:cNvSpPr/>
          <p:nvPr/>
        </p:nvSpPr>
        <p:spPr>
          <a:xfrm>
            <a:off x="987552" y="1732788"/>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Questionnaire design, study population, data collection and analytical workflow</a:t>
            </a:r>
            <a:endParaRPr lang="en-US" sz="850" dirty="0"/>
          </a:p>
        </p:txBody>
      </p:sp>
      <p:sp>
        <p:nvSpPr>
          <p:cNvPr id="13" name="Shape 11"/>
          <p:cNvSpPr/>
          <p:nvPr/>
        </p:nvSpPr>
        <p:spPr>
          <a:xfrm>
            <a:off x="365760" y="1929384"/>
            <a:ext cx="475488" cy="292608"/>
          </a:xfrm>
          <a:prstGeom prst="rect">
            <a:avLst/>
          </a:prstGeom>
          <a:solidFill>
            <a:srgbClr val="8B0000"/>
          </a:solidFill>
          <a:ln w="12700">
            <a:solidFill>
              <a:srgbClr val="8B0000"/>
            </a:solidFill>
            <a:prstDash val="solid"/>
          </a:ln>
        </p:spPr>
      </p:sp>
      <p:sp>
        <p:nvSpPr>
          <p:cNvPr id="14" name="Text 12"/>
          <p:cNvSpPr/>
          <p:nvPr/>
        </p:nvSpPr>
        <p:spPr>
          <a:xfrm>
            <a:off x="365760" y="1929384"/>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03</a:t>
            </a:r>
            <a:endParaRPr lang="en-US" sz="1200" dirty="0">
              <a:solidFill>
                <a:srgbClr val="F7F4EE"/>
              </a:solidFill>
            </a:endParaRPr>
          </a:p>
        </p:txBody>
      </p:sp>
      <p:sp>
        <p:nvSpPr>
          <p:cNvPr id="15" name="Text 13"/>
          <p:cNvSpPr/>
          <p:nvPr/>
        </p:nvSpPr>
        <p:spPr>
          <a:xfrm>
            <a:off x="987552" y="1938528"/>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Key Findings from Excel and SQL</a:t>
            </a:r>
            <a:endParaRPr lang="en-US" sz="1150" dirty="0">
              <a:solidFill>
                <a:srgbClr val="2C2C2C"/>
              </a:solidFill>
            </a:endParaRPr>
          </a:p>
        </p:txBody>
      </p:sp>
      <p:sp>
        <p:nvSpPr>
          <p:cNvPr id="16" name="Text 14"/>
          <p:cNvSpPr/>
          <p:nvPr/>
        </p:nvSpPr>
        <p:spPr>
          <a:xfrm>
            <a:off x="987552" y="2112264"/>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Major insights on inflation, purchasing power and savings </a:t>
            </a:r>
            <a:r>
              <a:rPr lang="en-US" sz="850" i="1" dirty="0" err="1">
                <a:latin typeface="Calibri" pitchFamily="34" charset="0"/>
                <a:ea typeface="Calibri" pitchFamily="34" charset="-122"/>
                <a:cs typeface="Calibri" pitchFamily="34" charset="-120"/>
              </a:rPr>
              <a:t>behaviour</a:t>
            </a:r>
            <a:endParaRPr lang="en-US" sz="850" dirty="0"/>
          </a:p>
        </p:txBody>
      </p:sp>
      <p:sp>
        <p:nvSpPr>
          <p:cNvPr id="17" name="Shape 15"/>
          <p:cNvSpPr/>
          <p:nvPr/>
        </p:nvSpPr>
        <p:spPr>
          <a:xfrm>
            <a:off x="365760" y="2308860"/>
            <a:ext cx="475488" cy="292608"/>
          </a:xfrm>
          <a:prstGeom prst="rect">
            <a:avLst/>
          </a:prstGeom>
          <a:solidFill>
            <a:srgbClr val="8B0000"/>
          </a:solidFill>
          <a:ln w="12700">
            <a:solidFill>
              <a:srgbClr val="8B0000"/>
            </a:solidFill>
            <a:prstDash val="solid"/>
          </a:ln>
        </p:spPr>
      </p:sp>
      <p:sp>
        <p:nvSpPr>
          <p:cNvPr id="18" name="Text 16"/>
          <p:cNvSpPr/>
          <p:nvPr/>
        </p:nvSpPr>
        <p:spPr>
          <a:xfrm>
            <a:off x="365760" y="2308860"/>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04</a:t>
            </a:r>
            <a:endParaRPr lang="en-US" sz="1200" dirty="0">
              <a:solidFill>
                <a:srgbClr val="F7F4EE"/>
              </a:solidFill>
            </a:endParaRPr>
          </a:p>
        </p:txBody>
      </p:sp>
      <p:sp>
        <p:nvSpPr>
          <p:cNvPr id="19" name="Text 17"/>
          <p:cNvSpPr/>
          <p:nvPr/>
        </p:nvSpPr>
        <p:spPr>
          <a:xfrm>
            <a:off x="987552" y="2318004"/>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Python Statistical Analysis</a:t>
            </a:r>
            <a:endParaRPr lang="en-US" sz="1150" dirty="0">
              <a:solidFill>
                <a:srgbClr val="2C2C2C"/>
              </a:solidFill>
            </a:endParaRPr>
          </a:p>
        </p:txBody>
      </p:sp>
      <p:sp>
        <p:nvSpPr>
          <p:cNvPr id="20" name="Text 18"/>
          <p:cNvSpPr/>
          <p:nvPr/>
        </p:nvSpPr>
        <p:spPr>
          <a:xfrm>
            <a:off x="987552" y="2491740"/>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Correlation analysis, outlier detection and key statistical findings</a:t>
            </a:r>
            <a:endParaRPr lang="en-US" sz="850" dirty="0"/>
          </a:p>
        </p:txBody>
      </p:sp>
      <p:sp>
        <p:nvSpPr>
          <p:cNvPr id="21" name="Shape 19"/>
          <p:cNvSpPr/>
          <p:nvPr/>
        </p:nvSpPr>
        <p:spPr>
          <a:xfrm>
            <a:off x="365760" y="2688336"/>
            <a:ext cx="475488" cy="292608"/>
          </a:xfrm>
          <a:prstGeom prst="rect">
            <a:avLst/>
          </a:prstGeom>
          <a:solidFill>
            <a:srgbClr val="8B0000"/>
          </a:solidFill>
          <a:ln w="12700">
            <a:solidFill>
              <a:srgbClr val="8B0000"/>
            </a:solidFill>
            <a:prstDash val="solid"/>
          </a:ln>
        </p:spPr>
      </p:sp>
      <p:sp>
        <p:nvSpPr>
          <p:cNvPr id="22" name="Text 20"/>
          <p:cNvSpPr/>
          <p:nvPr/>
        </p:nvSpPr>
        <p:spPr>
          <a:xfrm>
            <a:off x="365760" y="2688336"/>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05</a:t>
            </a:r>
            <a:endParaRPr lang="en-US" sz="1200" dirty="0">
              <a:solidFill>
                <a:srgbClr val="F7F4EE"/>
              </a:solidFill>
            </a:endParaRPr>
          </a:p>
        </p:txBody>
      </p:sp>
      <p:sp>
        <p:nvSpPr>
          <p:cNvPr id="23" name="Text 21"/>
          <p:cNvSpPr/>
          <p:nvPr/>
        </p:nvSpPr>
        <p:spPr>
          <a:xfrm>
            <a:off x="987552" y="2697480"/>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Power BI Dashboard</a:t>
            </a:r>
            <a:endParaRPr lang="en-US" sz="1150" dirty="0">
              <a:solidFill>
                <a:srgbClr val="2C2C2C"/>
              </a:solidFill>
            </a:endParaRPr>
          </a:p>
        </p:txBody>
      </p:sp>
      <p:sp>
        <p:nvSpPr>
          <p:cNvPr id="24" name="Text 22"/>
          <p:cNvSpPr/>
          <p:nvPr/>
        </p:nvSpPr>
        <p:spPr>
          <a:xfrm>
            <a:off x="987552" y="2871216"/>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Interactive visualizations across 6 dashboard pages</a:t>
            </a:r>
            <a:endParaRPr lang="en-US" sz="850" dirty="0"/>
          </a:p>
        </p:txBody>
      </p:sp>
      <p:sp>
        <p:nvSpPr>
          <p:cNvPr id="25" name="Shape 23"/>
          <p:cNvSpPr/>
          <p:nvPr/>
        </p:nvSpPr>
        <p:spPr>
          <a:xfrm>
            <a:off x="365760" y="3067812"/>
            <a:ext cx="475488" cy="292608"/>
          </a:xfrm>
          <a:prstGeom prst="rect">
            <a:avLst/>
          </a:prstGeom>
          <a:solidFill>
            <a:srgbClr val="8B0000"/>
          </a:solidFill>
          <a:ln w="12700">
            <a:solidFill>
              <a:srgbClr val="8B0000"/>
            </a:solidFill>
            <a:prstDash val="solid"/>
          </a:ln>
        </p:spPr>
      </p:sp>
      <p:sp>
        <p:nvSpPr>
          <p:cNvPr id="26" name="Text 24"/>
          <p:cNvSpPr/>
          <p:nvPr/>
        </p:nvSpPr>
        <p:spPr>
          <a:xfrm>
            <a:off x="365760" y="3067812"/>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06</a:t>
            </a:r>
            <a:endParaRPr lang="en-US" sz="1200" dirty="0">
              <a:solidFill>
                <a:srgbClr val="F7F4EE"/>
              </a:solidFill>
            </a:endParaRPr>
          </a:p>
        </p:txBody>
      </p:sp>
      <p:sp>
        <p:nvSpPr>
          <p:cNvPr id="27" name="Text 25"/>
          <p:cNvSpPr/>
          <p:nvPr/>
        </p:nvSpPr>
        <p:spPr>
          <a:xfrm>
            <a:off x="987552" y="3076956"/>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Key Findings</a:t>
            </a:r>
            <a:endParaRPr lang="en-US" sz="1150" dirty="0">
              <a:solidFill>
                <a:srgbClr val="2C2C2C"/>
              </a:solidFill>
            </a:endParaRPr>
          </a:p>
        </p:txBody>
      </p:sp>
      <p:sp>
        <p:nvSpPr>
          <p:cNvPr id="28" name="Text 26"/>
          <p:cNvSpPr/>
          <p:nvPr/>
        </p:nvSpPr>
        <p:spPr>
          <a:xfrm>
            <a:off x="987552" y="3250692"/>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Core discoveries from the analysis</a:t>
            </a:r>
            <a:endParaRPr lang="en-US" sz="850" dirty="0"/>
          </a:p>
        </p:txBody>
      </p:sp>
      <p:sp>
        <p:nvSpPr>
          <p:cNvPr id="29" name="Shape 27"/>
          <p:cNvSpPr/>
          <p:nvPr/>
        </p:nvSpPr>
        <p:spPr>
          <a:xfrm>
            <a:off x="365760" y="3447288"/>
            <a:ext cx="475488" cy="292608"/>
          </a:xfrm>
          <a:prstGeom prst="rect">
            <a:avLst/>
          </a:prstGeom>
          <a:solidFill>
            <a:srgbClr val="8B0000"/>
          </a:solidFill>
          <a:ln w="12700">
            <a:solidFill>
              <a:srgbClr val="8B0000"/>
            </a:solidFill>
            <a:prstDash val="solid"/>
          </a:ln>
        </p:spPr>
      </p:sp>
      <p:sp>
        <p:nvSpPr>
          <p:cNvPr id="30" name="Text 28"/>
          <p:cNvSpPr/>
          <p:nvPr/>
        </p:nvSpPr>
        <p:spPr>
          <a:xfrm>
            <a:off x="365760" y="3447288"/>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07</a:t>
            </a:r>
            <a:endParaRPr lang="en-US" sz="1200" dirty="0">
              <a:solidFill>
                <a:srgbClr val="F7F4EE"/>
              </a:solidFill>
            </a:endParaRPr>
          </a:p>
        </p:txBody>
      </p:sp>
      <p:sp>
        <p:nvSpPr>
          <p:cNvPr id="31" name="Text 29"/>
          <p:cNvSpPr/>
          <p:nvPr/>
        </p:nvSpPr>
        <p:spPr>
          <a:xfrm>
            <a:off x="987552" y="3456432"/>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Limitations</a:t>
            </a:r>
            <a:endParaRPr lang="en-US" sz="1150" dirty="0">
              <a:solidFill>
                <a:srgbClr val="2C2C2C"/>
              </a:solidFill>
            </a:endParaRPr>
          </a:p>
        </p:txBody>
      </p:sp>
      <p:sp>
        <p:nvSpPr>
          <p:cNvPr id="32" name="Text 30"/>
          <p:cNvSpPr/>
          <p:nvPr/>
        </p:nvSpPr>
        <p:spPr>
          <a:xfrm>
            <a:off x="987552" y="3630168"/>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Data constraints and study boundaries</a:t>
            </a:r>
            <a:endParaRPr lang="en-US" sz="850" dirty="0"/>
          </a:p>
        </p:txBody>
      </p:sp>
      <p:sp>
        <p:nvSpPr>
          <p:cNvPr id="33" name="Shape 31"/>
          <p:cNvSpPr/>
          <p:nvPr/>
        </p:nvSpPr>
        <p:spPr>
          <a:xfrm>
            <a:off x="365760" y="3826764"/>
            <a:ext cx="475488" cy="292608"/>
          </a:xfrm>
          <a:prstGeom prst="rect">
            <a:avLst/>
          </a:prstGeom>
          <a:solidFill>
            <a:srgbClr val="8B0000"/>
          </a:solidFill>
          <a:ln w="12700">
            <a:solidFill>
              <a:srgbClr val="8B0000"/>
            </a:solidFill>
            <a:prstDash val="solid"/>
          </a:ln>
        </p:spPr>
      </p:sp>
      <p:sp>
        <p:nvSpPr>
          <p:cNvPr id="34" name="Text 32"/>
          <p:cNvSpPr/>
          <p:nvPr/>
        </p:nvSpPr>
        <p:spPr>
          <a:xfrm>
            <a:off x="365760" y="3826764"/>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08</a:t>
            </a:r>
            <a:endParaRPr lang="en-US" sz="1200" dirty="0">
              <a:solidFill>
                <a:srgbClr val="F7F4EE"/>
              </a:solidFill>
            </a:endParaRPr>
          </a:p>
        </p:txBody>
      </p:sp>
      <p:sp>
        <p:nvSpPr>
          <p:cNvPr id="35" name="Text 33"/>
          <p:cNvSpPr/>
          <p:nvPr/>
        </p:nvSpPr>
        <p:spPr>
          <a:xfrm>
            <a:off x="987552" y="3835908"/>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Summary</a:t>
            </a:r>
            <a:endParaRPr lang="en-US" sz="1150" dirty="0">
              <a:solidFill>
                <a:srgbClr val="2C2C2C"/>
              </a:solidFill>
            </a:endParaRPr>
          </a:p>
        </p:txBody>
      </p:sp>
      <p:sp>
        <p:nvSpPr>
          <p:cNvPr id="36" name="Text 34"/>
          <p:cNvSpPr/>
          <p:nvPr/>
        </p:nvSpPr>
        <p:spPr>
          <a:xfrm>
            <a:off x="987552" y="4009644"/>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What the data revealed</a:t>
            </a:r>
            <a:endParaRPr lang="en-US" sz="850" dirty="0"/>
          </a:p>
        </p:txBody>
      </p:sp>
      <p:sp>
        <p:nvSpPr>
          <p:cNvPr id="37" name="Shape 35"/>
          <p:cNvSpPr/>
          <p:nvPr/>
        </p:nvSpPr>
        <p:spPr>
          <a:xfrm>
            <a:off x="365760" y="4206240"/>
            <a:ext cx="475488" cy="292608"/>
          </a:xfrm>
          <a:prstGeom prst="rect">
            <a:avLst/>
          </a:prstGeom>
          <a:solidFill>
            <a:srgbClr val="8B0000"/>
          </a:solidFill>
          <a:ln w="12700">
            <a:solidFill>
              <a:srgbClr val="8B0000"/>
            </a:solidFill>
            <a:prstDash val="solid"/>
          </a:ln>
        </p:spPr>
      </p:sp>
      <p:sp>
        <p:nvSpPr>
          <p:cNvPr id="38" name="Text 36"/>
          <p:cNvSpPr/>
          <p:nvPr/>
        </p:nvSpPr>
        <p:spPr>
          <a:xfrm>
            <a:off x="365760" y="4206240"/>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09</a:t>
            </a:r>
            <a:endParaRPr lang="en-US" sz="1200" dirty="0">
              <a:solidFill>
                <a:srgbClr val="F7F4EE"/>
              </a:solidFill>
            </a:endParaRPr>
          </a:p>
        </p:txBody>
      </p:sp>
      <p:sp>
        <p:nvSpPr>
          <p:cNvPr id="39" name="Text 37"/>
          <p:cNvSpPr/>
          <p:nvPr/>
        </p:nvSpPr>
        <p:spPr>
          <a:xfrm>
            <a:off x="987552" y="4215384"/>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Conclusion</a:t>
            </a:r>
            <a:endParaRPr lang="en-US" sz="1150" dirty="0">
              <a:solidFill>
                <a:srgbClr val="2C2C2C"/>
              </a:solidFill>
            </a:endParaRPr>
          </a:p>
        </p:txBody>
      </p:sp>
      <p:sp>
        <p:nvSpPr>
          <p:cNvPr id="40" name="Text 38"/>
          <p:cNvSpPr/>
          <p:nvPr/>
        </p:nvSpPr>
        <p:spPr>
          <a:xfrm>
            <a:off x="987552" y="4389120"/>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Final interpretation of the research findings</a:t>
            </a:r>
            <a:endParaRPr lang="en-US" sz="850" dirty="0"/>
          </a:p>
        </p:txBody>
      </p:sp>
      <p:sp>
        <p:nvSpPr>
          <p:cNvPr id="41" name="Shape 39"/>
          <p:cNvSpPr/>
          <p:nvPr/>
        </p:nvSpPr>
        <p:spPr>
          <a:xfrm>
            <a:off x="365760" y="4585716"/>
            <a:ext cx="475488" cy="292608"/>
          </a:xfrm>
          <a:prstGeom prst="rect">
            <a:avLst/>
          </a:prstGeom>
          <a:solidFill>
            <a:srgbClr val="8B0000"/>
          </a:solidFill>
          <a:ln w="12700">
            <a:solidFill>
              <a:srgbClr val="8B0000"/>
            </a:solidFill>
            <a:prstDash val="solid"/>
          </a:ln>
        </p:spPr>
      </p:sp>
      <p:sp>
        <p:nvSpPr>
          <p:cNvPr id="42" name="Text 40"/>
          <p:cNvSpPr/>
          <p:nvPr/>
        </p:nvSpPr>
        <p:spPr>
          <a:xfrm>
            <a:off x="365760" y="4585716"/>
            <a:ext cx="475488" cy="292608"/>
          </a:xfrm>
          <a:prstGeom prst="rect">
            <a:avLst/>
          </a:prstGeom>
          <a:noFill/>
          <a:ln/>
        </p:spPr>
        <p:txBody>
          <a:bodyPr wrap="square" lIns="0" tIns="0" rIns="0" bIns="0" rtlCol="0" anchor="ctr"/>
          <a:lstStyle/>
          <a:p>
            <a:pPr marL="0" indent="0" algn="ctr">
              <a:buNone/>
            </a:pPr>
            <a:r>
              <a:rPr lang="en-US" sz="1200" b="1" dirty="0">
                <a:solidFill>
                  <a:srgbClr val="F7F4EE"/>
                </a:solidFill>
                <a:latin typeface="Trebuchet MS" pitchFamily="34" charset="0"/>
                <a:ea typeface="Trebuchet MS" pitchFamily="34" charset="-122"/>
                <a:cs typeface="Trebuchet MS" pitchFamily="34" charset="-120"/>
              </a:rPr>
              <a:t>10</a:t>
            </a:r>
            <a:endParaRPr lang="en-US" sz="1200" dirty="0">
              <a:solidFill>
                <a:srgbClr val="F7F4EE"/>
              </a:solidFill>
            </a:endParaRPr>
          </a:p>
        </p:txBody>
      </p:sp>
      <p:sp>
        <p:nvSpPr>
          <p:cNvPr id="43" name="Text 41"/>
          <p:cNvSpPr/>
          <p:nvPr/>
        </p:nvSpPr>
        <p:spPr>
          <a:xfrm>
            <a:off x="987552" y="4594860"/>
            <a:ext cx="4572000" cy="173736"/>
          </a:xfrm>
          <a:prstGeom prst="rect">
            <a:avLst/>
          </a:prstGeom>
          <a:noFill/>
          <a:ln/>
        </p:spPr>
        <p:txBody>
          <a:bodyPr wrap="square" lIns="0" tIns="0" rIns="0" bIns="0" rtlCol="0" anchor="ctr"/>
          <a:lstStyle/>
          <a:p>
            <a:pPr marL="0" indent="0">
              <a:buNone/>
            </a:pPr>
            <a:r>
              <a:rPr lang="en-US" sz="1150" b="1" dirty="0">
                <a:solidFill>
                  <a:srgbClr val="2C2C2C"/>
                </a:solidFill>
                <a:latin typeface="Trebuchet MS" pitchFamily="34" charset="0"/>
                <a:ea typeface="Trebuchet MS" pitchFamily="34" charset="-122"/>
                <a:cs typeface="Trebuchet MS" pitchFamily="34" charset="-120"/>
              </a:rPr>
              <a:t>Recommendations</a:t>
            </a:r>
            <a:endParaRPr lang="en-US" sz="1150" dirty="0">
              <a:solidFill>
                <a:srgbClr val="2C2C2C"/>
              </a:solidFill>
            </a:endParaRPr>
          </a:p>
        </p:txBody>
      </p:sp>
      <p:sp>
        <p:nvSpPr>
          <p:cNvPr id="44" name="Text 42"/>
          <p:cNvSpPr/>
          <p:nvPr/>
        </p:nvSpPr>
        <p:spPr>
          <a:xfrm>
            <a:off x="987552" y="4768596"/>
            <a:ext cx="7772400" cy="128016"/>
          </a:xfrm>
          <a:prstGeom prst="rect">
            <a:avLst/>
          </a:prstGeom>
          <a:noFill/>
          <a:ln/>
        </p:spPr>
        <p:txBody>
          <a:bodyPr wrap="square" lIns="0" tIns="0" rIns="0" bIns="0" rtlCol="0" anchor="ctr"/>
          <a:lstStyle/>
          <a:p>
            <a:pPr marL="0" indent="0">
              <a:buNone/>
            </a:pPr>
            <a:r>
              <a:rPr lang="en-US" sz="850" i="1" dirty="0">
                <a:latin typeface="Calibri" pitchFamily="34" charset="0"/>
                <a:ea typeface="Calibri" pitchFamily="34" charset="-122"/>
                <a:cs typeface="Calibri" pitchFamily="34" charset="-120"/>
              </a:rPr>
              <a:t>Evidence-based recommendations for individuals, employers and policymakers</a:t>
            </a:r>
            <a:endParaRPr lang="en-US" sz="850" dirty="0"/>
          </a:p>
        </p:txBody>
      </p:sp>
      <p:sp>
        <p:nvSpPr>
          <p:cNvPr id="45" name="Text 43"/>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8B0000"/>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01  INTRODUCTION</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Background, Problem Statement and Aim</a:t>
            </a:r>
            <a:endParaRPr lang="en-US" sz="2600" dirty="0">
              <a:solidFill>
                <a:srgbClr val="8B0000"/>
              </a:solidFill>
            </a:endParaRPr>
          </a:p>
        </p:txBody>
      </p:sp>
      <p:sp>
        <p:nvSpPr>
          <p:cNvPr id="5" name="Shape 3"/>
          <p:cNvSpPr/>
          <p:nvPr/>
        </p:nvSpPr>
        <p:spPr>
          <a:xfrm>
            <a:off x="411480" y="1325528"/>
            <a:ext cx="4312451" cy="3429000"/>
          </a:xfrm>
          <a:prstGeom prst="rect">
            <a:avLst/>
          </a:prstGeom>
          <a:solidFill>
            <a:srgbClr val="F7F4EE"/>
          </a:solidFill>
          <a:ln w="15240">
            <a:solidFill>
              <a:srgbClr val="8B0000"/>
            </a:solidFill>
            <a:prstDash val="solid"/>
          </a:ln>
        </p:spPr>
      </p:sp>
      <p:sp>
        <p:nvSpPr>
          <p:cNvPr id="6" name="Text 4"/>
          <p:cNvSpPr/>
          <p:nvPr/>
        </p:nvSpPr>
        <p:spPr>
          <a:xfrm>
            <a:off x="475488" y="1481328"/>
            <a:ext cx="2560320" cy="237744"/>
          </a:xfrm>
          <a:prstGeom prst="rect">
            <a:avLst/>
          </a:prstGeom>
          <a:noFill/>
          <a:ln/>
        </p:spPr>
        <p:txBody>
          <a:bodyPr wrap="square" lIns="0" tIns="0" rIns="0" bIns="0" rtlCol="0" anchor="ctr"/>
          <a:lstStyle/>
          <a:p>
            <a:pPr marL="0" indent="0">
              <a:buNone/>
            </a:pPr>
            <a:r>
              <a:rPr lang="en-US" sz="1050" b="1" dirty="0">
                <a:solidFill>
                  <a:srgbClr val="8B0000"/>
                </a:solidFill>
                <a:latin typeface="Trebuchet MS" pitchFamily="34" charset="0"/>
                <a:ea typeface="Trebuchet MS" pitchFamily="34" charset="-122"/>
                <a:cs typeface="Trebuchet MS" pitchFamily="34" charset="-120"/>
              </a:rPr>
              <a:t>BACKGROUND</a:t>
            </a:r>
            <a:endParaRPr lang="en-US" sz="1050" dirty="0">
              <a:solidFill>
                <a:srgbClr val="8B0000"/>
              </a:solidFill>
            </a:endParaRPr>
          </a:p>
        </p:txBody>
      </p:sp>
      <p:sp>
        <p:nvSpPr>
          <p:cNvPr id="7" name="Text 5"/>
          <p:cNvSpPr/>
          <p:nvPr/>
        </p:nvSpPr>
        <p:spPr>
          <a:xfrm>
            <a:off x="475488" y="1755648"/>
            <a:ext cx="4096512" cy="2926080"/>
          </a:xfrm>
          <a:prstGeom prst="rect">
            <a:avLst/>
          </a:prstGeom>
          <a:noFill/>
          <a:ln/>
        </p:spPr>
        <p:txBody>
          <a:bodyPr wrap="square" rtlCol="0" anchor="ctr"/>
          <a:lstStyle/>
          <a:p>
            <a:pPr marL="342900" indent="-342900" algn="just">
              <a:lnSpc>
                <a:spcPct val="115000"/>
              </a:lnSpc>
              <a:spcAft>
                <a:spcPts val="600"/>
              </a:spcAft>
              <a:buSzPct val="100000"/>
              <a:buChar char="•"/>
            </a:pPr>
            <a:r>
              <a:rPr lang="en-US" sz="1050" dirty="0">
                <a:solidFill>
                  <a:srgbClr val="2C2C2C"/>
                </a:solidFill>
                <a:latin typeface="Calibri" pitchFamily="34" charset="0"/>
                <a:ea typeface="Calibri" pitchFamily="34" charset="-122"/>
                <a:cs typeface="Calibri" pitchFamily="34" charset="-120"/>
              </a:rPr>
              <a:t>Nigeria is experiencing one of its most severe inflation surges in decades, driven by fuel subsidy removal, currency devaluation, and rising food prices</a:t>
            </a:r>
          </a:p>
          <a:p>
            <a:pPr marL="342900" indent="-342900" algn="just">
              <a:lnSpc>
                <a:spcPct val="115000"/>
              </a:lnSpc>
              <a:spcAft>
                <a:spcPts val="600"/>
              </a:spcAft>
              <a:buSzPct val="100000"/>
              <a:buChar char="•"/>
            </a:pPr>
            <a:r>
              <a:rPr lang="en-US" sz="1050" dirty="0">
                <a:solidFill>
                  <a:srgbClr val="2C2C2C"/>
                </a:solidFill>
                <a:latin typeface="Calibri" pitchFamily="34" charset="0"/>
                <a:ea typeface="Calibri" pitchFamily="34" charset="-122"/>
                <a:cs typeface="Calibri" pitchFamily="34" charset="-120"/>
              </a:rPr>
              <a:t>Salary earners; civil servants, teachers, nurses, and private sector workers, earn fixed incomes that cannot automatically adjust to rising prices</a:t>
            </a:r>
          </a:p>
          <a:p>
            <a:pPr marL="342900" indent="-342900" algn="just">
              <a:lnSpc>
                <a:spcPct val="115000"/>
              </a:lnSpc>
              <a:spcAft>
                <a:spcPts val="600"/>
              </a:spcAft>
              <a:buSzPct val="100000"/>
              <a:buChar char="•"/>
            </a:pPr>
            <a:r>
              <a:rPr lang="en-US" sz="1050" dirty="0">
                <a:solidFill>
                  <a:srgbClr val="2C2C2C"/>
                </a:solidFill>
                <a:latin typeface="Calibri" pitchFamily="34" charset="0"/>
                <a:ea typeface="Calibri" pitchFamily="34" charset="-122"/>
                <a:cs typeface="Calibri" pitchFamily="34" charset="-120"/>
              </a:rPr>
              <a:t>A salary earner earning ₦100,000 in 2020 and still earning the same today has lost more than half of their real purchasing power</a:t>
            </a:r>
          </a:p>
          <a:p>
            <a:pPr marL="342900" indent="-342900" algn="just">
              <a:lnSpc>
                <a:spcPct val="115000"/>
              </a:lnSpc>
              <a:spcAft>
                <a:spcPts val="600"/>
              </a:spcAft>
              <a:buSzPct val="100000"/>
              <a:buChar char="•"/>
            </a:pPr>
            <a:r>
              <a:rPr lang="en-US" sz="1050" dirty="0">
                <a:solidFill>
                  <a:srgbClr val="2C2C2C"/>
                </a:solidFill>
                <a:latin typeface="Calibri" pitchFamily="34" charset="0"/>
                <a:ea typeface="Calibri" pitchFamily="34" charset="-122"/>
                <a:cs typeface="Calibri" pitchFamily="34" charset="-120"/>
              </a:rPr>
              <a:t>The pain of inflation is not equal, a junior civil servant below ₦80,000 faces a fundamentally different financial reality than a manager above ₦500,000</a:t>
            </a:r>
            <a:endParaRPr lang="en-US" sz="1050" dirty="0">
              <a:solidFill>
                <a:srgbClr val="2C2C2C"/>
              </a:solidFill>
            </a:endParaRPr>
          </a:p>
        </p:txBody>
      </p:sp>
      <p:sp>
        <p:nvSpPr>
          <p:cNvPr id="8" name="Shape 6"/>
          <p:cNvSpPr/>
          <p:nvPr/>
        </p:nvSpPr>
        <p:spPr>
          <a:xfrm>
            <a:off x="5125915" y="1353311"/>
            <a:ext cx="3606605" cy="1882257"/>
          </a:xfrm>
          <a:prstGeom prst="rect">
            <a:avLst/>
          </a:prstGeom>
          <a:solidFill>
            <a:srgbClr val="F7F4EE"/>
          </a:solidFill>
          <a:ln w="15240">
            <a:solidFill>
              <a:srgbClr val="8B0000"/>
            </a:solidFill>
            <a:prstDash val="solid"/>
          </a:ln>
        </p:spPr>
      </p:sp>
      <p:sp>
        <p:nvSpPr>
          <p:cNvPr id="9" name="Text 7"/>
          <p:cNvSpPr/>
          <p:nvPr/>
        </p:nvSpPr>
        <p:spPr>
          <a:xfrm>
            <a:off x="5196254" y="1431036"/>
            <a:ext cx="3377298" cy="237744"/>
          </a:xfrm>
          <a:prstGeom prst="rect">
            <a:avLst/>
          </a:prstGeom>
          <a:noFill/>
          <a:ln/>
        </p:spPr>
        <p:txBody>
          <a:bodyPr wrap="square" lIns="0" tIns="0" rIns="0" bIns="0" rtlCol="0" anchor="ctr"/>
          <a:lstStyle/>
          <a:p>
            <a:pPr marL="0" indent="0">
              <a:buNone/>
            </a:pPr>
            <a:r>
              <a:rPr lang="en-US" sz="1050" b="1" dirty="0">
                <a:solidFill>
                  <a:srgbClr val="8B0000"/>
                </a:solidFill>
                <a:latin typeface="Trebuchet MS" pitchFamily="34" charset="0"/>
                <a:ea typeface="Trebuchet MS" pitchFamily="34" charset="-122"/>
                <a:cs typeface="Trebuchet MS" pitchFamily="34" charset="-120"/>
              </a:rPr>
              <a:t>PROBLEM STATEMENT</a:t>
            </a:r>
            <a:endParaRPr lang="en-US" sz="1050" dirty="0">
              <a:solidFill>
                <a:srgbClr val="8B0000"/>
              </a:solidFill>
            </a:endParaRPr>
          </a:p>
        </p:txBody>
      </p:sp>
      <p:sp>
        <p:nvSpPr>
          <p:cNvPr id="10" name="Text 8"/>
          <p:cNvSpPr/>
          <p:nvPr/>
        </p:nvSpPr>
        <p:spPr>
          <a:xfrm>
            <a:off x="5196254" y="1719072"/>
            <a:ext cx="3412822" cy="1516495"/>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Nigerian salary earners are caught in a financial trap. Their nominal salaries have remained largely stagnant while the cost of living continues to surge, silently eroding their real purchasing power, depleting their savings, and pushing many into debt cycles just to survive monthly. Despite the severity of this crisis, the specific income levels at which salary earners tip from managing to barely surviving, and which financial coping strategies are genuinely effective versus which ones are making things worse, remain unmeasured and poorly understood at the individual level in Nigeria.</a:t>
            </a:r>
            <a:endParaRPr lang="en-US" sz="1000" dirty="0">
              <a:solidFill>
                <a:srgbClr val="2C2C2C"/>
              </a:solidFill>
            </a:endParaRPr>
          </a:p>
        </p:txBody>
      </p:sp>
      <p:sp>
        <p:nvSpPr>
          <p:cNvPr id="11" name="Shape 9"/>
          <p:cNvSpPr/>
          <p:nvPr/>
        </p:nvSpPr>
        <p:spPr>
          <a:xfrm>
            <a:off x="5125915" y="3424779"/>
            <a:ext cx="3606605" cy="1356829"/>
          </a:xfrm>
          <a:prstGeom prst="rect">
            <a:avLst/>
          </a:prstGeom>
          <a:solidFill>
            <a:srgbClr val="F7F4EE"/>
          </a:solidFill>
          <a:ln w="15240">
            <a:solidFill>
              <a:srgbClr val="8B0000"/>
            </a:solidFill>
            <a:prstDash val="solid"/>
          </a:ln>
        </p:spPr>
      </p:sp>
      <p:sp>
        <p:nvSpPr>
          <p:cNvPr id="12" name="Text 10"/>
          <p:cNvSpPr/>
          <p:nvPr/>
        </p:nvSpPr>
        <p:spPr>
          <a:xfrm>
            <a:off x="5196254" y="3456432"/>
            <a:ext cx="3377298" cy="245130"/>
          </a:xfrm>
          <a:prstGeom prst="rect">
            <a:avLst/>
          </a:prstGeom>
          <a:noFill/>
          <a:ln/>
        </p:spPr>
        <p:txBody>
          <a:bodyPr wrap="square" lIns="0" tIns="0" rIns="0" bIns="0" rtlCol="0" anchor="ctr"/>
          <a:lstStyle/>
          <a:p>
            <a:pPr marL="0" indent="0">
              <a:buNone/>
            </a:pPr>
            <a:r>
              <a:rPr lang="en-US" sz="1050" b="1" dirty="0">
                <a:solidFill>
                  <a:srgbClr val="8B0000"/>
                </a:solidFill>
                <a:latin typeface="Trebuchet MS" pitchFamily="34" charset="0"/>
                <a:ea typeface="Trebuchet MS" pitchFamily="34" charset="-122"/>
                <a:cs typeface="Trebuchet MS" pitchFamily="34" charset="-120"/>
              </a:rPr>
              <a:t>AIM OF THE STUDY</a:t>
            </a:r>
            <a:endParaRPr lang="en-US" sz="1050" dirty="0">
              <a:solidFill>
                <a:srgbClr val="8B0000"/>
              </a:solidFill>
            </a:endParaRPr>
          </a:p>
        </p:txBody>
      </p:sp>
      <p:sp>
        <p:nvSpPr>
          <p:cNvPr id="13" name="Text 11"/>
          <p:cNvSpPr/>
          <p:nvPr/>
        </p:nvSpPr>
        <p:spPr>
          <a:xfrm>
            <a:off x="5196254" y="3622782"/>
            <a:ext cx="3472258" cy="1207008"/>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To collect primary data from Nigerian salary earners and </a:t>
            </a:r>
            <a:r>
              <a:rPr lang="en-US" sz="1000" dirty="0" err="1">
                <a:solidFill>
                  <a:srgbClr val="2C2C2C"/>
                </a:solidFill>
                <a:latin typeface="Calibri" pitchFamily="34" charset="0"/>
                <a:ea typeface="Calibri" pitchFamily="34" charset="-122"/>
                <a:cs typeface="Calibri" pitchFamily="34" charset="-120"/>
              </a:rPr>
              <a:t>analyse</a:t>
            </a:r>
            <a:r>
              <a:rPr lang="en-US" sz="1000" dirty="0">
                <a:solidFill>
                  <a:srgbClr val="2C2C2C"/>
                </a:solidFill>
                <a:latin typeface="Calibri" pitchFamily="34" charset="0"/>
                <a:ea typeface="Calibri" pitchFamily="34" charset="-122"/>
                <a:cs typeface="Calibri" pitchFamily="34" charset="-120"/>
              </a:rPr>
              <a:t> the effect of inflation on their purchasing power and savings </a:t>
            </a:r>
            <a:r>
              <a:rPr lang="en-US" sz="1000" dirty="0" err="1">
                <a:solidFill>
                  <a:srgbClr val="2C2C2C"/>
                </a:solidFill>
                <a:latin typeface="Calibri" pitchFamily="34" charset="0"/>
                <a:ea typeface="Calibri" pitchFamily="34" charset="-122"/>
                <a:cs typeface="Calibri" pitchFamily="34" charset="-120"/>
              </a:rPr>
              <a:t>behaviour</a:t>
            </a:r>
            <a:r>
              <a:rPr lang="en-US" sz="1000" dirty="0">
                <a:solidFill>
                  <a:srgbClr val="2C2C2C"/>
                </a:solidFill>
                <a:latin typeface="Calibri" pitchFamily="34" charset="0"/>
                <a:ea typeface="Calibri" pitchFamily="34" charset="-122"/>
                <a:cs typeface="Calibri" pitchFamily="34" charset="-120"/>
              </a:rPr>
              <a:t> across different income levels, employment sectors, and demographic groups, and deliver practical, evidence-based recommendations for government, employers, financial institutions, and individuals.</a:t>
            </a:r>
            <a:endParaRPr lang="en-US" sz="1000" dirty="0">
              <a:solidFill>
                <a:srgbClr val="2C2C2C"/>
              </a:solidFill>
            </a:endParaRPr>
          </a:p>
        </p:txBody>
      </p:sp>
      <p:sp>
        <p:nvSpPr>
          <p:cNvPr id="17" name="Text 1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01  INTRODUCTION</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Project Objectives</a:t>
            </a:r>
            <a:endParaRPr lang="en-US" sz="2600" dirty="0">
              <a:solidFill>
                <a:srgbClr val="8B0000"/>
              </a:solidFill>
            </a:endParaRPr>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2C2C2C"/>
                </a:solidFill>
                <a:latin typeface="Calibri" pitchFamily="34" charset="0"/>
                <a:ea typeface="Calibri" pitchFamily="34" charset="-122"/>
                <a:cs typeface="Calibri" pitchFamily="34" charset="-120"/>
              </a:rPr>
              <a:t>Five research objectives guiding the analysis of inflation, purchasing power, and savings </a:t>
            </a:r>
            <a:r>
              <a:rPr lang="en-US" sz="1200" i="1" dirty="0" err="1">
                <a:solidFill>
                  <a:srgbClr val="2C2C2C"/>
                </a:solidFill>
                <a:latin typeface="Calibri" pitchFamily="34" charset="0"/>
                <a:ea typeface="Calibri" pitchFamily="34" charset="-122"/>
                <a:cs typeface="Calibri" pitchFamily="34" charset="-120"/>
              </a:rPr>
              <a:t>behaviour</a:t>
            </a:r>
            <a:r>
              <a:rPr lang="en-US" sz="1200" i="1" dirty="0">
                <a:solidFill>
                  <a:srgbClr val="2C2C2C"/>
                </a:solidFill>
                <a:latin typeface="Calibri" pitchFamily="34" charset="0"/>
                <a:ea typeface="Calibri" pitchFamily="34" charset="-122"/>
                <a:cs typeface="Calibri" pitchFamily="34" charset="-120"/>
              </a:rPr>
              <a:t> among Nigerian salary earners.</a:t>
            </a:r>
            <a:endParaRPr lang="en-US" sz="1200" dirty="0">
              <a:solidFill>
                <a:srgbClr val="2C2C2C"/>
              </a:solidFill>
            </a:endParaRPr>
          </a:p>
        </p:txBody>
      </p:sp>
      <p:sp>
        <p:nvSpPr>
          <p:cNvPr id="6" name="Shape 4"/>
          <p:cNvSpPr/>
          <p:nvPr/>
        </p:nvSpPr>
        <p:spPr>
          <a:xfrm>
            <a:off x="347472" y="1353312"/>
            <a:ext cx="2788920" cy="1627632"/>
          </a:xfrm>
          <a:prstGeom prst="rect">
            <a:avLst/>
          </a:prstGeom>
          <a:solidFill>
            <a:srgbClr val="F7F4EE"/>
          </a:solidFill>
          <a:ln w="15240">
            <a:solidFill>
              <a:srgbClr val="8B0000"/>
            </a:solidFill>
            <a:prstDash val="solid"/>
          </a:ln>
        </p:spPr>
      </p:sp>
      <p:sp>
        <p:nvSpPr>
          <p:cNvPr id="7" name="Shape 5"/>
          <p:cNvSpPr/>
          <p:nvPr/>
        </p:nvSpPr>
        <p:spPr>
          <a:xfrm>
            <a:off x="347472" y="1353312"/>
            <a:ext cx="566928" cy="347472"/>
          </a:xfrm>
          <a:prstGeom prst="rect">
            <a:avLst/>
          </a:prstGeom>
          <a:solidFill>
            <a:srgbClr val="8B0000"/>
          </a:solidFill>
          <a:ln w="12700">
            <a:solidFill>
              <a:srgbClr val="8B0000"/>
            </a:solidFill>
            <a:prstDash val="solid"/>
          </a:ln>
        </p:spPr>
      </p:sp>
      <p:sp>
        <p:nvSpPr>
          <p:cNvPr id="8" name="Text 6"/>
          <p:cNvSpPr/>
          <p:nvPr/>
        </p:nvSpPr>
        <p:spPr>
          <a:xfrm>
            <a:off x="347472" y="1353312"/>
            <a:ext cx="566928" cy="347472"/>
          </a:xfrm>
          <a:prstGeom prst="rect">
            <a:avLst/>
          </a:prstGeom>
          <a:noFill/>
          <a:ln/>
        </p:spPr>
        <p:txBody>
          <a:bodyPr wrap="square" lIns="0" tIns="0" rIns="0" bIns="0" rtlCol="0" anchor="ctr"/>
          <a:lstStyle/>
          <a:p>
            <a:pPr marL="0" indent="0" algn="ctr">
              <a:buNone/>
            </a:pPr>
            <a:r>
              <a:rPr lang="en-US" sz="1600" b="1" dirty="0">
                <a:solidFill>
                  <a:srgbClr val="F7F4EE"/>
                </a:solidFill>
                <a:latin typeface="Trebuchet MS" pitchFamily="34" charset="0"/>
                <a:ea typeface="Trebuchet MS" pitchFamily="34" charset="-122"/>
                <a:cs typeface="Trebuchet MS" pitchFamily="34" charset="-120"/>
              </a:rPr>
              <a:t>01</a:t>
            </a:r>
            <a:endParaRPr lang="en-US" sz="1600" dirty="0">
              <a:solidFill>
                <a:srgbClr val="F7F4EE"/>
              </a:solidFill>
            </a:endParaRPr>
          </a:p>
        </p:txBody>
      </p:sp>
      <p:sp>
        <p:nvSpPr>
          <p:cNvPr id="9" name="Text 7"/>
          <p:cNvSpPr/>
          <p:nvPr/>
        </p:nvSpPr>
        <p:spPr>
          <a:xfrm>
            <a:off x="438912" y="1755648"/>
            <a:ext cx="2606040" cy="292608"/>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Assess Purchasing Power</a:t>
            </a:r>
            <a:endParaRPr lang="en-US" sz="1200" dirty="0">
              <a:solidFill>
                <a:srgbClr val="8B0000"/>
              </a:solidFill>
            </a:endParaRPr>
          </a:p>
        </p:txBody>
      </p:sp>
      <p:sp>
        <p:nvSpPr>
          <p:cNvPr id="10" name="Text 8"/>
          <p:cNvSpPr/>
          <p:nvPr/>
        </p:nvSpPr>
        <p:spPr>
          <a:xfrm>
            <a:off x="438912" y="2066544"/>
            <a:ext cx="2606040" cy="841248"/>
          </a:xfrm>
          <a:prstGeom prst="rect">
            <a:avLst/>
          </a:prstGeom>
          <a:noFill/>
          <a:ln/>
        </p:spPr>
        <p:txBody>
          <a:bodyPr wrap="square" lIns="0" tIns="0" rIns="0" bIns="0" rtlCol="0" anchor="ctr"/>
          <a:lstStyle/>
          <a:p>
            <a:pPr marL="0" indent="0" algn="just">
              <a:buNone/>
            </a:pPr>
            <a:r>
              <a:rPr lang="en-US" sz="1050" dirty="0">
                <a:solidFill>
                  <a:srgbClr val="2C2C2C"/>
                </a:solidFill>
                <a:latin typeface="Calibri" pitchFamily="34" charset="0"/>
                <a:ea typeface="Calibri" pitchFamily="34" charset="-122"/>
                <a:cs typeface="Calibri" pitchFamily="34" charset="-120"/>
              </a:rPr>
              <a:t>Determine the current purchasing power of Nigerian salary earners and determine how inflation has affected their ability to meet basic financial needs.</a:t>
            </a:r>
            <a:endParaRPr lang="en-US" sz="1050" dirty="0">
              <a:solidFill>
                <a:srgbClr val="2C2C2C"/>
              </a:solidFill>
            </a:endParaRPr>
          </a:p>
        </p:txBody>
      </p:sp>
      <p:sp>
        <p:nvSpPr>
          <p:cNvPr id="11" name="Shape 9"/>
          <p:cNvSpPr/>
          <p:nvPr/>
        </p:nvSpPr>
        <p:spPr>
          <a:xfrm>
            <a:off x="3291840" y="1353312"/>
            <a:ext cx="2788920" cy="1627632"/>
          </a:xfrm>
          <a:prstGeom prst="rect">
            <a:avLst/>
          </a:prstGeom>
          <a:solidFill>
            <a:srgbClr val="F7F4EE"/>
          </a:solidFill>
          <a:ln w="15240">
            <a:solidFill>
              <a:srgbClr val="8B0000"/>
            </a:solidFill>
            <a:prstDash val="solid"/>
          </a:ln>
        </p:spPr>
      </p:sp>
      <p:sp>
        <p:nvSpPr>
          <p:cNvPr id="12" name="Shape 10"/>
          <p:cNvSpPr/>
          <p:nvPr/>
        </p:nvSpPr>
        <p:spPr>
          <a:xfrm>
            <a:off x="3291840" y="1353312"/>
            <a:ext cx="566928" cy="347472"/>
          </a:xfrm>
          <a:prstGeom prst="rect">
            <a:avLst/>
          </a:prstGeom>
          <a:solidFill>
            <a:srgbClr val="D4A017"/>
          </a:solidFill>
          <a:ln w="12700">
            <a:solidFill>
              <a:srgbClr val="D4A017"/>
            </a:solidFill>
            <a:prstDash val="solid"/>
          </a:ln>
        </p:spPr>
      </p:sp>
      <p:sp>
        <p:nvSpPr>
          <p:cNvPr id="13" name="Text 11"/>
          <p:cNvSpPr/>
          <p:nvPr/>
        </p:nvSpPr>
        <p:spPr>
          <a:xfrm>
            <a:off x="3291840" y="1353312"/>
            <a:ext cx="566928" cy="347472"/>
          </a:xfrm>
          <a:prstGeom prst="rect">
            <a:avLst/>
          </a:prstGeom>
          <a:solidFill>
            <a:srgbClr val="8B0000"/>
          </a:solidFill>
          <a:ln>
            <a:solidFill>
              <a:srgbClr val="8B0000"/>
            </a:solidFill>
          </a:ln>
        </p:spPr>
        <p:txBody>
          <a:bodyPr wrap="square" lIns="0" tIns="0" rIns="0" bIns="0" rtlCol="0" anchor="ctr"/>
          <a:lstStyle/>
          <a:p>
            <a:pPr marL="0" indent="0" algn="ctr">
              <a:buNone/>
            </a:pPr>
            <a:r>
              <a:rPr lang="en-US" sz="1600" b="1" dirty="0">
                <a:solidFill>
                  <a:srgbClr val="F7F4EE"/>
                </a:solidFill>
                <a:latin typeface="Trebuchet MS" pitchFamily="34" charset="0"/>
                <a:ea typeface="Trebuchet MS" pitchFamily="34" charset="-122"/>
                <a:cs typeface="Trebuchet MS" pitchFamily="34" charset="-120"/>
              </a:rPr>
              <a:t>02</a:t>
            </a:r>
            <a:endParaRPr lang="en-US" sz="1600" dirty="0">
              <a:solidFill>
                <a:srgbClr val="F7F4EE"/>
              </a:solidFill>
            </a:endParaRPr>
          </a:p>
        </p:txBody>
      </p:sp>
      <p:sp>
        <p:nvSpPr>
          <p:cNvPr id="14" name="Text 12"/>
          <p:cNvSpPr/>
          <p:nvPr/>
        </p:nvSpPr>
        <p:spPr>
          <a:xfrm>
            <a:off x="3383280" y="1755648"/>
            <a:ext cx="2606040" cy="292608"/>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Analyze Expenditure Impact</a:t>
            </a:r>
            <a:endParaRPr lang="en-US" sz="1200" dirty="0">
              <a:solidFill>
                <a:srgbClr val="8B0000"/>
              </a:solidFill>
            </a:endParaRPr>
          </a:p>
        </p:txBody>
      </p:sp>
      <p:sp>
        <p:nvSpPr>
          <p:cNvPr id="15" name="Text 13"/>
          <p:cNvSpPr/>
          <p:nvPr/>
        </p:nvSpPr>
        <p:spPr>
          <a:xfrm>
            <a:off x="3383280" y="2066544"/>
            <a:ext cx="2606040" cy="841248"/>
          </a:xfrm>
          <a:prstGeom prst="rect">
            <a:avLst/>
          </a:prstGeom>
          <a:noFill/>
          <a:ln/>
        </p:spPr>
        <p:txBody>
          <a:bodyPr wrap="square" lIns="0" tIns="0" rIns="0" bIns="0" rtlCol="0" anchor="ctr"/>
          <a:lstStyle/>
          <a:p>
            <a:pPr marL="0" indent="0" algn="just">
              <a:buNone/>
            </a:pPr>
            <a:r>
              <a:rPr lang="en-US" sz="1050" dirty="0">
                <a:solidFill>
                  <a:srgbClr val="2C2C2C"/>
                </a:solidFill>
                <a:latin typeface="Calibri" pitchFamily="34" charset="0"/>
                <a:ea typeface="Calibri" pitchFamily="34" charset="-122"/>
                <a:cs typeface="Calibri" pitchFamily="34" charset="-120"/>
              </a:rPr>
              <a:t>Identify the expenditure categories most affected by inflation and determine which essentials consume the largest share of monthly income.</a:t>
            </a:r>
            <a:endParaRPr lang="en-US" sz="1050" dirty="0">
              <a:solidFill>
                <a:srgbClr val="2C2C2C"/>
              </a:solidFill>
            </a:endParaRPr>
          </a:p>
        </p:txBody>
      </p:sp>
      <p:sp>
        <p:nvSpPr>
          <p:cNvPr id="16" name="Shape 14"/>
          <p:cNvSpPr/>
          <p:nvPr/>
        </p:nvSpPr>
        <p:spPr>
          <a:xfrm>
            <a:off x="6236208" y="1353312"/>
            <a:ext cx="2788920" cy="1627632"/>
          </a:xfrm>
          <a:prstGeom prst="rect">
            <a:avLst/>
          </a:prstGeom>
          <a:solidFill>
            <a:srgbClr val="F7F4EE"/>
          </a:solidFill>
          <a:ln w="15240">
            <a:solidFill>
              <a:srgbClr val="8B0000"/>
            </a:solidFill>
            <a:prstDash val="solid"/>
          </a:ln>
        </p:spPr>
      </p:sp>
      <p:sp>
        <p:nvSpPr>
          <p:cNvPr id="17" name="Shape 15"/>
          <p:cNvSpPr/>
          <p:nvPr/>
        </p:nvSpPr>
        <p:spPr>
          <a:xfrm>
            <a:off x="6236208" y="1353312"/>
            <a:ext cx="566928" cy="347472"/>
          </a:xfrm>
          <a:prstGeom prst="rect">
            <a:avLst/>
          </a:prstGeom>
          <a:solidFill>
            <a:srgbClr val="8B0000"/>
          </a:solidFill>
          <a:ln w="12700">
            <a:solidFill>
              <a:srgbClr val="8B0000"/>
            </a:solidFill>
            <a:prstDash val="solid"/>
          </a:ln>
        </p:spPr>
      </p:sp>
      <p:sp>
        <p:nvSpPr>
          <p:cNvPr id="18" name="Text 16"/>
          <p:cNvSpPr/>
          <p:nvPr/>
        </p:nvSpPr>
        <p:spPr>
          <a:xfrm>
            <a:off x="6236208" y="1353312"/>
            <a:ext cx="566928" cy="347472"/>
          </a:xfrm>
          <a:prstGeom prst="rect">
            <a:avLst/>
          </a:prstGeom>
          <a:noFill/>
          <a:ln/>
        </p:spPr>
        <p:txBody>
          <a:bodyPr wrap="square" lIns="0" tIns="0" rIns="0" bIns="0" rtlCol="0" anchor="ctr"/>
          <a:lstStyle/>
          <a:p>
            <a:pPr marL="0" indent="0" algn="ctr">
              <a:buNone/>
            </a:pPr>
            <a:r>
              <a:rPr lang="en-US" sz="1600" b="1" dirty="0">
                <a:solidFill>
                  <a:srgbClr val="F7F4EE"/>
                </a:solidFill>
                <a:latin typeface="Trebuchet MS" pitchFamily="34" charset="0"/>
                <a:ea typeface="Trebuchet MS" pitchFamily="34" charset="-122"/>
                <a:cs typeface="Trebuchet MS" pitchFamily="34" charset="-120"/>
              </a:rPr>
              <a:t>03</a:t>
            </a:r>
            <a:endParaRPr lang="en-US" sz="1600" dirty="0">
              <a:solidFill>
                <a:srgbClr val="F7F4EE"/>
              </a:solidFill>
            </a:endParaRPr>
          </a:p>
        </p:txBody>
      </p:sp>
      <p:sp>
        <p:nvSpPr>
          <p:cNvPr id="19" name="Text 17"/>
          <p:cNvSpPr/>
          <p:nvPr/>
        </p:nvSpPr>
        <p:spPr>
          <a:xfrm>
            <a:off x="6327648" y="1755648"/>
            <a:ext cx="2606040" cy="292608"/>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Examine Savings </a:t>
            </a:r>
            <a:r>
              <a:rPr lang="en-US" sz="1200" b="1" dirty="0" err="1">
                <a:solidFill>
                  <a:srgbClr val="8B0000"/>
                </a:solidFill>
                <a:latin typeface="Trebuchet MS" pitchFamily="34" charset="0"/>
                <a:ea typeface="Trebuchet MS" pitchFamily="34" charset="-122"/>
                <a:cs typeface="Trebuchet MS" pitchFamily="34" charset="-120"/>
              </a:rPr>
              <a:t>Behaviour</a:t>
            </a:r>
            <a:endParaRPr lang="en-US" sz="1200" dirty="0">
              <a:solidFill>
                <a:srgbClr val="8B0000"/>
              </a:solidFill>
            </a:endParaRPr>
          </a:p>
        </p:txBody>
      </p:sp>
      <p:sp>
        <p:nvSpPr>
          <p:cNvPr id="20" name="Text 18"/>
          <p:cNvSpPr/>
          <p:nvPr/>
        </p:nvSpPr>
        <p:spPr>
          <a:xfrm>
            <a:off x="6327648" y="2066544"/>
            <a:ext cx="2606040" cy="841248"/>
          </a:xfrm>
          <a:prstGeom prst="rect">
            <a:avLst/>
          </a:prstGeom>
          <a:noFill/>
          <a:ln/>
        </p:spPr>
        <p:txBody>
          <a:bodyPr wrap="square" lIns="0" tIns="0" rIns="0" bIns="0" rtlCol="0" anchor="ctr"/>
          <a:lstStyle/>
          <a:p>
            <a:pPr marL="0" indent="0" algn="just">
              <a:buNone/>
            </a:pPr>
            <a:r>
              <a:rPr lang="en-US" sz="1050" dirty="0">
                <a:solidFill>
                  <a:srgbClr val="2C2C2C"/>
                </a:solidFill>
                <a:latin typeface="Calibri" pitchFamily="34" charset="0"/>
                <a:ea typeface="Calibri" pitchFamily="34" charset="-122"/>
                <a:cs typeface="Calibri" pitchFamily="34" charset="-120"/>
              </a:rPr>
              <a:t>Assess how inflation has reduced savings capacity and influenced long-term financial planning among Nigerian salary earners.</a:t>
            </a:r>
            <a:endParaRPr lang="en-US" sz="1050" dirty="0">
              <a:solidFill>
                <a:srgbClr val="2C2C2C"/>
              </a:solidFill>
            </a:endParaRPr>
          </a:p>
        </p:txBody>
      </p:sp>
      <p:sp>
        <p:nvSpPr>
          <p:cNvPr id="21" name="Shape 19"/>
          <p:cNvSpPr/>
          <p:nvPr/>
        </p:nvSpPr>
        <p:spPr>
          <a:xfrm>
            <a:off x="347472" y="3163824"/>
            <a:ext cx="2788920" cy="1627632"/>
          </a:xfrm>
          <a:prstGeom prst="rect">
            <a:avLst/>
          </a:prstGeom>
          <a:solidFill>
            <a:srgbClr val="F7F4EE"/>
          </a:solidFill>
          <a:ln w="15240">
            <a:solidFill>
              <a:srgbClr val="8B0000"/>
            </a:solidFill>
            <a:prstDash val="solid"/>
          </a:ln>
        </p:spPr>
      </p:sp>
      <p:sp>
        <p:nvSpPr>
          <p:cNvPr id="22" name="Shape 20"/>
          <p:cNvSpPr/>
          <p:nvPr/>
        </p:nvSpPr>
        <p:spPr>
          <a:xfrm>
            <a:off x="347472" y="3163824"/>
            <a:ext cx="566928" cy="347472"/>
          </a:xfrm>
          <a:prstGeom prst="rect">
            <a:avLst/>
          </a:prstGeom>
          <a:solidFill>
            <a:srgbClr val="8B0000"/>
          </a:solidFill>
          <a:ln w="12700">
            <a:solidFill>
              <a:srgbClr val="8B0000"/>
            </a:solidFill>
            <a:prstDash val="solid"/>
          </a:ln>
        </p:spPr>
      </p:sp>
      <p:sp>
        <p:nvSpPr>
          <p:cNvPr id="23" name="Text 21"/>
          <p:cNvSpPr/>
          <p:nvPr/>
        </p:nvSpPr>
        <p:spPr>
          <a:xfrm>
            <a:off x="347472" y="3163824"/>
            <a:ext cx="566928" cy="347472"/>
          </a:xfrm>
          <a:prstGeom prst="rect">
            <a:avLst/>
          </a:prstGeom>
          <a:noFill/>
          <a:ln/>
        </p:spPr>
        <p:txBody>
          <a:bodyPr wrap="square" lIns="0" tIns="0" rIns="0" bIns="0" rtlCol="0" anchor="ctr"/>
          <a:lstStyle/>
          <a:p>
            <a:pPr marL="0" indent="0" algn="ctr">
              <a:buNone/>
            </a:pPr>
            <a:r>
              <a:rPr lang="en-US" sz="1600" b="1" dirty="0">
                <a:solidFill>
                  <a:srgbClr val="F7F4EE"/>
                </a:solidFill>
                <a:latin typeface="Trebuchet MS" pitchFamily="34" charset="0"/>
                <a:ea typeface="Trebuchet MS" pitchFamily="34" charset="-122"/>
                <a:cs typeface="Trebuchet MS" pitchFamily="34" charset="-120"/>
              </a:rPr>
              <a:t>04</a:t>
            </a:r>
            <a:endParaRPr lang="en-US" sz="1600" dirty="0">
              <a:solidFill>
                <a:srgbClr val="F7F4EE"/>
              </a:solidFill>
            </a:endParaRPr>
          </a:p>
        </p:txBody>
      </p:sp>
      <p:sp>
        <p:nvSpPr>
          <p:cNvPr id="24" name="Text 22"/>
          <p:cNvSpPr/>
          <p:nvPr/>
        </p:nvSpPr>
        <p:spPr>
          <a:xfrm>
            <a:off x="438912" y="3566160"/>
            <a:ext cx="2606040" cy="292608"/>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Compare Demographic Impact</a:t>
            </a:r>
            <a:endParaRPr lang="en-US" sz="1200" dirty="0">
              <a:solidFill>
                <a:srgbClr val="8B0000"/>
              </a:solidFill>
            </a:endParaRPr>
          </a:p>
        </p:txBody>
      </p:sp>
      <p:sp>
        <p:nvSpPr>
          <p:cNvPr id="25" name="Text 23"/>
          <p:cNvSpPr/>
          <p:nvPr/>
        </p:nvSpPr>
        <p:spPr>
          <a:xfrm>
            <a:off x="438912" y="3877056"/>
            <a:ext cx="2606040" cy="841248"/>
          </a:xfrm>
          <a:prstGeom prst="rect">
            <a:avLst/>
          </a:prstGeom>
          <a:noFill/>
          <a:ln/>
        </p:spPr>
        <p:txBody>
          <a:bodyPr wrap="square" lIns="0" tIns="0" rIns="0" bIns="0" rtlCol="0" anchor="ctr"/>
          <a:lstStyle/>
          <a:p>
            <a:pPr marL="0" indent="0" algn="just">
              <a:buNone/>
            </a:pPr>
            <a:r>
              <a:rPr lang="en-US" sz="1050" dirty="0">
                <a:solidFill>
                  <a:srgbClr val="2C2C2C"/>
                </a:solidFill>
                <a:latin typeface="Calibri" pitchFamily="34" charset="0"/>
                <a:ea typeface="Calibri" pitchFamily="34" charset="-122"/>
                <a:cs typeface="Calibri" pitchFamily="34" charset="-120"/>
              </a:rPr>
              <a:t>Determine whether the effects of inflation differ across income levels, gender, age groups, and employment sectors.</a:t>
            </a:r>
            <a:endParaRPr lang="en-US" sz="1050" dirty="0">
              <a:solidFill>
                <a:srgbClr val="2C2C2C"/>
              </a:solidFill>
            </a:endParaRPr>
          </a:p>
        </p:txBody>
      </p:sp>
      <p:sp>
        <p:nvSpPr>
          <p:cNvPr id="26" name="Shape 24"/>
          <p:cNvSpPr/>
          <p:nvPr/>
        </p:nvSpPr>
        <p:spPr>
          <a:xfrm>
            <a:off x="3291840" y="3163824"/>
            <a:ext cx="2788920" cy="1627632"/>
          </a:xfrm>
          <a:prstGeom prst="rect">
            <a:avLst/>
          </a:prstGeom>
          <a:solidFill>
            <a:srgbClr val="F7F4EE"/>
          </a:solidFill>
          <a:ln w="15240">
            <a:solidFill>
              <a:srgbClr val="8B0000"/>
            </a:solidFill>
            <a:prstDash val="solid"/>
          </a:ln>
        </p:spPr>
      </p:sp>
      <p:sp>
        <p:nvSpPr>
          <p:cNvPr id="27" name="Shape 25"/>
          <p:cNvSpPr/>
          <p:nvPr/>
        </p:nvSpPr>
        <p:spPr>
          <a:xfrm>
            <a:off x="3291840" y="3163824"/>
            <a:ext cx="566928" cy="347472"/>
          </a:xfrm>
          <a:prstGeom prst="rect">
            <a:avLst/>
          </a:prstGeom>
          <a:solidFill>
            <a:srgbClr val="8B0000"/>
          </a:solidFill>
          <a:ln w="12700">
            <a:solidFill>
              <a:srgbClr val="8B0000"/>
            </a:solidFill>
            <a:prstDash val="solid"/>
          </a:ln>
        </p:spPr>
      </p:sp>
      <p:sp>
        <p:nvSpPr>
          <p:cNvPr id="28" name="Text 26"/>
          <p:cNvSpPr/>
          <p:nvPr/>
        </p:nvSpPr>
        <p:spPr>
          <a:xfrm>
            <a:off x="3291840" y="3163824"/>
            <a:ext cx="566928" cy="347472"/>
          </a:xfrm>
          <a:prstGeom prst="rect">
            <a:avLst/>
          </a:prstGeom>
          <a:noFill/>
          <a:ln/>
        </p:spPr>
        <p:txBody>
          <a:bodyPr wrap="square" lIns="0" tIns="0" rIns="0" bIns="0" rtlCol="0" anchor="ctr"/>
          <a:lstStyle/>
          <a:p>
            <a:pPr marL="0" indent="0" algn="ctr">
              <a:buNone/>
            </a:pPr>
            <a:r>
              <a:rPr lang="en-US" sz="1600" b="1" dirty="0">
                <a:solidFill>
                  <a:srgbClr val="F7F4EE"/>
                </a:solidFill>
                <a:latin typeface="Trebuchet MS" pitchFamily="34" charset="0"/>
                <a:ea typeface="Trebuchet MS" pitchFamily="34" charset="-122"/>
                <a:cs typeface="Trebuchet MS" pitchFamily="34" charset="-120"/>
              </a:rPr>
              <a:t>05</a:t>
            </a:r>
            <a:endParaRPr lang="en-US" sz="1600" dirty="0">
              <a:solidFill>
                <a:srgbClr val="F7F4EE"/>
              </a:solidFill>
            </a:endParaRPr>
          </a:p>
        </p:txBody>
      </p:sp>
      <p:sp>
        <p:nvSpPr>
          <p:cNvPr id="29" name="Text 27"/>
          <p:cNvSpPr/>
          <p:nvPr/>
        </p:nvSpPr>
        <p:spPr>
          <a:xfrm>
            <a:off x="3383280" y="3566160"/>
            <a:ext cx="2606040" cy="292608"/>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Evaluate Coping Strategies</a:t>
            </a:r>
            <a:endParaRPr lang="en-US" sz="1200" dirty="0">
              <a:solidFill>
                <a:srgbClr val="8B0000"/>
              </a:solidFill>
            </a:endParaRPr>
          </a:p>
        </p:txBody>
      </p:sp>
      <p:sp>
        <p:nvSpPr>
          <p:cNvPr id="30" name="Text 28"/>
          <p:cNvSpPr/>
          <p:nvPr/>
        </p:nvSpPr>
        <p:spPr>
          <a:xfrm>
            <a:off x="3383280" y="3877056"/>
            <a:ext cx="2606040" cy="841248"/>
          </a:xfrm>
          <a:prstGeom prst="rect">
            <a:avLst/>
          </a:prstGeom>
          <a:noFill/>
          <a:ln/>
        </p:spPr>
        <p:txBody>
          <a:bodyPr wrap="square" lIns="0" tIns="0" rIns="0" bIns="0" rtlCol="0" anchor="ctr"/>
          <a:lstStyle/>
          <a:p>
            <a:pPr marL="0" indent="0" algn="just">
              <a:buNone/>
            </a:pPr>
            <a:r>
              <a:rPr lang="en-US" sz="1050" dirty="0">
                <a:solidFill>
                  <a:srgbClr val="2C2C2C"/>
                </a:solidFill>
                <a:latin typeface="Calibri" pitchFamily="34" charset="0"/>
                <a:ea typeface="Calibri" pitchFamily="34" charset="-122"/>
                <a:cs typeface="Calibri" pitchFamily="34" charset="-120"/>
              </a:rPr>
              <a:t>Examine the financial coping strategies adopted by Nigerian salary earners and recommend practical approaches to protect purchasing power and rebuild savings.</a:t>
            </a:r>
            <a:endParaRPr lang="en-US" sz="1050" dirty="0">
              <a:solidFill>
                <a:srgbClr val="2C2C2C"/>
              </a:solidFill>
            </a:endParaRPr>
          </a:p>
        </p:txBody>
      </p:sp>
      <p:sp>
        <p:nvSpPr>
          <p:cNvPr id="31" name="Text 2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02  METHODOLOGY</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Data Collection and Integrated Methodology</a:t>
            </a:r>
            <a:endParaRPr lang="en-US" sz="2600" dirty="0">
              <a:solidFill>
                <a:srgbClr val="8B0000"/>
              </a:solidFill>
            </a:endParaRPr>
          </a:p>
        </p:txBody>
      </p:sp>
      <p:sp>
        <p:nvSpPr>
          <p:cNvPr id="5" name="Shape 3"/>
          <p:cNvSpPr/>
          <p:nvPr/>
        </p:nvSpPr>
        <p:spPr>
          <a:xfrm>
            <a:off x="347472" y="1353312"/>
            <a:ext cx="2788920" cy="1417320"/>
          </a:xfrm>
          <a:prstGeom prst="rect">
            <a:avLst/>
          </a:prstGeom>
          <a:solidFill>
            <a:srgbClr val="F7F4EE"/>
          </a:solidFill>
          <a:ln w="15240">
            <a:solidFill>
              <a:srgbClr val="8B0000"/>
            </a:solidFill>
            <a:prstDash val="solid"/>
          </a:ln>
        </p:spPr>
        <p:txBody>
          <a:bodyPr/>
          <a:lstStyle/>
          <a:p>
            <a:r>
              <a:rPr lang="en-US" dirty="0"/>
              <a:t> </a:t>
            </a:r>
            <a:endParaRPr lang="en-NG" dirty="0"/>
          </a:p>
        </p:txBody>
      </p:sp>
      <p:sp>
        <p:nvSpPr>
          <p:cNvPr id="6" name="Text 4"/>
          <p:cNvSpPr/>
          <p:nvPr/>
        </p:nvSpPr>
        <p:spPr>
          <a:xfrm>
            <a:off x="475488" y="1463040"/>
            <a:ext cx="2560320" cy="274320"/>
          </a:xfrm>
          <a:prstGeom prst="rect">
            <a:avLst/>
          </a:prstGeom>
          <a:noFill/>
          <a:ln/>
        </p:spPr>
        <p:txBody>
          <a:bodyPr wrap="square" lIns="0" tIns="0" rIns="0" bIns="0" rtlCol="0" anchor="ctr"/>
          <a:lstStyle/>
          <a:p>
            <a:pPr marL="0" indent="0">
              <a:buNone/>
            </a:pPr>
            <a:r>
              <a:rPr lang="en-US" sz="1300" b="1" dirty="0">
                <a:solidFill>
                  <a:srgbClr val="8B0000"/>
                </a:solidFill>
                <a:latin typeface="Trebuchet MS" pitchFamily="34" charset="0"/>
                <a:ea typeface="Trebuchet MS" pitchFamily="34" charset="-122"/>
                <a:cs typeface="Trebuchet MS" pitchFamily="34" charset="-120"/>
              </a:rPr>
              <a:t>Structured Questionnaire</a:t>
            </a:r>
            <a:endParaRPr lang="en-US" sz="1300" dirty="0">
              <a:solidFill>
                <a:srgbClr val="8B0000"/>
              </a:solidFill>
            </a:endParaRPr>
          </a:p>
        </p:txBody>
      </p:sp>
      <p:sp>
        <p:nvSpPr>
          <p:cNvPr id="7" name="Text 5"/>
          <p:cNvSpPr/>
          <p:nvPr/>
        </p:nvSpPr>
        <p:spPr>
          <a:xfrm>
            <a:off x="475488" y="1755648"/>
            <a:ext cx="2560320" cy="201168"/>
          </a:xfrm>
          <a:prstGeom prst="rect">
            <a:avLst/>
          </a:prstGeom>
          <a:noFill/>
          <a:ln/>
        </p:spPr>
        <p:txBody>
          <a:bodyPr wrap="square" lIns="0" tIns="0" rIns="0" bIns="0" rtlCol="0" anchor="ctr"/>
          <a:lstStyle/>
          <a:p>
            <a:pPr marL="0" indent="0">
              <a:buNone/>
            </a:pPr>
            <a:r>
              <a:rPr lang="en-US" sz="1000" i="1" dirty="0">
                <a:latin typeface="Calibri" pitchFamily="34" charset="0"/>
                <a:ea typeface="Calibri" pitchFamily="34" charset="-122"/>
                <a:cs typeface="Calibri" pitchFamily="34" charset="-120"/>
              </a:rPr>
              <a:t>Primary Dataset Source</a:t>
            </a:r>
            <a:endParaRPr lang="en-US" sz="1000" dirty="0"/>
          </a:p>
        </p:txBody>
      </p:sp>
      <p:sp>
        <p:nvSpPr>
          <p:cNvPr id="8" name="Text 6"/>
          <p:cNvSpPr/>
          <p:nvPr/>
        </p:nvSpPr>
        <p:spPr>
          <a:xfrm>
            <a:off x="475488" y="1975104"/>
            <a:ext cx="2560320" cy="713232"/>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501 valid responses collected</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Nigerian salary earners</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Minimum of 3 years of work experience</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Structured questionnaire survey</a:t>
            </a:r>
            <a:endParaRPr lang="en-US" sz="1000" dirty="0">
              <a:solidFill>
                <a:srgbClr val="2C2C2C"/>
              </a:solidFill>
            </a:endParaRPr>
          </a:p>
        </p:txBody>
      </p:sp>
      <p:sp>
        <p:nvSpPr>
          <p:cNvPr id="9" name="Shape 7"/>
          <p:cNvSpPr/>
          <p:nvPr/>
        </p:nvSpPr>
        <p:spPr>
          <a:xfrm>
            <a:off x="3291840" y="1353312"/>
            <a:ext cx="2788920" cy="1417320"/>
          </a:xfrm>
          <a:prstGeom prst="rect">
            <a:avLst/>
          </a:prstGeom>
          <a:solidFill>
            <a:srgbClr val="F7F4EE"/>
          </a:solidFill>
          <a:ln w="15240">
            <a:solidFill>
              <a:srgbClr val="8B0000"/>
            </a:solidFill>
            <a:prstDash val="solid"/>
          </a:ln>
        </p:spPr>
      </p:sp>
      <p:sp>
        <p:nvSpPr>
          <p:cNvPr id="10" name="Text 8"/>
          <p:cNvSpPr/>
          <p:nvPr/>
        </p:nvSpPr>
        <p:spPr>
          <a:xfrm>
            <a:off x="3419856" y="1463040"/>
            <a:ext cx="2560320" cy="274320"/>
          </a:xfrm>
          <a:prstGeom prst="rect">
            <a:avLst/>
          </a:prstGeom>
          <a:noFill/>
          <a:ln/>
        </p:spPr>
        <p:txBody>
          <a:bodyPr wrap="square" lIns="0" tIns="0" rIns="0" bIns="0" rtlCol="0" anchor="ctr"/>
          <a:lstStyle/>
          <a:p>
            <a:pPr marL="0" indent="0">
              <a:buNone/>
            </a:pPr>
            <a:r>
              <a:rPr lang="en-US" sz="1300" b="1" dirty="0">
                <a:solidFill>
                  <a:srgbClr val="8B0000"/>
                </a:solidFill>
                <a:latin typeface="Trebuchet MS" pitchFamily="34" charset="0"/>
                <a:ea typeface="Trebuchet MS" pitchFamily="34" charset="-122"/>
                <a:cs typeface="Trebuchet MS" pitchFamily="34" charset="-120"/>
              </a:rPr>
              <a:t>Target Population</a:t>
            </a:r>
            <a:endParaRPr lang="en-US" sz="1300" dirty="0">
              <a:solidFill>
                <a:srgbClr val="8B0000"/>
              </a:solidFill>
            </a:endParaRPr>
          </a:p>
        </p:txBody>
      </p:sp>
      <p:sp>
        <p:nvSpPr>
          <p:cNvPr id="11" name="Text 9"/>
          <p:cNvSpPr/>
          <p:nvPr/>
        </p:nvSpPr>
        <p:spPr>
          <a:xfrm>
            <a:off x="3419856" y="1755648"/>
            <a:ext cx="2560320" cy="201168"/>
          </a:xfrm>
          <a:prstGeom prst="rect">
            <a:avLst/>
          </a:prstGeom>
          <a:noFill/>
          <a:ln/>
        </p:spPr>
        <p:txBody>
          <a:bodyPr wrap="square" lIns="0" tIns="0" rIns="0" bIns="0" rtlCol="0" anchor="ctr"/>
          <a:lstStyle/>
          <a:p>
            <a:pPr marL="0" indent="0">
              <a:buNone/>
            </a:pPr>
            <a:r>
              <a:rPr lang="en-US" sz="1000" i="1" dirty="0">
                <a:latin typeface="Calibri" pitchFamily="34" charset="0"/>
                <a:ea typeface="Calibri" pitchFamily="34" charset="-122"/>
                <a:cs typeface="Calibri" pitchFamily="34" charset="-120"/>
              </a:rPr>
              <a:t>Study Participants</a:t>
            </a:r>
            <a:endParaRPr lang="en-US" sz="1000" dirty="0"/>
          </a:p>
        </p:txBody>
      </p:sp>
      <p:sp>
        <p:nvSpPr>
          <p:cNvPr id="12" name="Text 10"/>
          <p:cNvSpPr/>
          <p:nvPr/>
        </p:nvSpPr>
        <p:spPr>
          <a:xfrm>
            <a:off x="3419856" y="1975104"/>
            <a:ext cx="2560320" cy="713232"/>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Nigerian salary earners</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Public and private sectors</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Self-employed and NGO/International </a:t>
            </a:r>
            <a:r>
              <a:rPr lang="en-US" sz="1000" dirty="0" err="1">
                <a:solidFill>
                  <a:srgbClr val="2C2C2C"/>
                </a:solidFill>
                <a:latin typeface="Calibri" pitchFamily="34" charset="0"/>
                <a:ea typeface="Calibri" pitchFamily="34" charset="-122"/>
                <a:cs typeface="Calibri" pitchFamily="34" charset="-120"/>
              </a:rPr>
              <a:t>organisations</a:t>
            </a:r>
            <a:endParaRPr lang="en-US" sz="1000" dirty="0">
              <a:solidFill>
                <a:srgbClr val="2C2C2C"/>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Respondents across different income groups</a:t>
            </a:r>
            <a:endParaRPr lang="en-US" sz="1000" dirty="0">
              <a:solidFill>
                <a:srgbClr val="2C2C2C"/>
              </a:solidFill>
            </a:endParaRPr>
          </a:p>
        </p:txBody>
      </p:sp>
      <p:sp>
        <p:nvSpPr>
          <p:cNvPr id="13" name="Shape 11"/>
          <p:cNvSpPr/>
          <p:nvPr/>
        </p:nvSpPr>
        <p:spPr>
          <a:xfrm>
            <a:off x="6236208" y="1353312"/>
            <a:ext cx="2788920" cy="1417320"/>
          </a:xfrm>
          <a:prstGeom prst="rect">
            <a:avLst/>
          </a:prstGeom>
          <a:solidFill>
            <a:srgbClr val="F7F4EE"/>
          </a:solidFill>
          <a:ln w="15240">
            <a:solidFill>
              <a:srgbClr val="8B0000"/>
            </a:solidFill>
            <a:prstDash val="solid"/>
          </a:ln>
        </p:spPr>
      </p:sp>
      <p:sp>
        <p:nvSpPr>
          <p:cNvPr id="14" name="Text 12"/>
          <p:cNvSpPr/>
          <p:nvPr/>
        </p:nvSpPr>
        <p:spPr>
          <a:xfrm>
            <a:off x="6364224" y="1463040"/>
            <a:ext cx="2560320" cy="274320"/>
          </a:xfrm>
          <a:prstGeom prst="rect">
            <a:avLst/>
          </a:prstGeom>
          <a:noFill/>
          <a:ln/>
        </p:spPr>
        <p:txBody>
          <a:bodyPr wrap="square" lIns="0" tIns="0" rIns="0" bIns="0" rtlCol="0" anchor="ctr"/>
          <a:lstStyle/>
          <a:p>
            <a:pPr marL="0" indent="0">
              <a:buNone/>
            </a:pPr>
            <a:r>
              <a:rPr lang="en-US" sz="1300" b="1" dirty="0">
                <a:solidFill>
                  <a:srgbClr val="8B0000"/>
                </a:solidFill>
                <a:latin typeface="Trebuchet MS" pitchFamily="34" charset="0"/>
                <a:ea typeface="Trebuchet MS" pitchFamily="34" charset="-122"/>
                <a:cs typeface="Trebuchet MS" pitchFamily="34" charset="-120"/>
              </a:rPr>
              <a:t>Research Variables</a:t>
            </a:r>
            <a:endParaRPr lang="en-US" sz="1300" dirty="0">
              <a:solidFill>
                <a:srgbClr val="8B0000"/>
              </a:solidFill>
            </a:endParaRPr>
          </a:p>
        </p:txBody>
      </p:sp>
      <p:sp>
        <p:nvSpPr>
          <p:cNvPr id="15" name="Text 13"/>
          <p:cNvSpPr/>
          <p:nvPr/>
        </p:nvSpPr>
        <p:spPr>
          <a:xfrm>
            <a:off x="6364224" y="1755648"/>
            <a:ext cx="2560320" cy="201168"/>
          </a:xfrm>
          <a:prstGeom prst="rect">
            <a:avLst/>
          </a:prstGeom>
          <a:noFill/>
          <a:ln/>
        </p:spPr>
        <p:txBody>
          <a:bodyPr wrap="square" lIns="0" tIns="0" rIns="0" bIns="0" rtlCol="0" anchor="ctr"/>
          <a:lstStyle/>
          <a:p>
            <a:pPr marL="0" indent="0">
              <a:buNone/>
            </a:pPr>
            <a:r>
              <a:rPr lang="en-US" sz="1000" i="1" dirty="0">
                <a:latin typeface="Calibri" pitchFamily="34" charset="0"/>
                <a:ea typeface="Calibri" pitchFamily="34" charset="-122"/>
                <a:cs typeface="Calibri" pitchFamily="34" charset="-120"/>
              </a:rPr>
              <a:t>Variables </a:t>
            </a:r>
            <a:r>
              <a:rPr lang="en-US" sz="1000" i="1" dirty="0" err="1">
                <a:latin typeface="Calibri" pitchFamily="34" charset="0"/>
                <a:ea typeface="Calibri" pitchFamily="34" charset="-122"/>
                <a:cs typeface="Calibri" pitchFamily="34" charset="-120"/>
              </a:rPr>
              <a:t>Analysed</a:t>
            </a:r>
            <a:endParaRPr lang="en-US" sz="1000" dirty="0"/>
          </a:p>
        </p:txBody>
      </p:sp>
      <p:sp>
        <p:nvSpPr>
          <p:cNvPr id="16" name="Text 14"/>
          <p:cNvSpPr/>
          <p:nvPr/>
        </p:nvSpPr>
        <p:spPr>
          <a:xfrm>
            <a:off x="6364224" y="1975104"/>
            <a:ext cx="2560320" cy="713232"/>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Purchasing Power</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Income Expenditure</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Savings </a:t>
            </a:r>
            <a:r>
              <a:rPr lang="en-US" sz="1000" dirty="0" err="1">
                <a:solidFill>
                  <a:srgbClr val="2C2C2C"/>
                </a:solidFill>
                <a:latin typeface="Calibri" pitchFamily="34" charset="0"/>
                <a:ea typeface="Calibri" pitchFamily="34" charset="-122"/>
                <a:cs typeface="Calibri" pitchFamily="34" charset="-120"/>
              </a:rPr>
              <a:t>Behaviour</a:t>
            </a:r>
            <a:endParaRPr lang="en-US" sz="1000" dirty="0">
              <a:solidFill>
                <a:srgbClr val="2C2C2C"/>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Financial Coping Strategies</a:t>
            </a:r>
          </a:p>
          <a:p>
            <a:pPr marL="171450" indent="-171450">
              <a:buFont typeface="Arial" panose="020B0604020202020204" pitchFamily="34" charset="0"/>
              <a:buChar char="•"/>
            </a:pPr>
            <a:r>
              <a:rPr lang="en-US" sz="1000" dirty="0">
                <a:solidFill>
                  <a:srgbClr val="2C2C2C"/>
                </a:solidFill>
                <a:latin typeface="Calibri" pitchFamily="34" charset="0"/>
                <a:ea typeface="Calibri" pitchFamily="34" charset="-122"/>
                <a:cs typeface="Calibri" pitchFamily="34" charset="-120"/>
              </a:rPr>
              <a:t>Demographic Characteristics</a:t>
            </a:r>
            <a:endParaRPr lang="en-US" sz="1000" dirty="0">
              <a:solidFill>
                <a:srgbClr val="2C2C2C"/>
              </a:solidFill>
            </a:endParaRPr>
          </a:p>
        </p:txBody>
      </p:sp>
      <p:sp>
        <p:nvSpPr>
          <p:cNvPr id="17" name="Text 15"/>
          <p:cNvSpPr/>
          <p:nvPr/>
        </p:nvSpPr>
        <p:spPr>
          <a:xfrm>
            <a:off x="347472" y="2907792"/>
            <a:ext cx="4572000" cy="256032"/>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ANALYTICAL WORKFLOW</a:t>
            </a:r>
            <a:endParaRPr lang="en-US" sz="1100" dirty="0">
              <a:solidFill>
                <a:srgbClr val="8B0000"/>
              </a:solidFill>
            </a:endParaRPr>
          </a:p>
        </p:txBody>
      </p:sp>
      <p:sp>
        <p:nvSpPr>
          <p:cNvPr id="18" name="Shape 16"/>
          <p:cNvSpPr/>
          <p:nvPr/>
        </p:nvSpPr>
        <p:spPr>
          <a:xfrm>
            <a:off x="347472" y="3200400"/>
            <a:ext cx="2011680" cy="1600200"/>
          </a:xfrm>
          <a:prstGeom prst="rect">
            <a:avLst/>
          </a:prstGeom>
          <a:solidFill>
            <a:srgbClr val="F7F4EE"/>
          </a:solidFill>
          <a:ln w="19050">
            <a:solidFill>
              <a:srgbClr val="4A7C59"/>
            </a:solidFill>
            <a:prstDash val="solid"/>
          </a:ln>
        </p:spPr>
      </p:sp>
      <p:sp>
        <p:nvSpPr>
          <p:cNvPr id="19" name="Shape 17"/>
          <p:cNvSpPr/>
          <p:nvPr/>
        </p:nvSpPr>
        <p:spPr>
          <a:xfrm>
            <a:off x="347472" y="3200400"/>
            <a:ext cx="2011680" cy="292608"/>
          </a:xfrm>
          <a:prstGeom prst="rect">
            <a:avLst/>
          </a:prstGeom>
          <a:solidFill>
            <a:srgbClr val="4A7C59"/>
          </a:solidFill>
          <a:ln w="12700">
            <a:solidFill>
              <a:srgbClr val="4A7C59"/>
            </a:solidFill>
            <a:prstDash val="solid"/>
          </a:ln>
        </p:spPr>
      </p:sp>
      <p:sp>
        <p:nvSpPr>
          <p:cNvPr id="20" name="Text 18"/>
          <p:cNvSpPr/>
          <p:nvPr/>
        </p:nvSpPr>
        <p:spPr>
          <a:xfrm>
            <a:off x="347472"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Excel</a:t>
            </a:r>
            <a:endParaRPr lang="en-US" sz="1200" dirty="0"/>
          </a:p>
        </p:txBody>
      </p:sp>
      <p:sp>
        <p:nvSpPr>
          <p:cNvPr id="21" name="Text 19"/>
          <p:cNvSpPr/>
          <p:nvPr/>
        </p:nvSpPr>
        <p:spPr>
          <a:xfrm>
            <a:off x="438912" y="3520440"/>
            <a:ext cx="1828800" cy="1188720"/>
          </a:xfrm>
          <a:prstGeom prst="rect">
            <a:avLst/>
          </a:prstGeom>
          <a:noFill/>
          <a:ln/>
        </p:spPr>
        <p:txBody>
          <a:bodyPr wrap="square" lIns="0" tIns="0" rIns="0" bIns="0" rtlCol="0" anchor="ctr"/>
          <a:lstStyle/>
          <a:p>
            <a:pPr marL="0" indent="0" algn="ctr">
              <a:buNone/>
            </a:pPr>
            <a:r>
              <a:rPr lang="en-US" sz="1050" dirty="0">
                <a:solidFill>
                  <a:srgbClr val="2C2C2C"/>
                </a:solidFill>
                <a:latin typeface="Calibri" pitchFamily="34" charset="0"/>
                <a:ea typeface="Calibri" pitchFamily="34" charset="-122"/>
                <a:cs typeface="Calibri" pitchFamily="34" charset="-120"/>
              </a:rPr>
              <a:t>Data entry, Data cleaning</a:t>
            </a:r>
            <a:endParaRPr lang="en-US" sz="1050" dirty="0">
              <a:solidFill>
                <a:srgbClr val="2C2C2C"/>
              </a:solidFill>
            </a:endParaRPr>
          </a:p>
          <a:p>
            <a:pPr marL="0" indent="0" algn="ctr">
              <a:buNone/>
            </a:pPr>
            <a:r>
              <a:rPr lang="en-US" sz="1050" dirty="0">
                <a:solidFill>
                  <a:srgbClr val="2C2C2C"/>
                </a:solidFill>
                <a:latin typeface="Calibri" pitchFamily="34" charset="0"/>
                <a:ea typeface="Calibri" pitchFamily="34" charset="-122"/>
                <a:cs typeface="Calibri" pitchFamily="34" charset="-120"/>
              </a:rPr>
              <a:t>EDA and Data validation</a:t>
            </a:r>
            <a:endParaRPr lang="en-US" sz="1050" dirty="0">
              <a:solidFill>
                <a:srgbClr val="2C2C2C"/>
              </a:solidFill>
            </a:endParaRPr>
          </a:p>
        </p:txBody>
      </p:sp>
      <p:sp>
        <p:nvSpPr>
          <p:cNvPr id="23" name="Shape 21"/>
          <p:cNvSpPr/>
          <p:nvPr/>
        </p:nvSpPr>
        <p:spPr>
          <a:xfrm>
            <a:off x="2560320" y="3200400"/>
            <a:ext cx="2011680" cy="1600200"/>
          </a:xfrm>
          <a:prstGeom prst="rect">
            <a:avLst/>
          </a:prstGeom>
          <a:solidFill>
            <a:srgbClr val="F7F4EE"/>
          </a:solidFill>
          <a:ln w="19050">
            <a:solidFill>
              <a:srgbClr val="2E86AB"/>
            </a:solidFill>
            <a:prstDash val="solid"/>
          </a:ln>
        </p:spPr>
      </p:sp>
      <p:sp>
        <p:nvSpPr>
          <p:cNvPr id="24" name="Shape 22"/>
          <p:cNvSpPr/>
          <p:nvPr/>
        </p:nvSpPr>
        <p:spPr>
          <a:xfrm>
            <a:off x="2560320" y="3200400"/>
            <a:ext cx="2011680" cy="292608"/>
          </a:xfrm>
          <a:prstGeom prst="rect">
            <a:avLst/>
          </a:prstGeom>
          <a:solidFill>
            <a:srgbClr val="2E86AB"/>
          </a:solidFill>
          <a:ln w="12700">
            <a:solidFill>
              <a:srgbClr val="2E86AB"/>
            </a:solidFill>
            <a:prstDash val="solid"/>
          </a:ln>
        </p:spPr>
      </p:sp>
      <p:sp>
        <p:nvSpPr>
          <p:cNvPr id="25" name="Text 23"/>
          <p:cNvSpPr/>
          <p:nvPr/>
        </p:nvSpPr>
        <p:spPr>
          <a:xfrm>
            <a:off x="2560320"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SQL</a:t>
            </a:r>
            <a:endParaRPr lang="en-US" sz="1200" dirty="0"/>
          </a:p>
        </p:txBody>
      </p:sp>
      <p:sp>
        <p:nvSpPr>
          <p:cNvPr id="26" name="Text 24"/>
          <p:cNvSpPr/>
          <p:nvPr/>
        </p:nvSpPr>
        <p:spPr>
          <a:xfrm>
            <a:off x="2651760" y="3520440"/>
            <a:ext cx="1828800" cy="1188720"/>
          </a:xfrm>
          <a:prstGeom prst="rect">
            <a:avLst/>
          </a:prstGeom>
          <a:noFill/>
          <a:ln/>
        </p:spPr>
        <p:txBody>
          <a:bodyPr wrap="square" lIns="0" tIns="0" rIns="0" bIns="0" rtlCol="0" anchor="ctr"/>
          <a:lstStyle/>
          <a:p>
            <a:pPr marL="0" indent="0" algn="ctr">
              <a:buNone/>
            </a:pPr>
            <a:r>
              <a:rPr lang="en-US" sz="1050" dirty="0">
                <a:solidFill>
                  <a:srgbClr val="2C2C2C"/>
                </a:solidFill>
                <a:latin typeface="Calibri" pitchFamily="34" charset="0"/>
                <a:ea typeface="Calibri" pitchFamily="34" charset="-122"/>
                <a:cs typeface="Calibri" pitchFamily="34" charset="-120"/>
              </a:rPr>
              <a:t>Structured queries</a:t>
            </a:r>
            <a:endParaRPr lang="en-US" sz="1050" dirty="0">
              <a:solidFill>
                <a:srgbClr val="2C2C2C"/>
              </a:solidFill>
            </a:endParaRPr>
          </a:p>
          <a:p>
            <a:pPr marL="0" indent="0" algn="ctr">
              <a:buNone/>
            </a:pPr>
            <a:r>
              <a:rPr lang="en-US" sz="1050" dirty="0">
                <a:solidFill>
                  <a:srgbClr val="2C2C2C"/>
                </a:solidFill>
                <a:latin typeface="Calibri" pitchFamily="34" charset="0"/>
                <a:ea typeface="Calibri" pitchFamily="34" charset="-122"/>
                <a:cs typeface="Calibri" pitchFamily="34" charset="-120"/>
              </a:rPr>
              <a:t>10 analytical queries</a:t>
            </a:r>
            <a:endParaRPr lang="en-US" sz="1050" dirty="0">
              <a:solidFill>
                <a:srgbClr val="2C2C2C"/>
              </a:solidFill>
            </a:endParaRPr>
          </a:p>
        </p:txBody>
      </p:sp>
      <p:sp>
        <p:nvSpPr>
          <p:cNvPr id="28" name="Shape 26"/>
          <p:cNvSpPr/>
          <p:nvPr/>
        </p:nvSpPr>
        <p:spPr>
          <a:xfrm>
            <a:off x="4773168" y="3200400"/>
            <a:ext cx="2011680" cy="1600200"/>
          </a:xfrm>
          <a:prstGeom prst="rect">
            <a:avLst/>
          </a:prstGeom>
          <a:solidFill>
            <a:srgbClr val="F7F4EE"/>
          </a:solidFill>
          <a:ln w="19050">
            <a:solidFill>
              <a:srgbClr val="C1440E"/>
            </a:solidFill>
            <a:prstDash val="solid"/>
          </a:ln>
        </p:spPr>
      </p:sp>
      <p:sp>
        <p:nvSpPr>
          <p:cNvPr id="29" name="Shape 27"/>
          <p:cNvSpPr/>
          <p:nvPr/>
        </p:nvSpPr>
        <p:spPr>
          <a:xfrm>
            <a:off x="4773168" y="3200400"/>
            <a:ext cx="2011680" cy="292608"/>
          </a:xfrm>
          <a:prstGeom prst="rect">
            <a:avLst/>
          </a:prstGeom>
          <a:solidFill>
            <a:srgbClr val="C1440E"/>
          </a:solidFill>
          <a:ln w="12700">
            <a:solidFill>
              <a:srgbClr val="C1440E"/>
            </a:solidFill>
            <a:prstDash val="solid"/>
          </a:ln>
        </p:spPr>
      </p:sp>
      <p:sp>
        <p:nvSpPr>
          <p:cNvPr id="30" name="Text 28"/>
          <p:cNvSpPr/>
          <p:nvPr/>
        </p:nvSpPr>
        <p:spPr>
          <a:xfrm>
            <a:off x="4773168"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Python</a:t>
            </a:r>
            <a:endParaRPr lang="en-US" sz="1200" dirty="0"/>
          </a:p>
        </p:txBody>
      </p:sp>
      <p:sp>
        <p:nvSpPr>
          <p:cNvPr id="31" name="Text 29"/>
          <p:cNvSpPr/>
          <p:nvPr/>
        </p:nvSpPr>
        <p:spPr>
          <a:xfrm>
            <a:off x="4864608" y="3520440"/>
            <a:ext cx="1828800" cy="1188720"/>
          </a:xfrm>
          <a:prstGeom prst="rect">
            <a:avLst/>
          </a:prstGeom>
          <a:noFill/>
          <a:ln/>
        </p:spPr>
        <p:txBody>
          <a:bodyPr wrap="square" lIns="0" tIns="0" rIns="0" bIns="0" rtlCol="0" anchor="ctr"/>
          <a:lstStyle/>
          <a:p>
            <a:pPr marL="0" indent="0" algn="ctr">
              <a:buNone/>
            </a:pPr>
            <a:r>
              <a:rPr lang="en-US" sz="1050" dirty="0">
                <a:solidFill>
                  <a:srgbClr val="2C2C2C"/>
                </a:solidFill>
                <a:latin typeface="Calibri" pitchFamily="34" charset="0"/>
                <a:ea typeface="Calibri" pitchFamily="34" charset="-122"/>
                <a:cs typeface="Calibri" pitchFamily="34" charset="-120"/>
              </a:rPr>
              <a:t>Correlation analysis</a:t>
            </a:r>
            <a:endParaRPr lang="en-US" sz="1050" dirty="0">
              <a:solidFill>
                <a:srgbClr val="2C2C2C"/>
              </a:solidFill>
            </a:endParaRPr>
          </a:p>
          <a:p>
            <a:pPr marL="0" indent="0" algn="ctr">
              <a:buNone/>
            </a:pPr>
            <a:r>
              <a:rPr lang="en-US" sz="1050" dirty="0">
                <a:solidFill>
                  <a:srgbClr val="2C2C2C"/>
                </a:solidFill>
                <a:latin typeface="Calibri" pitchFamily="34" charset="0"/>
                <a:ea typeface="Calibri" pitchFamily="34" charset="-122"/>
                <a:cs typeface="Calibri" pitchFamily="34" charset="-120"/>
              </a:rPr>
              <a:t>Outlier detection</a:t>
            </a:r>
            <a:endParaRPr lang="en-US" sz="1050" dirty="0">
              <a:solidFill>
                <a:srgbClr val="2C2C2C"/>
              </a:solidFill>
            </a:endParaRPr>
          </a:p>
        </p:txBody>
      </p:sp>
      <p:sp>
        <p:nvSpPr>
          <p:cNvPr id="33" name="Shape 31"/>
          <p:cNvSpPr/>
          <p:nvPr/>
        </p:nvSpPr>
        <p:spPr>
          <a:xfrm>
            <a:off x="6986016" y="3200400"/>
            <a:ext cx="2011680" cy="1600200"/>
          </a:xfrm>
          <a:prstGeom prst="rect">
            <a:avLst/>
          </a:prstGeom>
          <a:solidFill>
            <a:srgbClr val="F7F4EE"/>
          </a:solidFill>
          <a:ln w="19050">
            <a:solidFill>
              <a:srgbClr val="D4A017"/>
            </a:solidFill>
            <a:prstDash val="solid"/>
          </a:ln>
        </p:spPr>
      </p:sp>
      <p:sp>
        <p:nvSpPr>
          <p:cNvPr id="34" name="Shape 32"/>
          <p:cNvSpPr/>
          <p:nvPr/>
        </p:nvSpPr>
        <p:spPr>
          <a:xfrm>
            <a:off x="6986016" y="3200400"/>
            <a:ext cx="2011680" cy="292608"/>
          </a:xfrm>
          <a:prstGeom prst="rect">
            <a:avLst/>
          </a:prstGeom>
          <a:solidFill>
            <a:srgbClr val="D4A017"/>
          </a:solidFill>
          <a:ln w="12700">
            <a:solidFill>
              <a:srgbClr val="D4A017"/>
            </a:solidFill>
            <a:prstDash val="solid"/>
          </a:ln>
        </p:spPr>
      </p:sp>
      <p:sp>
        <p:nvSpPr>
          <p:cNvPr id="35" name="Text 33"/>
          <p:cNvSpPr/>
          <p:nvPr/>
        </p:nvSpPr>
        <p:spPr>
          <a:xfrm>
            <a:off x="6986016" y="3200400"/>
            <a:ext cx="2011680" cy="292608"/>
          </a:xfrm>
          <a:prstGeom prst="rect">
            <a:avLst/>
          </a:prstGeom>
          <a:noFill/>
          <a:ln/>
        </p:spPr>
        <p:txBody>
          <a:bodyPr wrap="square" lIns="0" tIns="0" rIns="0" bIns="0" rtlCol="0" anchor="ctr"/>
          <a:lstStyle/>
          <a:p>
            <a:pPr marL="0" indent="0" algn="ctr">
              <a:buNone/>
            </a:pPr>
            <a:r>
              <a:rPr lang="en-US" sz="1200" b="1" dirty="0">
                <a:solidFill>
                  <a:srgbClr val="1A1208"/>
                </a:solidFill>
                <a:latin typeface="Trebuchet MS" pitchFamily="34" charset="0"/>
                <a:ea typeface="Trebuchet MS" pitchFamily="34" charset="-122"/>
                <a:cs typeface="Trebuchet MS" pitchFamily="34" charset="-120"/>
              </a:rPr>
              <a:t>Power BI</a:t>
            </a:r>
            <a:endParaRPr lang="en-US" sz="1200" dirty="0"/>
          </a:p>
        </p:txBody>
      </p:sp>
      <p:sp>
        <p:nvSpPr>
          <p:cNvPr id="36" name="Text 34"/>
          <p:cNvSpPr/>
          <p:nvPr/>
        </p:nvSpPr>
        <p:spPr>
          <a:xfrm>
            <a:off x="7077456" y="3520440"/>
            <a:ext cx="1828800" cy="1188720"/>
          </a:xfrm>
          <a:prstGeom prst="rect">
            <a:avLst/>
          </a:prstGeom>
          <a:noFill/>
          <a:ln/>
        </p:spPr>
        <p:txBody>
          <a:bodyPr wrap="square" lIns="0" tIns="0" rIns="0" bIns="0" rtlCol="0" anchor="ctr"/>
          <a:lstStyle/>
          <a:p>
            <a:pPr marL="0" indent="0" algn="ctr">
              <a:buNone/>
            </a:pPr>
            <a:r>
              <a:rPr lang="en-US" sz="1050" dirty="0">
                <a:solidFill>
                  <a:srgbClr val="2C2C2C"/>
                </a:solidFill>
                <a:latin typeface="Calibri" pitchFamily="34" charset="0"/>
                <a:ea typeface="Calibri" pitchFamily="34" charset="-122"/>
                <a:cs typeface="Calibri" pitchFamily="34" charset="-120"/>
              </a:rPr>
              <a:t>Interactive dashboard</a:t>
            </a:r>
            <a:endParaRPr lang="en-US" sz="1050" dirty="0">
              <a:solidFill>
                <a:srgbClr val="2C2C2C"/>
              </a:solidFill>
            </a:endParaRPr>
          </a:p>
          <a:p>
            <a:pPr marL="0" indent="0" algn="ctr">
              <a:buNone/>
            </a:pPr>
            <a:r>
              <a:rPr lang="en-US" sz="1050" dirty="0">
                <a:solidFill>
                  <a:srgbClr val="2C2C2C"/>
                </a:solidFill>
                <a:latin typeface="Calibri" pitchFamily="34" charset="0"/>
                <a:ea typeface="Calibri" pitchFamily="34" charset="-122"/>
                <a:cs typeface="Calibri" pitchFamily="34" charset="-120"/>
              </a:rPr>
              <a:t>6 pages</a:t>
            </a:r>
            <a:endParaRPr lang="en-US" sz="1050" dirty="0">
              <a:solidFill>
                <a:srgbClr val="2C2C2C"/>
              </a:solidFill>
            </a:endParaRPr>
          </a:p>
        </p:txBody>
      </p:sp>
      <p:sp>
        <p:nvSpPr>
          <p:cNvPr id="37" name="Text 3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8B0000"/>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03  FINDINGS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Dataset Overview and Descriptive Statistics</a:t>
            </a:r>
            <a:endParaRPr lang="en-US" sz="2600" dirty="0">
              <a:solidFill>
                <a:srgbClr val="8B0000"/>
              </a:solidFill>
            </a:endParaRPr>
          </a:p>
        </p:txBody>
      </p:sp>
      <p:sp>
        <p:nvSpPr>
          <p:cNvPr id="5" name="Shape 3"/>
          <p:cNvSpPr/>
          <p:nvPr/>
        </p:nvSpPr>
        <p:spPr>
          <a:xfrm>
            <a:off x="347472" y="1325880"/>
            <a:ext cx="1965960" cy="1188720"/>
          </a:xfrm>
          <a:prstGeom prst="rect">
            <a:avLst/>
          </a:prstGeom>
          <a:solidFill>
            <a:srgbClr val="F7F4EE"/>
          </a:solidFill>
          <a:ln w="15240">
            <a:solidFill>
              <a:srgbClr val="8B0000"/>
            </a:solidFill>
            <a:prstDash val="solid"/>
          </a:ln>
        </p:spPr>
      </p:sp>
      <p:sp>
        <p:nvSpPr>
          <p:cNvPr id="6" name="Text 4"/>
          <p:cNvSpPr/>
          <p:nvPr/>
        </p:nvSpPr>
        <p:spPr>
          <a:xfrm>
            <a:off x="347472" y="1399032"/>
            <a:ext cx="1965960" cy="658368"/>
          </a:xfrm>
          <a:prstGeom prst="rect">
            <a:avLst/>
          </a:prstGeom>
          <a:noFill/>
          <a:ln/>
        </p:spPr>
        <p:txBody>
          <a:bodyPr wrap="square" lIns="0" tIns="0" rIns="0" bIns="0" rtlCol="0" anchor="ctr"/>
          <a:lstStyle/>
          <a:p>
            <a:pPr marL="0" indent="0" algn="ctr">
              <a:buNone/>
            </a:pPr>
            <a:r>
              <a:rPr lang="en-US" sz="3800" b="1" dirty="0">
                <a:solidFill>
                  <a:srgbClr val="002060"/>
                </a:solidFill>
                <a:latin typeface="Trebuchet MS" pitchFamily="34" charset="0"/>
                <a:ea typeface="Trebuchet MS" pitchFamily="34" charset="-122"/>
                <a:cs typeface="Trebuchet MS" pitchFamily="34" charset="-120"/>
              </a:rPr>
              <a:t>501</a:t>
            </a:r>
            <a:endParaRPr lang="en-US" sz="3800" dirty="0">
              <a:solidFill>
                <a:srgbClr val="002060"/>
              </a:solidFill>
            </a:endParaRPr>
          </a:p>
        </p:txBody>
      </p:sp>
      <p:sp>
        <p:nvSpPr>
          <p:cNvPr id="7" name="Text 5"/>
          <p:cNvSpPr/>
          <p:nvPr/>
        </p:nvSpPr>
        <p:spPr>
          <a:xfrm>
            <a:off x="347472" y="2084832"/>
            <a:ext cx="1965960" cy="320040"/>
          </a:xfrm>
          <a:prstGeom prst="rect">
            <a:avLst/>
          </a:prstGeom>
          <a:noFill/>
          <a:ln/>
        </p:spPr>
        <p:txBody>
          <a:bodyPr wrap="square" lIns="0" tIns="0" rIns="0" bIns="0" rtlCol="0" anchor="ctr"/>
          <a:lstStyle/>
          <a:p>
            <a:pPr marL="0" indent="0" algn="ctr">
              <a:buNone/>
            </a:pPr>
            <a:r>
              <a:rPr lang="en-US" sz="950" dirty="0">
                <a:solidFill>
                  <a:srgbClr val="2C2C2C"/>
                </a:solidFill>
                <a:latin typeface="Calibri" pitchFamily="34" charset="0"/>
                <a:ea typeface="Calibri" pitchFamily="34" charset="-122"/>
                <a:cs typeface="Calibri" pitchFamily="34" charset="-120"/>
              </a:rPr>
              <a:t>Total Respondents</a:t>
            </a:r>
            <a:endParaRPr lang="en-US" sz="950" dirty="0">
              <a:solidFill>
                <a:srgbClr val="2C2C2C"/>
              </a:solidFill>
            </a:endParaRPr>
          </a:p>
        </p:txBody>
      </p:sp>
      <p:sp>
        <p:nvSpPr>
          <p:cNvPr id="8" name="Shape 6"/>
          <p:cNvSpPr/>
          <p:nvPr/>
        </p:nvSpPr>
        <p:spPr>
          <a:xfrm>
            <a:off x="2450592" y="1325880"/>
            <a:ext cx="1965960" cy="1188720"/>
          </a:xfrm>
          <a:prstGeom prst="rect">
            <a:avLst/>
          </a:prstGeom>
          <a:solidFill>
            <a:srgbClr val="F7F4EE"/>
          </a:solidFill>
          <a:ln w="15240">
            <a:solidFill>
              <a:srgbClr val="8B0000"/>
            </a:solidFill>
            <a:prstDash val="solid"/>
          </a:ln>
        </p:spPr>
      </p:sp>
      <p:sp>
        <p:nvSpPr>
          <p:cNvPr id="9" name="Text 7"/>
          <p:cNvSpPr/>
          <p:nvPr/>
        </p:nvSpPr>
        <p:spPr>
          <a:xfrm>
            <a:off x="2423160" y="1499616"/>
            <a:ext cx="1965960" cy="658368"/>
          </a:xfrm>
          <a:prstGeom prst="rect">
            <a:avLst/>
          </a:prstGeom>
          <a:noFill/>
          <a:ln/>
        </p:spPr>
        <p:txBody>
          <a:bodyPr wrap="square" lIns="0" tIns="0" rIns="0" bIns="0" rtlCol="0" anchor="ctr"/>
          <a:lstStyle/>
          <a:p>
            <a:pPr marL="0" indent="0" algn="ctr">
              <a:buNone/>
            </a:pPr>
            <a:r>
              <a:rPr lang="en-US" sz="3800" b="1" dirty="0">
                <a:solidFill>
                  <a:srgbClr val="FF0000"/>
                </a:solidFill>
                <a:latin typeface="Trebuchet MS" pitchFamily="34" charset="0"/>
              </a:rPr>
              <a:t>49.7%</a:t>
            </a:r>
            <a:endParaRPr lang="en-US" sz="3800" dirty="0">
              <a:solidFill>
                <a:srgbClr val="FF0000"/>
              </a:solidFill>
            </a:endParaRPr>
          </a:p>
        </p:txBody>
      </p:sp>
      <p:sp>
        <p:nvSpPr>
          <p:cNvPr id="10" name="Text 8"/>
          <p:cNvSpPr/>
          <p:nvPr/>
        </p:nvSpPr>
        <p:spPr>
          <a:xfrm>
            <a:off x="2450592" y="2084832"/>
            <a:ext cx="1965960" cy="320040"/>
          </a:xfrm>
          <a:prstGeom prst="rect">
            <a:avLst/>
          </a:prstGeom>
          <a:noFill/>
          <a:ln/>
        </p:spPr>
        <p:txBody>
          <a:bodyPr wrap="square" lIns="0" tIns="0" rIns="0" bIns="0" rtlCol="0" anchor="ctr"/>
          <a:lstStyle/>
          <a:p>
            <a:pPr marL="0" indent="0" algn="ctr">
              <a:buNone/>
            </a:pPr>
            <a:r>
              <a:rPr lang="en-US" sz="950" dirty="0">
                <a:solidFill>
                  <a:srgbClr val="2C2C2C"/>
                </a:solidFill>
                <a:latin typeface="Calibri" pitchFamily="34" charset="0"/>
                <a:ea typeface="Calibri" pitchFamily="34" charset="-122"/>
                <a:cs typeface="Calibri" pitchFamily="34" charset="-120"/>
              </a:rPr>
              <a:t>Purchasing Power Decline Rate</a:t>
            </a:r>
            <a:endParaRPr lang="en-US" sz="950" dirty="0">
              <a:solidFill>
                <a:srgbClr val="2C2C2C"/>
              </a:solidFill>
            </a:endParaRPr>
          </a:p>
        </p:txBody>
      </p:sp>
      <p:sp>
        <p:nvSpPr>
          <p:cNvPr id="11" name="Shape 9"/>
          <p:cNvSpPr/>
          <p:nvPr/>
        </p:nvSpPr>
        <p:spPr>
          <a:xfrm>
            <a:off x="4553712" y="1325880"/>
            <a:ext cx="1965960" cy="1188720"/>
          </a:xfrm>
          <a:prstGeom prst="rect">
            <a:avLst/>
          </a:prstGeom>
          <a:solidFill>
            <a:srgbClr val="F7F4EE"/>
          </a:solidFill>
          <a:ln w="15240">
            <a:solidFill>
              <a:srgbClr val="8B0000"/>
            </a:solidFill>
            <a:prstDash val="solid"/>
          </a:ln>
        </p:spPr>
      </p:sp>
      <p:sp>
        <p:nvSpPr>
          <p:cNvPr id="12" name="Text 10"/>
          <p:cNvSpPr/>
          <p:nvPr/>
        </p:nvSpPr>
        <p:spPr>
          <a:xfrm>
            <a:off x="4553712" y="1399032"/>
            <a:ext cx="1965960" cy="658368"/>
          </a:xfrm>
          <a:prstGeom prst="rect">
            <a:avLst/>
          </a:prstGeom>
          <a:noFill/>
          <a:ln/>
        </p:spPr>
        <p:txBody>
          <a:bodyPr wrap="square" lIns="0" tIns="0" rIns="0" bIns="0" rtlCol="0" anchor="ctr"/>
          <a:lstStyle/>
          <a:p>
            <a:pPr marL="0" indent="0" algn="ctr">
              <a:buNone/>
            </a:pPr>
            <a:endParaRPr lang="en-US" sz="3800" dirty="0"/>
          </a:p>
        </p:txBody>
      </p:sp>
      <p:sp>
        <p:nvSpPr>
          <p:cNvPr id="13" name="Text 11"/>
          <p:cNvSpPr/>
          <p:nvPr/>
        </p:nvSpPr>
        <p:spPr>
          <a:xfrm>
            <a:off x="4553712" y="2084832"/>
            <a:ext cx="1965960" cy="320040"/>
          </a:xfrm>
          <a:prstGeom prst="rect">
            <a:avLst/>
          </a:prstGeom>
          <a:noFill/>
          <a:ln/>
        </p:spPr>
        <p:txBody>
          <a:bodyPr wrap="square" lIns="0" tIns="0" rIns="0" bIns="0" rtlCol="0" anchor="ctr"/>
          <a:lstStyle/>
          <a:p>
            <a:pPr marL="0" indent="0" algn="ctr">
              <a:buNone/>
            </a:pPr>
            <a:r>
              <a:rPr lang="en-US" sz="950" dirty="0">
                <a:solidFill>
                  <a:srgbClr val="2C2C2C"/>
                </a:solidFill>
                <a:latin typeface="Calibri" pitchFamily="34" charset="0"/>
                <a:ea typeface="Calibri" pitchFamily="34" charset="-122"/>
                <a:cs typeface="Calibri" pitchFamily="34" charset="-120"/>
              </a:rPr>
              <a:t>Work Experience Required</a:t>
            </a:r>
            <a:endParaRPr lang="en-US" sz="950" dirty="0">
              <a:solidFill>
                <a:srgbClr val="2C2C2C"/>
              </a:solidFill>
            </a:endParaRPr>
          </a:p>
        </p:txBody>
      </p:sp>
      <p:sp>
        <p:nvSpPr>
          <p:cNvPr id="14" name="Shape 12"/>
          <p:cNvSpPr/>
          <p:nvPr/>
        </p:nvSpPr>
        <p:spPr>
          <a:xfrm>
            <a:off x="6656832" y="1325880"/>
            <a:ext cx="2148840" cy="1188720"/>
          </a:xfrm>
          <a:prstGeom prst="rect">
            <a:avLst/>
          </a:prstGeom>
          <a:solidFill>
            <a:srgbClr val="F7F4EE"/>
          </a:solidFill>
          <a:ln w="15240">
            <a:solidFill>
              <a:srgbClr val="8B0000"/>
            </a:solidFill>
            <a:prstDash val="solid"/>
          </a:ln>
        </p:spPr>
      </p:sp>
      <p:sp>
        <p:nvSpPr>
          <p:cNvPr id="15" name="Text 13"/>
          <p:cNvSpPr/>
          <p:nvPr/>
        </p:nvSpPr>
        <p:spPr>
          <a:xfrm>
            <a:off x="6656832" y="1399032"/>
            <a:ext cx="2148840" cy="658368"/>
          </a:xfrm>
          <a:prstGeom prst="rect">
            <a:avLst/>
          </a:prstGeom>
          <a:noFill/>
          <a:ln/>
        </p:spPr>
        <p:txBody>
          <a:bodyPr wrap="square" lIns="0" tIns="0" rIns="0" bIns="0" rtlCol="0" anchor="ctr"/>
          <a:lstStyle/>
          <a:p>
            <a:pPr marL="0" indent="0" algn="ctr">
              <a:buNone/>
            </a:pPr>
            <a:r>
              <a:rPr lang="en-US" sz="3800" b="1" dirty="0">
                <a:solidFill>
                  <a:srgbClr val="C1440E"/>
                </a:solidFill>
                <a:latin typeface="Trebuchet MS" pitchFamily="34" charset="0"/>
                <a:ea typeface="Trebuchet MS" pitchFamily="34" charset="-122"/>
                <a:cs typeface="Trebuchet MS" pitchFamily="34" charset="-120"/>
              </a:rPr>
              <a:t>3.8</a:t>
            </a:r>
            <a:endParaRPr lang="en-US" sz="3800" dirty="0"/>
          </a:p>
        </p:txBody>
      </p:sp>
      <p:sp>
        <p:nvSpPr>
          <p:cNvPr id="16" name="Text 14"/>
          <p:cNvSpPr/>
          <p:nvPr/>
        </p:nvSpPr>
        <p:spPr>
          <a:xfrm>
            <a:off x="6656832" y="2084832"/>
            <a:ext cx="2148840" cy="320040"/>
          </a:xfrm>
          <a:prstGeom prst="rect">
            <a:avLst/>
          </a:prstGeom>
          <a:noFill/>
          <a:ln/>
        </p:spPr>
        <p:txBody>
          <a:bodyPr wrap="square" lIns="0" tIns="0" rIns="0" bIns="0" rtlCol="0" anchor="ctr"/>
          <a:lstStyle/>
          <a:p>
            <a:pPr marL="0" indent="0" algn="ctr">
              <a:buNone/>
            </a:pPr>
            <a:r>
              <a:rPr lang="en-US" sz="950" dirty="0">
                <a:solidFill>
                  <a:srgbClr val="2C2C2C"/>
                </a:solidFill>
                <a:latin typeface="Calibri" pitchFamily="34" charset="0"/>
                <a:ea typeface="Calibri" pitchFamily="34" charset="-122"/>
                <a:cs typeface="Calibri" pitchFamily="34" charset="-120"/>
              </a:rPr>
              <a:t>Highest Expenditure Impact Score</a:t>
            </a:r>
            <a:endParaRPr lang="en-US" sz="950" dirty="0">
              <a:solidFill>
                <a:srgbClr val="2C2C2C"/>
              </a:solidFill>
            </a:endParaRPr>
          </a:p>
        </p:txBody>
      </p:sp>
      <p:sp>
        <p:nvSpPr>
          <p:cNvPr id="17" name="Shape 15"/>
          <p:cNvSpPr/>
          <p:nvPr/>
        </p:nvSpPr>
        <p:spPr>
          <a:xfrm>
            <a:off x="347472" y="2679192"/>
            <a:ext cx="4206240" cy="2176272"/>
          </a:xfrm>
          <a:prstGeom prst="rect">
            <a:avLst/>
          </a:prstGeom>
          <a:solidFill>
            <a:srgbClr val="F7F4EE"/>
          </a:solidFill>
          <a:ln w="15240">
            <a:solidFill>
              <a:srgbClr val="8B0000"/>
            </a:solidFill>
            <a:prstDash val="solid"/>
          </a:ln>
        </p:spPr>
      </p:sp>
      <p:sp>
        <p:nvSpPr>
          <p:cNvPr id="18" name="Text 16"/>
          <p:cNvSpPr/>
          <p:nvPr/>
        </p:nvSpPr>
        <p:spPr>
          <a:xfrm>
            <a:off x="502920" y="2798064"/>
            <a:ext cx="3840480" cy="237744"/>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PURCHASING POWER &amp; SAVINGS STATISTICS</a:t>
            </a:r>
            <a:endParaRPr lang="en-US" sz="1100" dirty="0">
              <a:solidFill>
                <a:srgbClr val="8B0000"/>
              </a:solidFill>
            </a:endParaRPr>
          </a:p>
        </p:txBody>
      </p:sp>
      <p:sp>
        <p:nvSpPr>
          <p:cNvPr id="19" name="Text 17"/>
          <p:cNvSpPr/>
          <p:nvPr/>
        </p:nvSpPr>
        <p:spPr>
          <a:xfrm>
            <a:off x="502920" y="3054096"/>
            <a:ext cx="3913632" cy="16916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Purchasing Power Decline Rate: 49.7%</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Stopped Saving or Reduced Savings: 57.28%</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Completely Stopped Saving Rate: 27.10%</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Completely Depleted Savings: 39.32%</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Only 20.16% are genuinely financially stable</a:t>
            </a:r>
            <a:endParaRPr lang="en-US" sz="1100" dirty="0">
              <a:solidFill>
                <a:srgbClr val="2C2C2C"/>
              </a:solidFill>
            </a:endParaRPr>
          </a:p>
        </p:txBody>
      </p:sp>
      <p:sp>
        <p:nvSpPr>
          <p:cNvPr id="20" name="Shape 18"/>
          <p:cNvSpPr/>
          <p:nvPr/>
        </p:nvSpPr>
        <p:spPr>
          <a:xfrm>
            <a:off x="4663440" y="2679192"/>
            <a:ext cx="4133088" cy="2176272"/>
          </a:xfrm>
          <a:prstGeom prst="rect">
            <a:avLst/>
          </a:prstGeom>
          <a:solidFill>
            <a:srgbClr val="F7F4EE"/>
          </a:solidFill>
          <a:ln w="15240">
            <a:solidFill>
              <a:srgbClr val="8B0000"/>
            </a:solidFill>
            <a:prstDash val="solid"/>
          </a:ln>
        </p:spPr>
      </p:sp>
      <p:sp>
        <p:nvSpPr>
          <p:cNvPr id="21" name="Text 19"/>
          <p:cNvSpPr/>
          <p:nvPr/>
        </p:nvSpPr>
        <p:spPr>
          <a:xfrm>
            <a:off x="4828032" y="2798064"/>
            <a:ext cx="3840480" cy="237744"/>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EXPENDITURE CATEGORY AND DEBT STATISTICS</a:t>
            </a:r>
            <a:endParaRPr lang="en-US" sz="1100" dirty="0">
              <a:solidFill>
                <a:srgbClr val="8B0000"/>
              </a:solidFill>
            </a:endParaRPr>
          </a:p>
        </p:txBody>
      </p:sp>
      <p:sp>
        <p:nvSpPr>
          <p:cNvPr id="22" name="Text 20"/>
          <p:cNvSpPr/>
          <p:nvPr/>
        </p:nvSpPr>
        <p:spPr>
          <a:xfrm>
            <a:off x="4828032" y="3054096"/>
            <a:ext cx="3840480" cy="1691640"/>
          </a:xfrm>
          <a:prstGeom prst="rect">
            <a:avLst/>
          </a:prstGeom>
          <a:noFill/>
          <a:ln/>
        </p:spPr>
        <p:txBody>
          <a:bodyPr wrap="square" rtlCol="0" anchor="ctr"/>
          <a:lstStyle/>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Most Affected Category: Food &amp; Groceries (3.8 out of 5)</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Transportation &amp; Fuel Impact Score: 3.4 out of 5</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Healthcare Impact Score: 3.1 out of 5</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Debt Rate: 40.5%</a:t>
            </a:r>
          </a:p>
          <a:p>
            <a:pPr marL="342900" indent="-342900">
              <a:lnSpc>
                <a:spcPct val="115000"/>
              </a:lnSpc>
              <a:spcAft>
                <a:spcPts val="600"/>
              </a:spcAft>
              <a:buSzPct val="100000"/>
              <a:buChar char="•"/>
            </a:pPr>
            <a:r>
              <a:rPr lang="en-US" sz="1100" dirty="0">
                <a:solidFill>
                  <a:srgbClr val="2C2C2C"/>
                </a:solidFill>
                <a:latin typeface="Calibri" pitchFamily="34" charset="0"/>
                <a:ea typeface="Calibri" pitchFamily="34" charset="-122"/>
                <a:cs typeface="Calibri" pitchFamily="34" charset="-120"/>
              </a:rPr>
              <a:t>Spending More Than 70% on Essentials: 70.86%</a:t>
            </a:r>
            <a:endParaRPr lang="en-US" sz="1100" dirty="0">
              <a:solidFill>
                <a:srgbClr val="2C2C2C"/>
              </a:solidFill>
            </a:endParaRPr>
          </a:p>
        </p:txBody>
      </p:sp>
      <p:sp>
        <p:nvSpPr>
          <p:cNvPr id="23" name="Text 21"/>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6</a:t>
            </a:r>
            <a:endParaRPr lang="en-US" sz="900" dirty="0"/>
          </a:p>
        </p:txBody>
      </p:sp>
      <p:sp>
        <p:nvSpPr>
          <p:cNvPr id="25" name="Text 7">
            <a:extLst>
              <a:ext uri="{FF2B5EF4-FFF2-40B4-BE49-F238E27FC236}">
                <a16:creationId xmlns:a16="http://schemas.microsoft.com/office/drawing/2014/main" id="{8A581610-BFC7-F726-D896-B9C5257DF2F1}"/>
              </a:ext>
            </a:extLst>
          </p:cNvPr>
          <p:cNvSpPr/>
          <p:nvPr/>
        </p:nvSpPr>
        <p:spPr>
          <a:xfrm>
            <a:off x="4541520" y="1462336"/>
            <a:ext cx="1965960" cy="658368"/>
          </a:xfrm>
          <a:prstGeom prst="rect">
            <a:avLst/>
          </a:prstGeom>
          <a:noFill/>
          <a:ln>
            <a:noFill/>
          </a:ln>
        </p:spPr>
        <p:txBody>
          <a:bodyPr wrap="square" lIns="0" tIns="0" rIns="0" bIns="0" rtlCol="0" anchor="ctr"/>
          <a:lstStyle/>
          <a:p>
            <a:pPr marL="0" indent="0" algn="ctr">
              <a:buNone/>
            </a:pPr>
            <a:r>
              <a:rPr lang="en-US" sz="3800" b="1" dirty="0">
                <a:solidFill>
                  <a:schemeClr val="accent1"/>
                </a:solidFill>
                <a:latin typeface="Trebuchet MS" pitchFamily="34" charset="0"/>
              </a:rPr>
              <a:t>3+</a:t>
            </a:r>
            <a:endParaRPr lang="en-US" sz="3800" dirty="0">
              <a:solidFill>
                <a:schemeClr val="accent1"/>
              </a:solidFill>
            </a:endParaRPr>
          </a:p>
        </p:txBody>
      </p:sp>
      <p:sp>
        <p:nvSpPr>
          <p:cNvPr id="27" name="Text 14">
            <a:extLst>
              <a:ext uri="{FF2B5EF4-FFF2-40B4-BE49-F238E27FC236}">
                <a16:creationId xmlns:a16="http://schemas.microsoft.com/office/drawing/2014/main" id="{5F7F55EE-628C-1AC1-2333-D4BB93E07F1B}"/>
              </a:ext>
            </a:extLst>
          </p:cNvPr>
          <p:cNvSpPr/>
          <p:nvPr/>
        </p:nvSpPr>
        <p:spPr>
          <a:xfrm>
            <a:off x="7830428" y="1754946"/>
            <a:ext cx="835269" cy="225552"/>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out of 5</a:t>
            </a:r>
            <a:endParaRPr lang="en-US" sz="95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03  FINDINGS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Salary Adequacy and Debt Status</a:t>
            </a:r>
            <a:endParaRPr lang="en-US" sz="2600" dirty="0">
              <a:solidFill>
                <a:srgbClr val="8B0000"/>
              </a:solidFill>
            </a:endParaRPr>
          </a:p>
        </p:txBody>
      </p:sp>
      <p:sp>
        <p:nvSpPr>
          <p:cNvPr id="7" name="Shape 3"/>
          <p:cNvSpPr/>
          <p:nvPr/>
        </p:nvSpPr>
        <p:spPr>
          <a:xfrm>
            <a:off x="347472" y="4005072"/>
            <a:ext cx="8449056" cy="841248"/>
          </a:xfrm>
          <a:prstGeom prst="rect">
            <a:avLst/>
          </a:prstGeom>
          <a:solidFill>
            <a:srgbClr val="F7F4EE"/>
          </a:solidFill>
          <a:ln w="15240">
            <a:solidFill>
              <a:srgbClr val="8B0000"/>
            </a:solidFill>
            <a:prstDash val="solid"/>
          </a:ln>
        </p:spPr>
      </p:sp>
      <p:sp>
        <p:nvSpPr>
          <p:cNvPr id="8" name="Text 4"/>
          <p:cNvSpPr/>
          <p:nvPr/>
        </p:nvSpPr>
        <p:spPr>
          <a:xfrm>
            <a:off x="502920" y="4233672"/>
            <a:ext cx="1463040" cy="274320"/>
          </a:xfrm>
          <a:prstGeom prst="rect">
            <a:avLst/>
          </a:prstGeom>
          <a:noFill/>
          <a:ln/>
        </p:spPr>
        <p:txBody>
          <a:bodyPr wrap="square" lIns="0" tIns="0" rIns="0" bIns="0" rtlCol="0" anchor="ctr"/>
          <a:lstStyle/>
          <a:p>
            <a:pPr marL="0" indent="0">
              <a:buNone/>
            </a:pPr>
            <a:r>
              <a:rPr lang="en-US" sz="1000" b="1" dirty="0">
                <a:solidFill>
                  <a:srgbClr val="8B0000"/>
                </a:solidFill>
                <a:latin typeface="Trebuchet MS" pitchFamily="34" charset="0"/>
                <a:ea typeface="Trebuchet MS" pitchFamily="34" charset="-122"/>
                <a:cs typeface="Trebuchet MS" pitchFamily="34" charset="-120"/>
              </a:rPr>
              <a:t>KEY TREND INSIGHTS:</a:t>
            </a:r>
            <a:endParaRPr lang="en-US" sz="1000" dirty="0">
              <a:solidFill>
                <a:srgbClr val="8B0000"/>
              </a:solidFill>
            </a:endParaRPr>
          </a:p>
        </p:txBody>
      </p:sp>
      <p:sp>
        <p:nvSpPr>
          <p:cNvPr id="9" name="Text 5"/>
          <p:cNvSpPr/>
          <p:nvPr/>
        </p:nvSpPr>
        <p:spPr>
          <a:xfrm>
            <a:off x="2011680" y="4169664"/>
            <a:ext cx="6656832" cy="585215"/>
          </a:xfrm>
          <a:prstGeom prst="rect">
            <a:avLst/>
          </a:prstGeom>
          <a:noFill/>
          <a:ln/>
        </p:spPr>
        <p:txBody>
          <a:bodyPr wrap="square" lIns="0" tIns="0" rIns="0" bIns="0" rtlCol="0" anchor="ctr"/>
          <a:lstStyle/>
          <a:p>
            <a:pPr marL="0" indent="0">
              <a:buNone/>
            </a:pPr>
            <a:r>
              <a:rPr lang="en-US" sz="1050" dirty="0">
                <a:solidFill>
                  <a:srgbClr val="2C2C2C"/>
                </a:solidFill>
                <a:latin typeface="Calibri" pitchFamily="34" charset="0"/>
                <a:ea typeface="Calibri" pitchFamily="34" charset="-122"/>
                <a:cs typeface="Calibri" pitchFamily="34" charset="-120"/>
              </a:rPr>
              <a:t>Salary adequacy has declined for most respondents, with only 18.4% reporting an improvement in their financial situation.59.7% indicated that their salaries no longer adequately meet their financial needs.79.8% relied on borrowing or depleted savings to cope with rising living costs. The findings demonstrate that inflation has significantly weakened household financial resilience.</a:t>
            </a:r>
            <a:endParaRPr lang="en-US" sz="1050" dirty="0">
              <a:solidFill>
                <a:srgbClr val="2C2C2C"/>
              </a:solidFill>
            </a:endParaRPr>
          </a:p>
        </p:txBody>
      </p:sp>
      <p:sp>
        <p:nvSpPr>
          <p:cNvPr id="10" name="Text 6"/>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7</a:t>
            </a:r>
            <a:endParaRPr lang="en-US" sz="900" dirty="0"/>
          </a:p>
        </p:txBody>
      </p:sp>
      <p:pic>
        <p:nvPicPr>
          <p:cNvPr id="12" name="Picture 11">
            <a:extLst>
              <a:ext uri="{FF2B5EF4-FFF2-40B4-BE49-F238E27FC236}">
                <a16:creationId xmlns:a16="http://schemas.microsoft.com/office/drawing/2014/main" id="{C2EB98C5-3F16-9250-E613-D30484C95DCB}"/>
              </a:ext>
            </a:extLst>
          </p:cNvPr>
          <p:cNvPicPr>
            <a:picLocks noChangeAspect="1"/>
          </p:cNvPicPr>
          <p:nvPr/>
        </p:nvPicPr>
        <p:blipFill>
          <a:blip r:embed="rId3"/>
          <a:stretch>
            <a:fillRect/>
          </a:stretch>
        </p:blipFill>
        <p:spPr>
          <a:xfrm>
            <a:off x="122388" y="1051560"/>
            <a:ext cx="4133088" cy="2679193"/>
          </a:xfrm>
          <a:prstGeom prst="rect">
            <a:avLst/>
          </a:prstGeom>
        </p:spPr>
      </p:pic>
      <p:pic>
        <p:nvPicPr>
          <p:cNvPr id="14" name="Picture 13">
            <a:extLst>
              <a:ext uri="{FF2B5EF4-FFF2-40B4-BE49-F238E27FC236}">
                <a16:creationId xmlns:a16="http://schemas.microsoft.com/office/drawing/2014/main" id="{FA8C2D79-B211-BD14-7963-6B6A50BFCF9D}"/>
              </a:ext>
            </a:extLst>
          </p:cNvPr>
          <p:cNvPicPr>
            <a:picLocks noChangeAspect="1"/>
          </p:cNvPicPr>
          <p:nvPr/>
        </p:nvPicPr>
        <p:blipFill>
          <a:blip r:embed="rId4"/>
          <a:stretch>
            <a:fillRect/>
          </a:stretch>
        </p:blipFill>
        <p:spPr>
          <a:xfrm>
            <a:off x="4410924" y="1051560"/>
            <a:ext cx="4610688" cy="26791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03  FINDINGS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Expenditure Category and Coping Strategy</a:t>
            </a:r>
            <a:endParaRPr lang="en-US" sz="2600" dirty="0">
              <a:solidFill>
                <a:srgbClr val="8B0000"/>
              </a:solidFill>
            </a:endParaRPr>
          </a:p>
        </p:txBody>
      </p:sp>
      <p:graphicFrame>
        <p:nvGraphicFramePr>
          <p:cNvPr id="6" name="Chart 1"/>
          <p:cNvGraphicFramePr/>
          <p:nvPr>
            <p:extLst>
              <p:ext uri="{D42A27DB-BD31-4B8C-83A1-F6EECF244321}">
                <p14:modId xmlns:p14="http://schemas.microsoft.com/office/powerpoint/2010/main" val="3363418289"/>
              </p:ext>
            </p:extLst>
          </p:nvPr>
        </p:nvGraphicFramePr>
        <p:xfrm>
          <a:off x="5559552" y="1069848"/>
          <a:ext cx="3218688" cy="1947672"/>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577840" y="3127248"/>
            <a:ext cx="3218688" cy="1691640"/>
          </a:xfrm>
          <a:prstGeom prst="rect">
            <a:avLst/>
          </a:prstGeom>
          <a:solidFill>
            <a:srgbClr val="F7F4EE"/>
          </a:solidFill>
          <a:ln w="15240">
            <a:solidFill>
              <a:srgbClr val="8B0000"/>
            </a:solidFill>
            <a:prstDash val="solid"/>
          </a:ln>
        </p:spPr>
        <p:txBody>
          <a:bodyPr/>
          <a:lstStyle/>
          <a:p>
            <a:endParaRPr lang="en-NG" dirty="0"/>
          </a:p>
        </p:txBody>
      </p:sp>
      <p:sp>
        <p:nvSpPr>
          <p:cNvPr id="8" name="Text 4"/>
          <p:cNvSpPr/>
          <p:nvPr/>
        </p:nvSpPr>
        <p:spPr>
          <a:xfrm>
            <a:off x="5715000" y="3246120"/>
            <a:ext cx="2926080" cy="228600"/>
          </a:xfrm>
          <a:prstGeom prst="rect">
            <a:avLst/>
          </a:prstGeom>
          <a:noFill/>
          <a:ln/>
        </p:spPr>
        <p:txBody>
          <a:bodyPr wrap="square" lIns="0" tIns="0" rIns="0" bIns="0" rtlCol="0" anchor="ctr"/>
          <a:lstStyle/>
          <a:p>
            <a:pPr marL="0" indent="0">
              <a:buNone/>
            </a:pPr>
            <a:r>
              <a:rPr lang="en-US" sz="1000" b="1" dirty="0">
                <a:solidFill>
                  <a:srgbClr val="8B0000"/>
                </a:solidFill>
                <a:latin typeface="Trebuchet MS" pitchFamily="34" charset="0"/>
                <a:ea typeface="Trebuchet MS" pitchFamily="34" charset="-122"/>
                <a:cs typeface="Trebuchet MS" pitchFamily="34" charset="-120"/>
              </a:rPr>
              <a:t>INSIGHTS</a:t>
            </a:r>
            <a:endParaRPr lang="en-US" sz="1000" dirty="0">
              <a:solidFill>
                <a:srgbClr val="8B0000"/>
              </a:solidFill>
            </a:endParaRPr>
          </a:p>
        </p:txBody>
      </p:sp>
      <p:sp>
        <p:nvSpPr>
          <p:cNvPr id="9" name="Text 5"/>
          <p:cNvSpPr/>
          <p:nvPr/>
        </p:nvSpPr>
        <p:spPr>
          <a:xfrm>
            <a:off x="5715000" y="3493008"/>
            <a:ext cx="3035808" cy="1261872"/>
          </a:xfrm>
          <a:prstGeom prst="rect">
            <a:avLst/>
          </a:prstGeom>
          <a:noFill/>
          <a:ln/>
        </p:spPr>
        <p:txBody>
          <a:bodyPr wrap="square" rtlCol="0" anchor="ctr"/>
          <a:lstStyle/>
          <a:p>
            <a:pPr marL="342900" indent="-342900" algn="just">
              <a:lnSpc>
                <a:spcPct val="115000"/>
              </a:lnSpc>
              <a:spcAft>
                <a:spcPts val="600"/>
              </a:spcAft>
              <a:buSzPct val="100000"/>
              <a:buChar char="•"/>
            </a:pPr>
            <a:r>
              <a:rPr lang="en-NG" sz="1000" dirty="0"/>
              <a:t>Food &amp; Groceries recorded the highest inflation impact score (3.80/5), making it the expenditure category most affected by rising prices. </a:t>
            </a:r>
            <a:endParaRPr lang="en-US" sz="1000" dirty="0"/>
          </a:p>
          <a:p>
            <a:pPr marL="342900" indent="-342900" algn="just">
              <a:lnSpc>
                <a:spcPct val="115000"/>
              </a:lnSpc>
              <a:spcAft>
                <a:spcPts val="600"/>
              </a:spcAft>
              <a:buSzPct val="100000"/>
              <a:buChar char="•"/>
            </a:pPr>
            <a:r>
              <a:rPr lang="en-US" sz="1000" dirty="0">
                <a:solidFill>
                  <a:srgbClr val="2C2C2C"/>
                </a:solidFill>
              </a:rPr>
              <a:t>Cutting back on non-essential spending recorded the highest coping strategy (23.2%)</a:t>
            </a:r>
          </a:p>
        </p:txBody>
      </p:sp>
      <p:sp>
        <p:nvSpPr>
          <p:cNvPr id="10" name="Text 6"/>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8</a:t>
            </a:r>
            <a:endParaRPr lang="en-US" sz="900" dirty="0"/>
          </a:p>
        </p:txBody>
      </p:sp>
      <p:pic>
        <p:nvPicPr>
          <p:cNvPr id="12" name="Picture 11">
            <a:extLst>
              <a:ext uri="{FF2B5EF4-FFF2-40B4-BE49-F238E27FC236}">
                <a16:creationId xmlns:a16="http://schemas.microsoft.com/office/drawing/2014/main" id="{AB1F3094-4B58-FA76-E5F7-1DFB40E15567}"/>
              </a:ext>
            </a:extLst>
          </p:cNvPr>
          <p:cNvPicPr>
            <a:picLocks noChangeAspect="1"/>
          </p:cNvPicPr>
          <p:nvPr/>
        </p:nvPicPr>
        <p:blipFill>
          <a:blip r:embed="rId4"/>
          <a:stretch>
            <a:fillRect/>
          </a:stretch>
        </p:blipFill>
        <p:spPr>
          <a:xfrm>
            <a:off x="91439" y="1069848"/>
            <a:ext cx="5330953" cy="37764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03  FINDINGS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Analysis: 10 Queries, Key Discoveries</a:t>
            </a:r>
            <a:endParaRPr lang="en-US" sz="2600" dirty="0">
              <a:solidFill>
                <a:srgbClr val="8B0000"/>
              </a:solidFill>
            </a:endParaRPr>
          </a:p>
        </p:txBody>
      </p:sp>
      <p:sp>
        <p:nvSpPr>
          <p:cNvPr id="5" name="Shape 3"/>
          <p:cNvSpPr/>
          <p:nvPr/>
        </p:nvSpPr>
        <p:spPr>
          <a:xfrm>
            <a:off x="347472" y="1353312"/>
            <a:ext cx="2788920" cy="1115568"/>
          </a:xfrm>
          <a:prstGeom prst="rect">
            <a:avLst/>
          </a:prstGeom>
          <a:solidFill>
            <a:srgbClr val="F7F4EE"/>
          </a:solidFill>
          <a:ln w="15240">
            <a:solidFill>
              <a:srgbClr val="8B0000"/>
            </a:solidFill>
            <a:prstDash val="solid"/>
          </a:ln>
        </p:spPr>
      </p:sp>
      <p:sp>
        <p:nvSpPr>
          <p:cNvPr id="6" name="Shape 4"/>
          <p:cNvSpPr/>
          <p:nvPr/>
        </p:nvSpPr>
        <p:spPr>
          <a:xfrm>
            <a:off x="347472" y="1353312"/>
            <a:ext cx="91440" cy="1115568"/>
          </a:xfrm>
          <a:prstGeom prst="rect">
            <a:avLst/>
          </a:prstGeom>
          <a:solidFill>
            <a:srgbClr val="F57C00"/>
          </a:solidFill>
          <a:ln w="12700">
            <a:solidFill>
              <a:srgbClr val="C1440E"/>
            </a:solidFill>
            <a:prstDash val="solid"/>
          </a:ln>
        </p:spPr>
      </p:sp>
      <p:sp>
        <p:nvSpPr>
          <p:cNvPr id="7" name="Text 5"/>
          <p:cNvSpPr/>
          <p:nvPr/>
        </p:nvSpPr>
        <p:spPr>
          <a:xfrm>
            <a:off x="512064" y="1444752"/>
            <a:ext cx="2542032" cy="237744"/>
          </a:xfrm>
          <a:prstGeom prst="rect">
            <a:avLst/>
          </a:prstGeom>
          <a:noFill/>
          <a:ln/>
        </p:spPr>
        <p:txBody>
          <a:bodyPr wrap="square" lIns="0" tIns="0" rIns="0" bIns="0" rtlCol="0" anchor="ctr"/>
          <a:lstStyle/>
          <a:p>
            <a:pPr marL="0" indent="0">
              <a:buNone/>
            </a:pPr>
            <a:r>
              <a:rPr lang="en-US" sz="1100" b="1" dirty="0">
                <a:solidFill>
                  <a:srgbClr val="F57C00"/>
                </a:solidFill>
                <a:latin typeface="Trebuchet MS" pitchFamily="34" charset="0"/>
                <a:ea typeface="Trebuchet MS" pitchFamily="34" charset="-122"/>
                <a:cs typeface="Trebuchet MS" pitchFamily="34" charset="-120"/>
              </a:rPr>
              <a:t>Most Affected Expenditure Category</a:t>
            </a:r>
            <a:endParaRPr lang="en-US" sz="1100" dirty="0">
              <a:solidFill>
                <a:srgbClr val="F57C00"/>
              </a:solidFill>
            </a:endParaRPr>
          </a:p>
        </p:txBody>
      </p:sp>
      <p:sp>
        <p:nvSpPr>
          <p:cNvPr id="8" name="Text 6"/>
          <p:cNvSpPr/>
          <p:nvPr/>
        </p:nvSpPr>
        <p:spPr>
          <a:xfrm>
            <a:off x="512064" y="1700784"/>
            <a:ext cx="2542032" cy="694944"/>
          </a:xfrm>
          <a:prstGeom prst="rect">
            <a:avLst/>
          </a:prstGeom>
          <a:noFill/>
          <a:ln/>
        </p:spPr>
        <p:txBody>
          <a:bodyPr wrap="square" lIns="0" tIns="0" rIns="0" bIns="0" rtlCol="0" anchor="ctr"/>
          <a:lstStyle/>
          <a:p>
            <a:pPr algn="just"/>
            <a:r>
              <a:rPr lang="en-NG" sz="1000" dirty="0"/>
              <a:t>Food &amp; Groceries recorded the highest inflation impact score (3.80/5), making it the expenditure category most severely affected by inflation.</a:t>
            </a:r>
            <a:endParaRPr lang="en-US" sz="1000" dirty="0">
              <a:solidFill>
                <a:srgbClr val="2C2C2C"/>
              </a:solidFill>
            </a:endParaRPr>
          </a:p>
        </p:txBody>
      </p:sp>
      <p:sp>
        <p:nvSpPr>
          <p:cNvPr id="9" name="Shape 7"/>
          <p:cNvSpPr/>
          <p:nvPr/>
        </p:nvSpPr>
        <p:spPr>
          <a:xfrm>
            <a:off x="3291840" y="1353312"/>
            <a:ext cx="2788920" cy="1115568"/>
          </a:xfrm>
          <a:prstGeom prst="rect">
            <a:avLst/>
          </a:prstGeom>
          <a:solidFill>
            <a:srgbClr val="F7F4EE"/>
          </a:solidFill>
          <a:ln w="15240">
            <a:solidFill>
              <a:srgbClr val="8B0000"/>
            </a:solidFill>
            <a:prstDash val="solid"/>
          </a:ln>
        </p:spPr>
      </p:sp>
      <p:sp>
        <p:nvSpPr>
          <p:cNvPr id="10" name="Shape 8"/>
          <p:cNvSpPr/>
          <p:nvPr/>
        </p:nvSpPr>
        <p:spPr>
          <a:xfrm>
            <a:off x="3291840" y="1353312"/>
            <a:ext cx="91440" cy="1115568"/>
          </a:xfrm>
          <a:prstGeom prst="rect">
            <a:avLst/>
          </a:prstGeom>
          <a:solidFill>
            <a:srgbClr val="C00000"/>
          </a:solidFill>
          <a:ln w="12700">
            <a:solidFill>
              <a:srgbClr val="C1440E"/>
            </a:solidFill>
            <a:prstDash val="solid"/>
          </a:ln>
        </p:spPr>
      </p:sp>
      <p:sp>
        <p:nvSpPr>
          <p:cNvPr id="11" name="Text 9"/>
          <p:cNvSpPr/>
          <p:nvPr/>
        </p:nvSpPr>
        <p:spPr>
          <a:xfrm>
            <a:off x="3456432" y="1444752"/>
            <a:ext cx="2542032" cy="237744"/>
          </a:xfrm>
          <a:prstGeom prst="rect">
            <a:avLst/>
          </a:prstGeom>
          <a:noFill/>
          <a:ln/>
        </p:spPr>
        <p:txBody>
          <a:bodyPr wrap="square" lIns="0" tIns="0" rIns="0" bIns="0" rtlCol="0" anchor="ctr"/>
          <a:lstStyle/>
          <a:p>
            <a:pPr marL="0" indent="0">
              <a:buNone/>
            </a:pPr>
            <a:r>
              <a:rPr lang="en-US" sz="1100" b="1" dirty="0">
                <a:solidFill>
                  <a:srgbClr val="C00000"/>
                </a:solidFill>
                <a:latin typeface="Trebuchet MS" pitchFamily="34" charset="0"/>
                <a:ea typeface="Trebuchet MS" pitchFamily="34" charset="-122"/>
                <a:cs typeface="Trebuchet MS" pitchFamily="34" charset="-120"/>
              </a:rPr>
              <a:t>Stopped or Reduced Savings</a:t>
            </a:r>
            <a:endParaRPr lang="en-US" sz="1100" dirty="0">
              <a:solidFill>
                <a:srgbClr val="C00000"/>
              </a:solidFill>
            </a:endParaRPr>
          </a:p>
        </p:txBody>
      </p:sp>
      <p:sp>
        <p:nvSpPr>
          <p:cNvPr id="12" name="Text 10"/>
          <p:cNvSpPr/>
          <p:nvPr/>
        </p:nvSpPr>
        <p:spPr>
          <a:xfrm>
            <a:off x="3456432" y="1700784"/>
            <a:ext cx="2542032" cy="694944"/>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57.28% of respondents reported reducing or completely stopping their savings due to rising living costs.</a:t>
            </a:r>
            <a:endParaRPr lang="en-US" sz="1000" dirty="0">
              <a:solidFill>
                <a:srgbClr val="2C2C2C"/>
              </a:solidFill>
            </a:endParaRPr>
          </a:p>
        </p:txBody>
      </p:sp>
      <p:sp>
        <p:nvSpPr>
          <p:cNvPr id="13" name="Shape 11"/>
          <p:cNvSpPr/>
          <p:nvPr/>
        </p:nvSpPr>
        <p:spPr>
          <a:xfrm>
            <a:off x="6236208" y="1353312"/>
            <a:ext cx="2788920" cy="1115568"/>
          </a:xfrm>
          <a:prstGeom prst="rect">
            <a:avLst/>
          </a:prstGeom>
          <a:solidFill>
            <a:srgbClr val="F7F4EE"/>
          </a:solidFill>
          <a:ln w="15240">
            <a:solidFill>
              <a:srgbClr val="8B0000"/>
            </a:solidFill>
            <a:prstDash val="solid"/>
          </a:ln>
        </p:spPr>
      </p:sp>
      <p:sp>
        <p:nvSpPr>
          <p:cNvPr id="14" name="Shape 12"/>
          <p:cNvSpPr/>
          <p:nvPr/>
        </p:nvSpPr>
        <p:spPr>
          <a:xfrm>
            <a:off x="6236208" y="1353312"/>
            <a:ext cx="91440" cy="1115568"/>
          </a:xfrm>
          <a:prstGeom prst="rect">
            <a:avLst/>
          </a:prstGeom>
          <a:solidFill>
            <a:srgbClr val="D4A017"/>
          </a:solidFill>
          <a:ln w="12700">
            <a:solidFill>
              <a:srgbClr val="D4A017"/>
            </a:solidFill>
            <a:prstDash val="solid"/>
          </a:ln>
        </p:spPr>
      </p:sp>
      <p:sp>
        <p:nvSpPr>
          <p:cNvPr id="15" name="Text 13"/>
          <p:cNvSpPr/>
          <p:nvPr/>
        </p:nvSpPr>
        <p:spPr>
          <a:xfrm>
            <a:off x="6400800" y="1444752"/>
            <a:ext cx="2542032" cy="237744"/>
          </a:xfrm>
          <a:prstGeom prst="rect">
            <a:avLst/>
          </a:prstGeom>
          <a:noFill/>
          <a:ln/>
        </p:spPr>
        <p:txBody>
          <a:bodyPr wrap="square" lIns="0" tIns="0" rIns="0" bIns="0" rtlCol="0" anchor="ctr"/>
          <a:lstStyle/>
          <a:p>
            <a:pPr marL="0" indent="0">
              <a:buNone/>
            </a:pPr>
            <a:r>
              <a:rPr lang="en-US" sz="1100" b="1" dirty="0">
                <a:solidFill>
                  <a:srgbClr val="D4A017"/>
                </a:solidFill>
                <a:latin typeface="Trebuchet MS" pitchFamily="34" charset="0"/>
                <a:ea typeface="Trebuchet MS" pitchFamily="34" charset="-122"/>
                <a:cs typeface="Trebuchet MS" pitchFamily="34" charset="-120"/>
              </a:rPr>
              <a:t>Depleted Savings</a:t>
            </a:r>
            <a:endParaRPr lang="en-US" sz="1100" dirty="0"/>
          </a:p>
        </p:txBody>
      </p:sp>
      <p:sp>
        <p:nvSpPr>
          <p:cNvPr id="16" name="Text 14"/>
          <p:cNvSpPr/>
          <p:nvPr/>
        </p:nvSpPr>
        <p:spPr>
          <a:xfrm>
            <a:off x="6400800" y="1700784"/>
            <a:ext cx="2542032" cy="694944"/>
          </a:xfrm>
          <a:prstGeom prst="rect">
            <a:avLst/>
          </a:prstGeom>
          <a:noFill/>
          <a:ln/>
        </p:spPr>
        <p:txBody>
          <a:bodyPr wrap="square" lIns="0" tIns="0" rIns="0" bIns="0" rtlCol="0" anchor="ctr"/>
          <a:lstStyle/>
          <a:p>
            <a:pPr algn="just"/>
            <a:r>
              <a:rPr lang="en-NG" sz="1000" dirty="0"/>
              <a:t>39.32% of respondents indicated that their savings had been completely depleted as a result of inflation.</a:t>
            </a:r>
            <a:endParaRPr lang="en-US" sz="1000" dirty="0">
              <a:solidFill>
                <a:srgbClr val="2C2C2C"/>
              </a:solidFill>
            </a:endParaRPr>
          </a:p>
        </p:txBody>
      </p:sp>
      <p:sp>
        <p:nvSpPr>
          <p:cNvPr id="17" name="Shape 15"/>
          <p:cNvSpPr/>
          <p:nvPr/>
        </p:nvSpPr>
        <p:spPr>
          <a:xfrm>
            <a:off x="347472" y="2587752"/>
            <a:ext cx="2788920" cy="1115568"/>
          </a:xfrm>
          <a:prstGeom prst="rect">
            <a:avLst/>
          </a:prstGeom>
          <a:solidFill>
            <a:srgbClr val="F7F4EE"/>
          </a:solidFill>
          <a:ln w="15240">
            <a:solidFill>
              <a:srgbClr val="8B0000"/>
            </a:solidFill>
            <a:prstDash val="solid"/>
          </a:ln>
        </p:spPr>
      </p:sp>
      <p:sp>
        <p:nvSpPr>
          <p:cNvPr id="18" name="Shape 16"/>
          <p:cNvSpPr/>
          <p:nvPr/>
        </p:nvSpPr>
        <p:spPr>
          <a:xfrm>
            <a:off x="347472" y="2587752"/>
            <a:ext cx="91440" cy="1115568"/>
          </a:xfrm>
          <a:prstGeom prst="rect">
            <a:avLst/>
          </a:prstGeom>
          <a:solidFill>
            <a:srgbClr val="4A7C59"/>
          </a:solidFill>
          <a:ln w="12700">
            <a:solidFill>
              <a:srgbClr val="4A7C59"/>
            </a:solidFill>
            <a:prstDash val="solid"/>
          </a:ln>
        </p:spPr>
      </p:sp>
      <p:sp>
        <p:nvSpPr>
          <p:cNvPr id="19" name="Text 17"/>
          <p:cNvSpPr/>
          <p:nvPr/>
        </p:nvSpPr>
        <p:spPr>
          <a:xfrm>
            <a:off x="512064" y="2679192"/>
            <a:ext cx="2542032" cy="237744"/>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Improved Rate among Gender</a:t>
            </a:r>
            <a:endParaRPr lang="en-US" sz="1100" dirty="0"/>
          </a:p>
        </p:txBody>
      </p:sp>
      <p:sp>
        <p:nvSpPr>
          <p:cNvPr id="20" name="Text 18"/>
          <p:cNvSpPr/>
          <p:nvPr/>
        </p:nvSpPr>
        <p:spPr>
          <a:xfrm>
            <a:off x="512064" y="2935224"/>
            <a:ext cx="2542032" cy="694944"/>
          </a:xfrm>
          <a:prstGeom prst="rect">
            <a:avLst/>
          </a:prstGeom>
          <a:noFill/>
          <a:ln/>
        </p:spPr>
        <p:txBody>
          <a:bodyPr wrap="square" lIns="0" tIns="0" rIns="0" bIns="0" rtlCol="0" anchor="ctr"/>
          <a:lstStyle/>
          <a:p>
            <a:pPr algn="just"/>
            <a:r>
              <a:rPr lang="en-NG" sz="1000" dirty="0"/>
              <a:t>18.70% of male respondents reported an improvement in their financial situation, representing the highest improvement rate by gender.</a:t>
            </a:r>
            <a:endParaRPr lang="en-US" sz="1000" dirty="0">
              <a:solidFill>
                <a:srgbClr val="2C2C2C"/>
              </a:solidFill>
            </a:endParaRPr>
          </a:p>
        </p:txBody>
      </p:sp>
      <p:sp>
        <p:nvSpPr>
          <p:cNvPr id="21" name="Shape 19"/>
          <p:cNvSpPr/>
          <p:nvPr/>
        </p:nvSpPr>
        <p:spPr>
          <a:xfrm>
            <a:off x="3291840" y="2587752"/>
            <a:ext cx="2788920" cy="1115568"/>
          </a:xfrm>
          <a:prstGeom prst="rect">
            <a:avLst/>
          </a:prstGeom>
          <a:solidFill>
            <a:srgbClr val="F7F4EE"/>
          </a:solidFill>
          <a:ln w="15240">
            <a:solidFill>
              <a:srgbClr val="8B0000"/>
            </a:solidFill>
            <a:prstDash val="solid"/>
          </a:ln>
        </p:spPr>
      </p:sp>
      <p:sp>
        <p:nvSpPr>
          <p:cNvPr id="22" name="Shape 20"/>
          <p:cNvSpPr/>
          <p:nvPr/>
        </p:nvSpPr>
        <p:spPr>
          <a:xfrm>
            <a:off x="3291840" y="2587752"/>
            <a:ext cx="91440" cy="1115568"/>
          </a:xfrm>
          <a:prstGeom prst="rect">
            <a:avLst/>
          </a:prstGeom>
          <a:solidFill>
            <a:srgbClr val="C1440E"/>
          </a:solidFill>
          <a:ln w="12700">
            <a:solidFill>
              <a:srgbClr val="C1440E"/>
            </a:solidFill>
            <a:prstDash val="solid"/>
          </a:ln>
        </p:spPr>
      </p:sp>
      <p:sp>
        <p:nvSpPr>
          <p:cNvPr id="23" name="Text 21"/>
          <p:cNvSpPr/>
          <p:nvPr/>
        </p:nvSpPr>
        <p:spPr>
          <a:xfrm>
            <a:off x="3456432" y="2679192"/>
            <a:ext cx="2542032" cy="237744"/>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Most Affected among Gender</a:t>
            </a:r>
            <a:endParaRPr lang="en-US" sz="1100" dirty="0"/>
          </a:p>
        </p:txBody>
      </p:sp>
      <p:sp>
        <p:nvSpPr>
          <p:cNvPr id="24" name="Text 22"/>
          <p:cNvSpPr/>
          <p:nvPr/>
        </p:nvSpPr>
        <p:spPr>
          <a:xfrm>
            <a:off x="3456432" y="2935224"/>
            <a:ext cx="2542032" cy="694944"/>
          </a:xfrm>
          <a:prstGeom prst="rect">
            <a:avLst/>
          </a:prstGeom>
          <a:noFill/>
          <a:ln/>
        </p:spPr>
        <p:txBody>
          <a:bodyPr wrap="square" lIns="0" tIns="0" rIns="0" bIns="0" rtlCol="0" anchor="ctr"/>
          <a:lstStyle/>
          <a:p>
            <a:pPr algn="just"/>
            <a:r>
              <a:rPr lang="en-NG" sz="1000" dirty="0"/>
              <a:t>Male respondents recorded the highest purchasing power impact, with 33.59% reporting significant financial pressure.</a:t>
            </a:r>
            <a:endParaRPr lang="en-US" sz="1000" dirty="0">
              <a:solidFill>
                <a:srgbClr val="2C2C2C"/>
              </a:solidFill>
            </a:endParaRPr>
          </a:p>
        </p:txBody>
      </p:sp>
      <p:sp>
        <p:nvSpPr>
          <p:cNvPr id="25" name="Shape 23"/>
          <p:cNvSpPr/>
          <p:nvPr/>
        </p:nvSpPr>
        <p:spPr>
          <a:xfrm>
            <a:off x="6236208" y="2587752"/>
            <a:ext cx="2788920" cy="1115568"/>
          </a:xfrm>
          <a:prstGeom prst="rect">
            <a:avLst/>
          </a:prstGeom>
          <a:solidFill>
            <a:srgbClr val="F7F4EE"/>
          </a:solidFill>
          <a:ln w="15240">
            <a:solidFill>
              <a:srgbClr val="8B0000"/>
            </a:solidFill>
            <a:prstDash val="solid"/>
          </a:ln>
        </p:spPr>
      </p:sp>
      <p:sp>
        <p:nvSpPr>
          <p:cNvPr id="26" name="Shape 24"/>
          <p:cNvSpPr/>
          <p:nvPr/>
        </p:nvSpPr>
        <p:spPr>
          <a:xfrm>
            <a:off x="6236208" y="2587752"/>
            <a:ext cx="91440" cy="1115568"/>
          </a:xfrm>
          <a:prstGeom prst="rect">
            <a:avLst/>
          </a:prstGeom>
          <a:solidFill>
            <a:srgbClr val="FF0000"/>
          </a:solidFill>
          <a:ln w="12700">
            <a:solidFill>
              <a:srgbClr val="2E86AB"/>
            </a:solidFill>
            <a:prstDash val="solid"/>
          </a:ln>
        </p:spPr>
      </p:sp>
      <p:sp>
        <p:nvSpPr>
          <p:cNvPr id="27" name="Text 25"/>
          <p:cNvSpPr/>
          <p:nvPr/>
        </p:nvSpPr>
        <p:spPr>
          <a:xfrm>
            <a:off x="6400800" y="2679192"/>
            <a:ext cx="2542032" cy="237744"/>
          </a:xfrm>
          <a:prstGeom prst="rect">
            <a:avLst/>
          </a:prstGeom>
          <a:noFill/>
          <a:ln/>
        </p:spPr>
        <p:txBody>
          <a:bodyPr wrap="square" lIns="0" tIns="0" rIns="0" bIns="0" rtlCol="0" anchor="ctr"/>
          <a:lstStyle/>
          <a:p>
            <a:pPr marL="0" indent="0">
              <a:buNone/>
            </a:pPr>
            <a:r>
              <a:rPr lang="en-US" sz="1100" b="1" dirty="0">
                <a:solidFill>
                  <a:srgbClr val="FF0000"/>
                </a:solidFill>
                <a:latin typeface="Trebuchet MS" pitchFamily="34" charset="0"/>
                <a:ea typeface="Trebuchet MS" pitchFamily="34" charset="-122"/>
                <a:cs typeface="Trebuchet MS" pitchFamily="34" charset="-120"/>
              </a:rPr>
              <a:t>Most Struggling Rate among Gender</a:t>
            </a:r>
            <a:endParaRPr lang="en-US" sz="1100" dirty="0">
              <a:solidFill>
                <a:srgbClr val="FF0000"/>
              </a:solidFill>
            </a:endParaRPr>
          </a:p>
        </p:txBody>
      </p:sp>
      <p:sp>
        <p:nvSpPr>
          <p:cNvPr id="28" name="Text 26"/>
          <p:cNvSpPr/>
          <p:nvPr/>
        </p:nvSpPr>
        <p:spPr>
          <a:xfrm>
            <a:off x="6400800" y="2935224"/>
            <a:ext cx="2542032" cy="694944"/>
          </a:xfrm>
          <a:prstGeom prst="rect">
            <a:avLst/>
          </a:prstGeom>
          <a:noFill/>
          <a:ln/>
        </p:spPr>
        <p:txBody>
          <a:bodyPr wrap="square" lIns="0" tIns="0" rIns="0" bIns="0" rtlCol="0" anchor="ctr"/>
          <a:lstStyle/>
          <a:p>
            <a:pPr algn="just"/>
            <a:r>
              <a:rPr lang="en-NG" sz="1000" dirty="0"/>
              <a:t>Female respondents recorded the highest financial struggle rate, with 24.29% experiencing severe financial difficulties.</a:t>
            </a:r>
            <a:endParaRPr lang="en-US" sz="1000" dirty="0">
              <a:solidFill>
                <a:srgbClr val="2C2C2C"/>
              </a:solidFill>
            </a:endParaRPr>
          </a:p>
        </p:txBody>
      </p:sp>
      <p:sp>
        <p:nvSpPr>
          <p:cNvPr id="29" name="Shape 27"/>
          <p:cNvSpPr/>
          <p:nvPr/>
        </p:nvSpPr>
        <p:spPr>
          <a:xfrm>
            <a:off x="347472" y="3822192"/>
            <a:ext cx="2788920" cy="1115568"/>
          </a:xfrm>
          <a:prstGeom prst="rect">
            <a:avLst/>
          </a:prstGeom>
          <a:solidFill>
            <a:srgbClr val="F7F4EE"/>
          </a:solidFill>
          <a:ln w="15240">
            <a:solidFill>
              <a:srgbClr val="8B0000"/>
            </a:solidFill>
            <a:prstDash val="solid"/>
          </a:ln>
        </p:spPr>
        <p:txBody>
          <a:bodyPr/>
          <a:lstStyle/>
          <a:p>
            <a:endParaRPr lang="en-NG" dirty="0"/>
          </a:p>
        </p:txBody>
      </p:sp>
      <p:sp>
        <p:nvSpPr>
          <p:cNvPr id="30" name="Shape 28"/>
          <p:cNvSpPr/>
          <p:nvPr/>
        </p:nvSpPr>
        <p:spPr>
          <a:xfrm>
            <a:off x="347472" y="3822192"/>
            <a:ext cx="91440" cy="1115568"/>
          </a:xfrm>
          <a:prstGeom prst="rect">
            <a:avLst/>
          </a:prstGeom>
          <a:solidFill>
            <a:srgbClr val="0070C0"/>
          </a:solidFill>
          <a:ln w="12700">
            <a:solidFill>
              <a:srgbClr val="D4A017"/>
            </a:solidFill>
            <a:prstDash val="solid"/>
          </a:ln>
        </p:spPr>
      </p:sp>
      <p:sp>
        <p:nvSpPr>
          <p:cNvPr id="31" name="Text 29"/>
          <p:cNvSpPr/>
          <p:nvPr/>
        </p:nvSpPr>
        <p:spPr>
          <a:xfrm>
            <a:off x="512064" y="3913632"/>
            <a:ext cx="2542032" cy="237744"/>
          </a:xfrm>
          <a:prstGeom prst="rect">
            <a:avLst/>
          </a:prstGeom>
          <a:noFill/>
          <a:ln/>
        </p:spPr>
        <p:txBody>
          <a:bodyPr wrap="square" lIns="0" tIns="0" rIns="0" bIns="0" rtlCol="0" anchor="ctr"/>
          <a:lstStyle/>
          <a:p>
            <a:pPr marL="0" indent="0">
              <a:buNone/>
            </a:pPr>
            <a:r>
              <a:rPr lang="en-US" sz="1100" b="1" dirty="0">
                <a:solidFill>
                  <a:srgbClr val="0070C0"/>
                </a:solidFill>
                <a:latin typeface="Trebuchet MS" pitchFamily="34" charset="0"/>
                <a:ea typeface="Trebuchet MS" pitchFamily="34" charset="-122"/>
                <a:cs typeface="Trebuchet MS" pitchFamily="34" charset="-120"/>
              </a:rPr>
              <a:t>Most Financially stable income group</a:t>
            </a:r>
            <a:endParaRPr lang="en-US" sz="1100" dirty="0">
              <a:solidFill>
                <a:srgbClr val="0070C0"/>
              </a:solidFill>
            </a:endParaRPr>
          </a:p>
        </p:txBody>
      </p:sp>
      <p:sp>
        <p:nvSpPr>
          <p:cNvPr id="32" name="Text 30"/>
          <p:cNvSpPr/>
          <p:nvPr/>
        </p:nvSpPr>
        <p:spPr>
          <a:xfrm>
            <a:off x="512064" y="4169664"/>
            <a:ext cx="2542032" cy="694944"/>
          </a:xfrm>
          <a:prstGeom prst="rect">
            <a:avLst/>
          </a:prstGeom>
          <a:noFill/>
          <a:ln/>
        </p:spPr>
        <p:txBody>
          <a:bodyPr wrap="square" lIns="0" tIns="0" rIns="0" bIns="0" rtlCol="0" anchor="ctr"/>
          <a:lstStyle/>
          <a:p>
            <a:pPr algn="just"/>
            <a:r>
              <a:rPr lang="en-NG" sz="1000" dirty="0"/>
              <a:t>Respondents earning above ₦500,000 were the most financially stable, with 56.52% reporting better financial resilience.</a:t>
            </a:r>
            <a:endParaRPr lang="en-US" sz="1000" dirty="0">
              <a:solidFill>
                <a:srgbClr val="2C2C2C"/>
              </a:solidFill>
            </a:endParaRPr>
          </a:p>
        </p:txBody>
      </p:sp>
      <p:sp>
        <p:nvSpPr>
          <p:cNvPr id="33" name="Shape 31"/>
          <p:cNvSpPr/>
          <p:nvPr/>
        </p:nvSpPr>
        <p:spPr>
          <a:xfrm>
            <a:off x="3291840" y="3822192"/>
            <a:ext cx="2788920" cy="1115568"/>
          </a:xfrm>
          <a:prstGeom prst="rect">
            <a:avLst/>
          </a:prstGeom>
          <a:solidFill>
            <a:srgbClr val="F7F4EE"/>
          </a:solidFill>
          <a:ln w="15240">
            <a:solidFill>
              <a:srgbClr val="8B0000"/>
            </a:solidFill>
            <a:prstDash val="solid"/>
          </a:ln>
        </p:spPr>
      </p:sp>
      <p:sp>
        <p:nvSpPr>
          <p:cNvPr id="34" name="Shape 32"/>
          <p:cNvSpPr/>
          <p:nvPr/>
        </p:nvSpPr>
        <p:spPr>
          <a:xfrm>
            <a:off x="3291840" y="3822192"/>
            <a:ext cx="91440" cy="1115568"/>
          </a:xfrm>
          <a:prstGeom prst="rect">
            <a:avLst/>
          </a:prstGeom>
          <a:solidFill>
            <a:schemeClr val="accent2">
              <a:lumMod val="50000"/>
            </a:schemeClr>
          </a:solidFill>
          <a:ln w="12700">
            <a:solidFill>
              <a:schemeClr val="accent2">
                <a:lumMod val="50000"/>
              </a:schemeClr>
            </a:solidFill>
            <a:prstDash val="solid"/>
          </a:ln>
        </p:spPr>
      </p:sp>
      <p:sp>
        <p:nvSpPr>
          <p:cNvPr id="35" name="Text 33"/>
          <p:cNvSpPr/>
          <p:nvPr/>
        </p:nvSpPr>
        <p:spPr>
          <a:xfrm>
            <a:off x="3456432" y="3913632"/>
            <a:ext cx="2542032" cy="237744"/>
          </a:xfrm>
          <a:prstGeom prst="rect">
            <a:avLst/>
          </a:prstGeom>
          <a:noFill/>
          <a:ln/>
        </p:spPr>
        <p:txBody>
          <a:bodyPr wrap="square" lIns="0" tIns="0" rIns="0" bIns="0" rtlCol="0" anchor="ctr"/>
          <a:lstStyle/>
          <a:p>
            <a:r>
              <a:rPr lang="en-US" sz="1100" b="1" dirty="0">
                <a:solidFill>
                  <a:schemeClr val="accent2">
                    <a:lumMod val="50000"/>
                  </a:schemeClr>
                </a:solidFill>
                <a:latin typeface="Trebuchet MS" pitchFamily="34" charset="0"/>
                <a:ea typeface="Trebuchet MS" pitchFamily="34" charset="-122"/>
                <a:cs typeface="Trebuchet MS" pitchFamily="34" charset="-120"/>
              </a:rPr>
              <a:t>Dominant Strategy among Low-income Earners</a:t>
            </a:r>
            <a:endParaRPr lang="en-US" sz="1100" dirty="0">
              <a:solidFill>
                <a:schemeClr val="accent2">
                  <a:lumMod val="50000"/>
                </a:schemeClr>
              </a:solidFill>
            </a:endParaRPr>
          </a:p>
        </p:txBody>
      </p:sp>
      <p:sp>
        <p:nvSpPr>
          <p:cNvPr id="36" name="Text 34"/>
          <p:cNvSpPr/>
          <p:nvPr/>
        </p:nvSpPr>
        <p:spPr>
          <a:xfrm>
            <a:off x="3456432" y="4169664"/>
            <a:ext cx="2542032" cy="694944"/>
          </a:xfrm>
          <a:prstGeom prst="rect">
            <a:avLst/>
          </a:prstGeom>
          <a:noFill/>
          <a:ln/>
        </p:spPr>
        <p:txBody>
          <a:bodyPr wrap="square" lIns="0" tIns="0" rIns="0" bIns="0" rtlCol="0" anchor="ctr"/>
          <a:lstStyle/>
          <a:p>
            <a:pPr algn="just"/>
            <a:r>
              <a:rPr lang="en-NG" sz="1000" dirty="0"/>
              <a:t>Borrowing money or taking loans was the dominant coping strategy among respondents earning below ₦50,000, accounting for 49.15%.</a:t>
            </a:r>
            <a:endParaRPr lang="en-US" sz="1000" dirty="0">
              <a:solidFill>
                <a:srgbClr val="2C2C2C"/>
              </a:solidFill>
            </a:endParaRPr>
          </a:p>
        </p:txBody>
      </p:sp>
      <p:sp>
        <p:nvSpPr>
          <p:cNvPr id="37" name="Shape 35"/>
          <p:cNvSpPr/>
          <p:nvPr/>
        </p:nvSpPr>
        <p:spPr>
          <a:xfrm>
            <a:off x="6236208" y="3822192"/>
            <a:ext cx="2788920" cy="1115568"/>
          </a:xfrm>
          <a:prstGeom prst="rect">
            <a:avLst/>
          </a:prstGeom>
          <a:solidFill>
            <a:srgbClr val="F7F4EE"/>
          </a:solidFill>
          <a:ln w="15240">
            <a:solidFill>
              <a:srgbClr val="8B0000"/>
            </a:solidFill>
            <a:prstDash val="solid"/>
          </a:ln>
        </p:spPr>
      </p:sp>
      <p:sp>
        <p:nvSpPr>
          <p:cNvPr id="38" name="Shape 36"/>
          <p:cNvSpPr/>
          <p:nvPr/>
        </p:nvSpPr>
        <p:spPr>
          <a:xfrm>
            <a:off x="6236208" y="3822192"/>
            <a:ext cx="91440" cy="1115568"/>
          </a:xfrm>
          <a:prstGeom prst="rect">
            <a:avLst/>
          </a:prstGeom>
          <a:solidFill>
            <a:srgbClr val="2E86AB"/>
          </a:solidFill>
          <a:ln w="12700">
            <a:solidFill>
              <a:srgbClr val="2E86AB"/>
            </a:solidFill>
            <a:prstDash val="solid"/>
          </a:ln>
        </p:spPr>
      </p:sp>
      <p:sp>
        <p:nvSpPr>
          <p:cNvPr id="39" name="Text 37"/>
          <p:cNvSpPr/>
          <p:nvPr/>
        </p:nvSpPr>
        <p:spPr>
          <a:xfrm>
            <a:off x="6400800" y="3913632"/>
            <a:ext cx="2542032" cy="237744"/>
          </a:xfrm>
          <a:prstGeom prst="rect">
            <a:avLst/>
          </a:prstGeom>
          <a:noFill/>
          <a:ln/>
        </p:spPr>
        <p:txBody>
          <a:bodyPr wrap="square" lIns="0" tIns="0" rIns="0" bIns="0" rtlCol="0" anchor="ctr"/>
          <a:lstStyle/>
          <a:p>
            <a:pPr marL="0" indent="0">
              <a:buNone/>
            </a:pPr>
            <a:r>
              <a:rPr lang="en-US" sz="1100" b="1" dirty="0">
                <a:solidFill>
                  <a:srgbClr val="2E86AB"/>
                </a:solidFill>
                <a:latin typeface="Trebuchet MS" pitchFamily="34" charset="0"/>
                <a:ea typeface="Trebuchet MS" pitchFamily="34" charset="-122"/>
                <a:cs typeface="Trebuchet MS" pitchFamily="34" charset="-120"/>
              </a:rPr>
              <a:t>Dominant Strategy among Highest Earners</a:t>
            </a:r>
            <a:endParaRPr lang="en-US" sz="1100" dirty="0"/>
          </a:p>
        </p:txBody>
      </p:sp>
      <p:sp>
        <p:nvSpPr>
          <p:cNvPr id="40" name="Text 38"/>
          <p:cNvSpPr/>
          <p:nvPr/>
        </p:nvSpPr>
        <p:spPr>
          <a:xfrm>
            <a:off x="6400800" y="4169664"/>
            <a:ext cx="2542032" cy="694944"/>
          </a:xfrm>
          <a:prstGeom prst="rect">
            <a:avLst/>
          </a:prstGeom>
          <a:noFill/>
          <a:ln/>
        </p:spPr>
        <p:txBody>
          <a:bodyPr wrap="square" lIns="0" tIns="0" rIns="0" bIns="0" rtlCol="0" anchor="ctr"/>
          <a:lstStyle/>
          <a:p>
            <a:pPr algn="just"/>
            <a:r>
              <a:rPr lang="en-NG" sz="1000" dirty="0"/>
              <a:t>Joining cooperative savings groups was the dominant coping strategy among respondents earning above ₦500,000, representing 47.83%.</a:t>
            </a:r>
            <a:endParaRPr lang="en-US" sz="1000" dirty="0">
              <a:solidFill>
                <a:srgbClr val="2C2C2C"/>
              </a:solidFill>
            </a:endParaRPr>
          </a:p>
        </p:txBody>
      </p:sp>
      <p:sp>
        <p:nvSpPr>
          <p:cNvPr id="41" name="Text 3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04  PYTHON ANALYSIS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Statistical Analysis: Core Findings</a:t>
            </a:r>
            <a:endParaRPr lang="en-US" sz="2600" dirty="0">
              <a:solidFill>
                <a:srgbClr val="8B0000"/>
              </a:solidFill>
            </a:endParaRPr>
          </a:p>
        </p:txBody>
      </p:sp>
      <p:sp>
        <p:nvSpPr>
          <p:cNvPr id="5" name="Shape 3"/>
          <p:cNvSpPr/>
          <p:nvPr/>
        </p:nvSpPr>
        <p:spPr>
          <a:xfrm>
            <a:off x="347472" y="1325880"/>
            <a:ext cx="2834640" cy="3493008"/>
          </a:xfrm>
          <a:prstGeom prst="rect">
            <a:avLst/>
          </a:prstGeom>
          <a:solidFill>
            <a:srgbClr val="F7F4EE"/>
          </a:solidFill>
          <a:ln w="15240">
            <a:solidFill>
              <a:srgbClr val="8B0000"/>
            </a:solidFill>
            <a:prstDash val="solid"/>
          </a:ln>
        </p:spPr>
      </p:sp>
      <p:sp>
        <p:nvSpPr>
          <p:cNvPr id="6" name="Text 4"/>
          <p:cNvSpPr/>
          <p:nvPr/>
        </p:nvSpPr>
        <p:spPr>
          <a:xfrm>
            <a:off x="502920" y="1463040"/>
            <a:ext cx="2514600" cy="256032"/>
          </a:xfrm>
          <a:prstGeom prst="rect">
            <a:avLst/>
          </a:prstGeom>
          <a:noFill/>
          <a:ln/>
        </p:spPr>
        <p:txBody>
          <a:bodyPr wrap="square" lIns="0" tIns="0" rIns="0" bIns="0" rtlCol="0" anchor="ctr"/>
          <a:lstStyle/>
          <a:p>
            <a:pPr marL="0" indent="0">
              <a:buNone/>
            </a:pPr>
            <a:r>
              <a:rPr lang="en-US" sz="1000" b="1" dirty="0">
                <a:solidFill>
                  <a:srgbClr val="8B0000"/>
                </a:solidFill>
                <a:latin typeface="Trebuchet MS" pitchFamily="34" charset="0"/>
                <a:ea typeface="Trebuchet MS" pitchFamily="34" charset="-122"/>
                <a:cs typeface="Trebuchet MS" pitchFamily="34" charset="-120"/>
              </a:rPr>
              <a:t>PEARSON CORRELATION</a:t>
            </a:r>
            <a:endParaRPr lang="en-US" sz="1000" dirty="0">
              <a:solidFill>
                <a:srgbClr val="8B0000"/>
              </a:solidFill>
            </a:endParaRPr>
          </a:p>
        </p:txBody>
      </p:sp>
      <p:sp>
        <p:nvSpPr>
          <p:cNvPr id="7" name="Text 5"/>
          <p:cNvSpPr/>
          <p:nvPr/>
        </p:nvSpPr>
        <p:spPr>
          <a:xfrm>
            <a:off x="502920" y="1783080"/>
            <a:ext cx="2514600" cy="777240"/>
          </a:xfrm>
          <a:prstGeom prst="rect">
            <a:avLst/>
          </a:prstGeom>
          <a:noFill/>
          <a:ln/>
        </p:spPr>
        <p:txBody>
          <a:bodyPr wrap="square" lIns="0" tIns="0" rIns="0" bIns="0" rtlCol="0" anchor="ctr"/>
          <a:lstStyle/>
          <a:p>
            <a:pPr marL="0" indent="0" algn="ctr">
              <a:buNone/>
            </a:pPr>
            <a:r>
              <a:rPr lang="en-US" sz="3600" b="1" dirty="0">
                <a:solidFill>
                  <a:srgbClr val="8B0000"/>
                </a:solidFill>
                <a:latin typeface="Trebuchet MS" pitchFamily="34" charset="0"/>
                <a:ea typeface="Trebuchet MS" pitchFamily="34" charset="-122"/>
                <a:cs typeface="Trebuchet MS" pitchFamily="34" charset="-120"/>
              </a:rPr>
              <a:t>r = 0.6454</a:t>
            </a:r>
            <a:endParaRPr lang="en-US" sz="3600" dirty="0">
              <a:solidFill>
                <a:srgbClr val="8B0000"/>
              </a:solidFill>
            </a:endParaRPr>
          </a:p>
        </p:txBody>
      </p:sp>
      <p:sp>
        <p:nvSpPr>
          <p:cNvPr id="8" name="Text 6"/>
          <p:cNvSpPr/>
          <p:nvPr/>
        </p:nvSpPr>
        <p:spPr>
          <a:xfrm>
            <a:off x="502920" y="2578608"/>
            <a:ext cx="2514600" cy="256032"/>
          </a:xfrm>
          <a:prstGeom prst="rect">
            <a:avLst/>
          </a:prstGeom>
          <a:noFill/>
          <a:ln/>
        </p:spPr>
        <p:txBody>
          <a:bodyPr wrap="square" lIns="0" tIns="0" rIns="0" bIns="0" rtlCol="0" anchor="ctr"/>
          <a:lstStyle/>
          <a:p>
            <a:pPr marL="0" indent="0" algn="ctr">
              <a:buNone/>
            </a:pPr>
            <a:r>
              <a:rPr lang="en-US" sz="1100" i="1" dirty="0">
                <a:solidFill>
                  <a:srgbClr val="2C2C2C"/>
                </a:solidFill>
                <a:latin typeface="Calibri" pitchFamily="34" charset="0"/>
                <a:ea typeface="Calibri" pitchFamily="34" charset="-122"/>
                <a:cs typeface="Calibri" pitchFamily="34" charset="-120"/>
              </a:rPr>
              <a:t>Salary Adequacy vs Savings </a:t>
            </a:r>
            <a:r>
              <a:rPr lang="en-US" sz="1100" i="1" dirty="0" err="1">
                <a:solidFill>
                  <a:srgbClr val="2C2C2C"/>
                </a:solidFill>
                <a:latin typeface="Calibri" pitchFamily="34" charset="0"/>
                <a:ea typeface="Calibri" pitchFamily="34" charset="-122"/>
                <a:cs typeface="Calibri" pitchFamily="34" charset="-120"/>
              </a:rPr>
              <a:t>Behaviour</a:t>
            </a:r>
            <a:endParaRPr lang="en-US" sz="1100" dirty="0">
              <a:solidFill>
                <a:srgbClr val="2C2C2C"/>
              </a:solidFill>
            </a:endParaRPr>
          </a:p>
        </p:txBody>
      </p:sp>
      <p:sp>
        <p:nvSpPr>
          <p:cNvPr id="9" name="Shape 7"/>
          <p:cNvSpPr/>
          <p:nvPr/>
        </p:nvSpPr>
        <p:spPr>
          <a:xfrm>
            <a:off x="502920" y="2907792"/>
            <a:ext cx="2514600" cy="41148"/>
          </a:xfrm>
          <a:prstGeom prst="rect">
            <a:avLst/>
          </a:prstGeom>
          <a:solidFill>
            <a:srgbClr val="8B0000"/>
          </a:solidFill>
          <a:ln w="12700">
            <a:solidFill>
              <a:srgbClr val="8B0000"/>
            </a:solidFill>
            <a:prstDash val="solid"/>
          </a:ln>
        </p:spPr>
      </p:sp>
      <p:sp>
        <p:nvSpPr>
          <p:cNvPr id="10" name="Text 8"/>
          <p:cNvSpPr/>
          <p:nvPr/>
        </p:nvSpPr>
        <p:spPr>
          <a:xfrm>
            <a:off x="502920" y="2999232"/>
            <a:ext cx="2514600" cy="274320"/>
          </a:xfrm>
          <a:prstGeom prst="rect">
            <a:avLst/>
          </a:prstGeom>
          <a:noFill/>
          <a:ln/>
        </p:spPr>
        <p:txBody>
          <a:bodyPr wrap="square" lIns="0" tIns="0" rIns="0" bIns="0" rtlCol="0" anchor="ctr"/>
          <a:lstStyle/>
          <a:p>
            <a:pPr marL="0" indent="0" algn="ctr">
              <a:buNone/>
            </a:pPr>
            <a:r>
              <a:rPr lang="en-US" sz="1300" b="1" dirty="0">
                <a:solidFill>
                  <a:schemeClr val="accent1"/>
                </a:solidFill>
                <a:latin typeface="Trebuchet MS" pitchFamily="34" charset="0"/>
                <a:ea typeface="Trebuchet MS" pitchFamily="34" charset="-122"/>
                <a:cs typeface="Trebuchet MS" pitchFamily="34" charset="-120"/>
              </a:rPr>
              <a:t>MODERATE POSITIVE</a:t>
            </a:r>
            <a:endParaRPr lang="en-US" sz="1300" dirty="0">
              <a:solidFill>
                <a:schemeClr val="accent1"/>
              </a:solidFill>
            </a:endParaRPr>
          </a:p>
        </p:txBody>
      </p:sp>
      <p:sp>
        <p:nvSpPr>
          <p:cNvPr id="11" name="Text 9"/>
          <p:cNvSpPr/>
          <p:nvPr/>
        </p:nvSpPr>
        <p:spPr>
          <a:xfrm>
            <a:off x="502920" y="3310128"/>
            <a:ext cx="2514600" cy="731520"/>
          </a:xfrm>
          <a:prstGeom prst="rect">
            <a:avLst/>
          </a:prstGeom>
          <a:noFill/>
          <a:ln/>
        </p:spPr>
        <p:txBody>
          <a:bodyPr wrap="square" lIns="0" tIns="0" rIns="0" bIns="0" rtlCol="0" anchor="ctr"/>
          <a:lstStyle/>
          <a:p>
            <a:pPr marL="0" indent="0" algn="ctr">
              <a:buNone/>
            </a:pPr>
            <a:r>
              <a:rPr lang="en-US" sz="1050" dirty="0">
                <a:solidFill>
                  <a:srgbClr val="2C2C2C"/>
                </a:solidFill>
                <a:latin typeface="Calibri" pitchFamily="34" charset="0"/>
                <a:ea typeface="Calibri" pitchFamily="34" charset="-122"/>
                <a:cs typeface="Calibri" pitchFamily="34" charset="-120"/>
              </a:rPr>
              <a:t>p-value = 2.27 × 10⁻⁶⁰</a:t>
            </a:r>
          </a:p>
          <a:p>
            <a:pPr marL="0" indent="0" algn="ctr">
              <a:buNone/>
            </a:pPr>
            <a:r>
              <a:rPr lang="en-US" sz="1050" dirty="0">
                <a:solidFill>
                  <a:srgbClr val="2C2C2C"/>
                </a:solidFill>
                <a:latin typeface="Calibri" pitchFamily="34" charset="0"/>
                <a:ea typeface="Calibri" pitchFamily="34" charset="-122"/>
                <a:cs typeface="Calibri" pitchFamily="34" charset="-120"/>
              </a:rPr>
              <a:t>Statistically Significant: YES</a:t>
            </a:r>
            <a:endParaRPr lang="en-US" sz="1050" dirty="0">
              <a:solidFill>
                <a:srgbClr val="2C2C2C"/>
              </a:solidFill>
            </a:endParaRPr>
          </a:p>
          <a:p>
            <a:pPr marL="0" indent="0" algn="ctr">
              <a:buNone/>
            </a:pPr>
            <a:r>
              <a:rPr lang="en-US" sz="1050" dirty="0">
                <a:solidFill>
                  <a:srgbClr val="2C2C2C"/>
                </a:solidFill>
                <a:latin typeface="Calibri" pitchFamily="34" charset="0"/>
                <a:ea typeface="Calibri" pitchFamily="34" charset="-122"/>
                <a:cs typeface="Calibri" pitchFamily="34" charset="-120"/>
              </a:rPr>
              <a:t>Confidence Level: 95%</a:t>
            </a:r>
            <a:endParaRPr lang="en-US" sz="1050" dirty="0">
              <a:solidFill>
                <a:srgbClr val="2C2C2C"/>
              </a:solidFill>
            </a:endParaRPr>
          </a:p>
        </p:txBody>
      </p:sp>
      <p:sp>
        <p:nvSpPr>
          <p:cNvPr id="12" name="Text 10"/>
          <p:cNvSpPr/>
          <p:nvPr/>
        </p:nvSpPr>
        <p:spPr>
          <a:xfrm>
            <a:off x="502920" y="4133088"/>
            <a:ext cx="2514600" cy="566928"/>
          </a:xfrm>
          <a:prstGeom prst="rect">
            <a:avLst/>
          </a:prstGeom>
          <a:noFill/>
          <a:ln/>
        </p:spPr>
        <p:txBody>
          <a:bodyPr wrap="square" lIns="0" tIns="0" rIns="0" bIns="0" rtlCol="0" anchor="ctr"/>
          <a:lstStyle/>
          <a:p>
            <a:pPr marL="0" indent="0" algn="ctr">
              <a:buNone/>
            </a:pPr>
            <a:r>
              <a:rPr lang="en-US" sz="1000" i="1" dirty="0">
                <a:solidFill>
                  <a:srgbClr val="2C2C2C"/>
                </a:solidFill>
                <a:latin typeface="Calibri" pitchFamily="34" charset="0"/>
                <a:ea typeface="Calibri" pitchFamily="34" charset="-122"/>
                <a:cs typeface="Calibri" pitchFamily="34" charset="-120"/>
              </a:rPr>
              <a:t>Salary earners with better salary adequacy tend to maintain stronger savings </a:t>
            </a:r>
            <a:r>
              <a:rPr lang="en-US" sz="1000" i="1" dirty="0" err="1">
                <a:solidFill>
                  <a:srgbClr val="2C2C2C"/>
                </a:solidFill>
                <a:latin typeface="Calibri" pitchFamily="34" charset="0"/>
                <a:ea typeface="Calibri" pitchFamily="34" charset="-122"/>
                <a:cs typeface="Calibri" pitchFamily="34" charset="-120"/>
              </a:rPr>
              <a:t>behaviour</a:t>
            </a:r>
            <a:endParaRPr lang="en-US" sz="1000" dirty="0">
              <a:solidFill>
                <a:srgbClr val="2C2C2C"/>
              </a:solidFill>
            </a:endParaRPr>
          </a:p>
        </p:txBody>
      </p:sp>
      <p:sp>
        <p:nvSpPr>
          <p:cNvPr id="13" name="Shape 11"/>
          <p:cNvSpPr/>
          <p:nvPr/>
        </p:nvSpPr>
        <p:spPr>
          <a:xfrm>
            <a:off x="3310128" y="1325880"/>
            <a:ext cx="5486400" cy="438912"/>
          </a:xfrm>
          <a:prstGeom prst="rect">
            <a:avLst/>
          </a:prstGeom>
          <a:solidFill>
            <a:srgbClr val="F7F4EE"/>
          </a:solidFill>
          <a:ln w="15240">
            <a:solidFill>
              <a:srgbClr val="8B0000"/>
            </a:solidFill>
            <a:prstDash val="solid"/>
          </a:ln>
        </p:spPr>
      </p:sp>
      <p:sp>
        <p:nvSpPr>
          <p:cNvPr id="14" name="Text 12"/>
          <p:cNvSpPr/>
          <p:nvPr/>
        </p:nvSpPr>
        <p:spPr>
          <a:xfrm>
            <a:off x="3456432" y="1417320"/>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Purchasing Power Decline Rate</a:t>
            </a:r>
            <a:endParaRPr lang="en-US" sz="1050" dirty="0">
              <a:solidFill>
                <a:srgbClr val="1F140D"/>
              </a:solidFill>
            </a:endParaRPr>
          </a:p>
        </p:txBody>
      </p:sp>
      <p:sp>
        <p:nvSpPr>
          <p:cNvPr id="15" name="Text 13"/>
          <p:cNvSpPr/>
          <p:nvPr/>
        </p:nvSpPr>
        <p:spPr>
          <a:xfrm>
            <a:off x="6263640" y="1417320"/>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49.7%</a:t>
            </a:r>
            <a:endParaRPr lang="en-US" sz="1100" dirty="0"/>
          </a:p>
        </p:txBody>
      </p:sp>
      <p:sp>
        <p:nvSpPr>
          <p:cNvPr id="16" name="Shape 14"/>
          <p:cNvSpPr/>
          <p:nvPr/>
        </p:nvSpPr>
        <p:spPr>
          <a:xfrm>
            <a:off x="3310128" y="1837944"/>
            <a:ext cx="5486400" cy="438912"/>
          </a:xfrm>
          <a:prstGeom prst="rect">
            <a:avLst/>
          </a:prstGeom>
          <a:solidFill>
            <a:srgbClr val="F7F4EE"/>
          </a:solidFill>
          <a:ln w="15240">
            <a:solidFill>
              <a:srgbClr val="8B0000"/>
            </a:solidFill>
            <a:prstDash val="solid"/>
          </a:ln>
        </p:spPr>
      </p:sp>
      <p:sp>
        <p:nvSpPr>
          <p:cNvPr id="17" name="Text 15"/>
          <p:cNvSpPr/>
          <p:nvPr/>
        </p:nvSpPr>
        <p:spPr>
          <a:xfrm>
            <a:off x="3456432" y="1929384"/>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Respondents Spending 70%+ on Essentials</a:t>
            </a:r>
            <a:endParaRPr lang="en-US" sz="1050" dirty="0">
              <a:solidFill>
                <a:srgbClr val="1F140D"/>
              </a:solidFill>
            </a:endParaRPr>
          </a:p>
        </p:txBody>
      </p:sp>
      <p:sp>
        <p:nvSpPr>
          <p:cNvPr id="18" name="Text 16"/>
          <p:cNvSpPr/>
          <p:nvPr/>
        </p:nvSpPr>
        <p:spPr>
          <a:xfrm>
            <a:off x="6263640" y="1929384"/>
            <a:ext cx="2395728" cy="256032"/>
          </a:xfrm>
          <a:prstGeom prst="rect">
            <a:avLst/>
          </a:prstGeom>
          <a:noFill/>
          <a:ln/>
        </p:spPr>
        <p:txBody>
          <a:bodyPr wrap="square" lIns="0" tIns="0" rIns="0" bIns="0" rtlCol="0" anchor="ctr"/>
          <a:lstStyle/>
          <a:p>
            <a:pPr marL="0" indent="0" algn="r">
              <a:buNone/>
            </a:pPr>
            <a:r>
              <a:rPr lang="en-US" sz="1100" b="1" dirty="0">
                <a:solidFill>
                  <a:srgbClr val="F57C00"/>
                </a:solidFill>
                <a:latin typeface="Trebuchet MS" pitchFamily="34" charset="0"/>
                <a:ea typeface="Trebuchet MS" pitchFamily="34" charset="-122"/>
                <a:cs typeface="Trebuchet MS" pitchFamily="34" charset="-120"/>
              </a:rPr>
              <a:t>70.86%</a:t>
            </a:r>
            <a:endParaRPr lang="en-US" sz="1100" dirty="0">
              <a:solidFill>
                <a:srgbClr val="F57C00"/>
              </a:solidFill>
            </a:endParaRPr>
          </a:p>
        </p:txBody>
      </p:sp>
      <p:sp>
        <p:nvSpPr>
          <p:cNvPr id="19" name="Shape 17"/>
          <p:cNvSpPr/>
          <p:nvPr/>
        </p:nvSpPr>
        <p:spPr>
          <a:xfrm>
            <a:off x="3310128" y="2350008"/>
            <a:ext cx="5486400" cy="438912"/>
          </a:xfrm>
          <a:prstGeom prst="rect">
            <a:avLst/>
          </a:prstGeom>
          <a:solidFill>
            <a:srgbClr val="F7F4EE"/>
          </a:solidFill>
          <a:ln w="15240">
            <a:solidFill>
              <a:srgbClr val="8B0000"/>
            </a:solidFill>
            <a:prstDash val="solid"/>
          </a:ln>
        </p:spPr>
      </p:sp>
      <p:sp>
        <p:nvSpPr>
          <p:cNvPr id="20" name="Text 18"/>
          <p:cNvSpPr/>
          <p:nvPr/>
        </p:nvSpPr>
        <p:spPr>
          <a:xfrm>
            <a:off x="3456432" y="2441448"/>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Savings Crisis Rate</a:t>
            </a:r>
            <a:endParaRPr lang="en-US" sz="1050" dirty="0">
              <a:solidFill>
                <a:srgbClr val="1F140D"/>
              </a:solidFill>
            </a:endParaRPr>
          </a:p>
        </p:txBody>
      </p:sp>
      <p:sp>
        <p:nvSpPr>
          <p:cNvPr id="21" name="Text 19"/>
          <p:cNvSpPr/>
          <p:nvPr/>
        </p:nvSpPr>
        <p:spPr>
          <a:xfrm>
            <a:off x="6263640" y="2441448"/>
            <a:ext cx="2395728" cy="256032"/>
          </a:xfrm>
          <a:prstGeom prst="rect">
            <a:avLst/>
          </a:prstGeom>
          <a:noFill/>
          <a:ln/>
        </p:spPr>
        <p:txBody>
          <a:bodyPr wrap="square" lIns="0" tIns="0" rIns="0" bIns="0" rtlCol="0" anchor="ctr"/>
          <a:lstStyle/>
          <a:p>
            <a:pPr marL="0" indent="0" algn="r">
              <a:buNone/>
            </a:pPr>
            <a:r>
              <a:rPr lang="en-US" sz="1100" b="1" dirty="0">
                <a:solidFill>
                  <a:srgbClr val="2E7D32"/>
                </a:solidFill>
                <a:latin typeface="Trebuchet MS" pitchFamily="34" charset="0"/>
                <a:ea typeface="Trebuchet MS" pitchFamily="34" charset="-122"/>
                <a:cs typeface="Trebuchet MS" pitchFamily="34" charset="-120"/>
              </a:rPr>
              <a:t>57.28%</a:t>
            </a:r>
            <a:endParaRPr lang="en-US" sz="1100" dirty="0">
              <a:solidFill>
                <a:srgbClr val="2E7D32"/>
              </a:solidFill>
            </a:endParaRPr>
          </a:p>
        </p:txBody>
      </p:sp>
      <p:sp>
        <p:nvSpPr>
          <p:cNvPr id="22" name="Shape 20"/>
          <p:cNvSpPr/>
          <p:nvPr/>
        </p:nvSpPr>
        <p:spPr>
          <a:xfrm>
            <a:off x="3310128" y="2862072"/>
            <a:ext cx="5486400" cy="438912"/>
          </a:xfrm>
          <a:prstGeom prst="rect">
            <a:avLst/>
          </a:prstGeom>
          <a:solidFill>
            <a:srgbClr val="F7F4EE"/>
          </a:solidFill>
          <a:ln w="15240">
            <a:solidFill>
              <a:srgbClr val="8B0000"/>
            </a:solidFill>
            <a:prstDash val="solid"/>
          </a:ln>
        </p:spPr>
      </p:sp>
      <p:sp>
        <p:nvSpPr>
          <p:cNvPr id="23" name="Text 21"/>
          <p:cNvSpPr/>
          <p:nvPr/>
        </p:nvSpPr>
        <p:spPr>
          <a:xfrm>
            <a:off x="3456432" y="2953512"/>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Debt Rate Among Respondents</a:t>
            </a:r>
            <a:endParaRPr lang="en-US" sz="1050" dirty="0">
              <a:solidFill>
                <a:srgbClr val="1F140D"/>
              </a:solidFill>
            </a:endParaRPr>
          </a:p>
        </p:txBody>
      </p:sp>
      <p:sp>
        <p:nvSpPr>
          <p:cNvPr id="24" name="Text 22"/>
          <p:cNvSpPr/>
          <p:nvPr/>
        </p:nvSpPr>
        <p:spPr>
          <a:xfrm>
            <a:off x="6263640" y="2953512"/>
            <a:ext cx="2395728" cy="256032"/>
          </a:xfrm>
          <a:prstGeom prst="rect">
            <a:avLst/>
          </a:prstGeom>
          <a:noFill/>
          <a:ln/>
        </p:spPr>
        <p:txBody>
          <a:bodyPr wrap="square" lIns="0" tIns="0" rIns="0" bIns="0" rtlCol="0" anchor="ctr"/>
          <a:lstStyle/>
          <a:p>
            <a:pPr marL="0" indent="0" algn="r">
              <a:buNone/>
            </a:pPr>
            <a:r>
              <a:rPr lang="en-US" sz="1100" b="1" dirty="0">
                <a:solidFill>
                  <a:srgbClr val="FF0000"/>
                </a:solidFill>
                <a:latin typeface="Trebuchet MS" pitchFamily="34" charset="0"/>
                <a:ea typeface="Trebuchet MS" pitchFamily="34" charset="-122"/>
                <a:cs typeface="Trebuchet MS" pitchFamily="34" charset="-120"/>
              </a:rPr>
              <a:t>40.5%</a:t>
            </a:r>
            <a:endParaRPr lang="en-US" sz="1100" dirty="0">
              <a:solidFill>
                <a:srgbClr val="FF0000"/>
              </a:solidFill>
            </a:endParaRPr>
          </a:p>
        </p:txBody>
      </p:sp>
      <p:sp>
        <p:nvSpPr>
          <p:cNvPr id="25" name="Shape 23"/>
          <p:cNvSpPr/>
          <p:nvPr/>
        </p:nvSpPr>
        <p:spPr>
          <a:xfrm>
            <a:off x="3310128" y="3374136"/>
            <a:ext cx="5486400" cy="438912"/>
          </a:xfrm>
          <a:prstGeom prst="rect">
            <a:avLst/>
          </a:prstGeom>
          <a:solidFill>
            <a:srgbClr val="F7F4EE"/>
          </a:solidFill>
          <a:ln w="15240">
            <a:solidFill>
              <a:srgbClr val="8B0000"/>
            </a:solidFill>
            <a:prstDash val="solid"/>
          </a:ln>
        </p:spPr>
      </p:sp>
      <p:sp>
        <p:nvSpPr>
          <p:cNvPr id="26" name="Text 24"/>
          <p:cNvSpPr/>
          <p:nvPr/>
        </p:nvSpPr>
        <p:spPr>
          <a:xfrm>
            <a:off x="3456432" y="3465576"/>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Most Affected Expenditure Category</a:t>
            </a:r>
            <a:endParaRPr lang="en-US" sz="1050" dirty="0">
              <a:solidFill>
                <a:srgbClr val="1F140D"/>
              </a:solidFill>
            </a:endParaRPr>
          </a:p>
        </p:txBody>
      </p:sp>
      <p:sp>
        <p:nvSpPr>
          <p:cNvPr id="27" name="Text 25"/>
          <p:cNvSpPr/>
          <p:nvPr/>
        </p:nvSpPr>
        <p:spPr>
          <a:xfrm>
            <a:off x="6263640" y="3465576"/>
            <a:ext cx="2395728" cy="256032"/>
          </a:xfrm>
          <a:prstGeom prst="rect">
            <a:avLst/>
          </a:prstGeom>
          <a:noFill/>
          <a:ln/>
        </p:spPr>
        <p:txBody>
          <a:bodyPr wrap="square" lIns="0" tIns="0" rIns="0" bIns="0" rtlCol="0" anchor="ctr"/>
          <a:lstStyle/>
          <a:p>
            <a:pPr marL="0" indent="0" algn="r">
              <a:buNone/>
            </a:pPr>
            <a:r>
              <a:rPr lang="en-US" sz="1100" b="1" dirty="0">
                <a:solidFill>
                  <a:srgbClr val="C1440E"/>
                </a:solidFill>
                <a:latin typeface="Trebuchet MS" pitchFamily="34" charset="0"/>
                <a:ea typeface="Trebuchet MS" pitchFamily="34" charset="-122"/>
                <a:cs typeface="Trebuchet MS" pitchFamily="34" charset="-120"/>
              </a:rPr>
              <a:t>Food &amp; Groceries (3.8/5)</a:t>
            </a:r>
            <a:endParaRPr lang="en-US" sz="1100" dirty="0"/>
          </a:p>
        </p:txBody>
      </p:sp>
      <p:sp>
        <p:nvSpPr>
          <p:cNvPr id="28" name="Shape 26"/>
          <p:cNvSpPr/>
          <p:nvPr/>
        </p:nvSpPr>
        <p:spPr>
          <a:xfrm>
            <a:off x="3310128" y="3886200"/>
            <a:ext cx="5486400" cy="438912"/>
          </a:xfrm>
          <a:prstGeom prst="rect">
            <a:avLst/>
          </a:prstGeom>
          <a:solidFill>
            <a:srgbClr val="F7F4EE"/>
          </a:solidFill>
          <a:ln w="15240">
            <a:solidFill>
              <a:srgbClr val="8B0000"/>
            </a:solidFill>
            <a:prstDash val="solid"/>
          </a:ln>
        </p:spPr>
      </p:sp>
      <p:sp>
        <p:nvSpPr>
          <p:cNvPr id="29" name="Text 27"/>
          <p:cNvSpPr/>
          <p:nvPr/>
        </p:nvSpPr>
        <p:spPr>
          <a:xfrm>
            <a:off x="3456432" y="3977640"/>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Most Financially Distressed Income Group</a:t>
            </a:r>
            <a:endParaRPr lang="en-US" sz="1050" dirty="0">
              <a:solidFill>
                <a:srgbClr val="1F140D"/>
              </a:solidFill>
            </a:endParaRPr>
          </a:p>
        </p:txBody>
      </p:sp>
      <p:sp>
        <p:nvSpPr>
          <p:cNvPr id="30" name="Text 28"/>
          <p:cNvSpPr/>
          <p:nvPr/>
        </p:nvSpPr>
        <p:spPr>
          <a:xfrm>
            <a:off x="6263640" y="3977640"/>
            <a:ext cx="2395728" cy="256032"/>
          </a:xfrm>
          <a:prstGeom prst="rect">
            <a:avLst/>
          </a:prstGeom>
          <a:noFill/>
          <a:ln/>
        </p:spPr>
        <p:txBody>
          <a:bodyPr wrap="square" lIns="0" tIns="0" rIns="0" bIns="0" rtlCol="0" anchor="ctr"/>
          <a:lstStyle/>
          <a:p>
            <a:pPr marL="0" indent="0" algn="r">
              <a:buNone/>
            </a:pPr>
            <a:r>
              <a:rPr lang="en-US" sz="1100" b="1" dirty="0">
                <a:solidFill>
                  <a:srgbClr val="B71C1C"/>
                </a:solidFill>
                <a:latin typeface="Trebuchet MS" pitchFamily="34" charset="0"/>
                <a:ea typeface="Trebuchet MS" pitchFamily="34" charset="-122"/>
                <a:cs typeface="Trebuchet MS" pitchFamily="34" charset="-120"/>
              </a:rPr>
              <a:t>Below ₦50,000 (54.24% struggling)</a:t>
            </a:r>
            <a:endParaRPr lang="en-US" sz="1100" dirty="0">
              <a:solidFill>
                <a:srgbClr val="B71C1C"/>
              </a:solidFill>
            </a:endParaRPr>
          </a:p>
        </p:txBody>
      </p:sp>
      <p:sp>
        <p:nvSpPr>
          <p:cNvPr id="31" name="Shape 29"/>
          <p:cNvSpPr/>
          <p:nvPr/>
        </p:nvSpPr>
        <p:spPr>
          <a:xfrm>
            <a:off x="3310128" y="4398264"/>
            <a:ext cx="5486400" cy="438912"/>
          </a:xfrm>
          <a:prstGeom prst="rect">
            <a:avLst/>
          </a:prstGeom>
          <a:solidFill>
            <a:srgbClr val="F7F4EE"/>
          </a:solidFill>
          <a:ln w="15240">
            <a:solidFill>
              <a:srgbClr val="8B0000"/>
            </a:solidFill>
            <a:prstDash val="solid"/>
          </a:ln>
        </p:spPr>
      </p:sp>
      <p:sp>
        <p:nvSpPr>
          <p:cNvPr id="32" name="Text 30"/>
          <p:cNvSpPr/>
          <p:nvPr/>
        </p:nvSpPr>
        <p:spPr>
          <a:xfrm>
            <a:off x="3456432" y="4489704"/>
            <a:ext cx="2743200" cy="256032"/>
          </a:xfrm>
          <a:prstGeom prst="rect">
            <a:avLst/>
          </a:prstGeom>
          <a:noFill/>
          <a:ln/>
        </p:spPr>
        <p:txBody>
          <a:bodyPr wrap="square" lIns="0" tIns="0" rIns="0" bIns="0" rtlCol="0" anchor="ctr"/>
          <a:lstStyle/>
          <a:p>
            <a:pPr marL="0" indent="0">
              <a:buNone/>
            </a:pPr>
            <a:r>
              <a:rPr lang="en-US" sz="1050" dirty="0">
                <a:solidFill>
                  <a:srgbClr val="1F140D"/>
                </a:solidFill>
                <a:latin typeface="Calibri" pitchFamily="34" charset="0"/>
                <a:ea typeface="Calibri" pitchFamily="34" charset="-122"/>
                <a:cs typeface="Calibri" pitchFamily="34" charset="-120"/>
              </a:rPr>
              <a:t>Most Resilient Income Group</a:t>
            </a:r>
            <a:endParaRPr lang="en-US" sz="1050" dirty="0">
              <a:solidFill>
                <a:srgbClr val="1F140D"/>
              </a:solidFill>
            </a:endParaRPr>
          </a:p>
        </p:txBody>
      </p:sp>
      <p:sp>
        <p:nvSpPr>
          <p:cNvPr id="33" name="Text 31"/>
          <p:cNvSpPr/>
          <p:nvPr/>
        </p:nvSpPr>
        <p:spPr>
          <a:xfrm>
            <a:off x="6263640" y="4489704"/>
            <a:ext cx="2395728" cy="256032"/>
          </a:xfrm>
          <a:prstGeom prst="rect">
            <a:avLst/>
          </a:prstGeom>
          <a:noFill/>
          <a:ln/>
        </p:spPr>
        <p:txBody>
          <a:bodyPr wrap="square" lIns="0" tIns="0" rIns="0" bIns="0" rtlCol="0" anchor="ctr"/>
          <a:lstStyle/>
          <a:p>
            <a:pPr marL="0" indent="0" algn="r">
              <a:buNone/>
            </a:pPr>
            <a:r>
              <a:rPr lang="en-US" sz="1100" b="1" dirty="0">
                <a:solidFill>
                  <a:srgbClr val="2E7D32"/>
                </a:solidFill>
                <a:latin typeface="Trebuchet MS" pitchFamily="34" charset="0"/>
                <a:ea typeface="Trebuchet MS" pitchFamily="34" charset="-122"/>
                <a:cs typeface="Trebuchet MS" pitchFamily="34" charset="-120"/>
              </a:rPr>
              <a:t>Above ₦500,000 (56.52% improved)</a:t>
            </a:r>
            <a:endParaRPr lang="en-US" sz="1100" dirty="0">
              <a:solidFill>
                <a:srgbClr val="2E7D32"/>
              </a:solidFill>
            </a:endParaRPr>
          </a:p>
        </p:txBody>
      </p:sp>
      <p:sp>
        <p:nvSpPr>
          <p:cNvPr id="34" name="Text 32"/>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05  POWER BI DASHBOARD</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Interactive Dashboard</a:t>
            </a:r>
            <a:endParaRPr lang="en-US" sz="2600" dirty="0">
              <a:solidFill>
                <a:srgbClr val="8B0000"/>
              </a:solidFill>
            </a:endParaRPr>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2C2C2C"/>
                </a:solidFill>
                <a:latin typeface="Calibri" pitchFamily="34" charset="0"/>
                <a:ea typeface="Calibri" pitchFamily="34" charset="-122"/>
                <a:cs typeface="Calibri" pitchFamily="34" charset="-120"/>
              </a:rPr>
              <a:t>Built with an Inflation-themed colour palette</a:t>
            </a:r>
            <a:endParaRPr lang="en-US" sz="1200" dirty="0">
              <a:solidFill>
                <a:srgbClr val="2C2C2C"/>
              </a:solidFill>
            </a:endParaRPr>
          </a:p>
        </p:txBody>
      </p:sp>
      <p:sp>
        <p:nvSpPr>
          <p:cNvPr id="6" name="Shape 4"/>
          <p:cNvSpPr/>
          <p:nvPr/>
        </p:nvSpPr>
        <p:spPr>
          <a:xfrm>
            <a:off x="347472" y="1353312"/>
            <a:ext cx="4251960" cy="1115568"/>
          </a:xfrm>
          <a:prstGeom prst="rect">
            <a:avLst/>
          </a:prstGeom>
          <a:solidFill>
            <a:srgbClr val="F7F4EE"/>
          </a:solidFill>
          <a:ln w="15240">
            <a:solidFill>
              <a:srgbClr val="8B0000"/>
            </a:solidFill>
            <a:prstDash val="solid"/>
          </a:ln>
        </p:spPr>
      </p:sp>
      <p:sp>
        <p:nvSpPr>
          <p:cNvPr id="7" name="Shape 5"/>
          <p:cNvSpPr/>
          <p:nvPr/>
        </p:nvSpPr>
        <p:spPr>
          <a:xfrm>
            <a:off x="347472" y="1353312"/>
            <a:ext cx="777240" cy="347472"/>
          </a:xfrm>
          <a:prstGeom prst="rect">
            <a:avLst/>
          </a:prstGeom>
          <a:solidFill>
            <a:srgbClr val="8B0000"/>
          </a:solidFill>
          <a:ln w="12700">
            <a:solidFill>
              <a:srgbClr val="D4A017"/>
            </a:solidFill>
            <a:prstDash val="solid"/>
          </a:ln>
        </p:spPr>
      </p:sp>
      <p:sp>
        <p:nvSpPr>
          <p:cNvPr id="8" name="Text 6"/>
          <p:cNvSpPr/>
          <p:nvPr/>
        </p:nvSpPr>
        <p:spPr>
          <a:xfrm>
            <a:off x="347472" y="1353312"/>
            <a:ext cx="777240" cy="347472"/>
          </a:xfrm>
          <a:prstGeom prst="rect">
            <a:avLst/>
          </a:prstGeom>
          <a:no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1</a:t>
            </a:r>
            <a:endParaRPr lang="en-US" sz="1100" dirty="0">
              <a:solidFill>
                <a:srgbClr val="F7F4EE"/>
              </a:solidFill>
            </a:endParaRPr>
          </a:p>
        </p:txBody>
      </p:sp>
      <p:sp>
        <p:nvSpPr>
          <p:cNvPr id="9" name="Text 7"/>
          <p:cNvSpPr/>
          <p:nvPr/>
        </p:nvSpPr>
        <p:spPr>
          <a:xfrm>
            <a:off x="1261872" y="1417320"/>
            <a:ext cx="3246120" cy="256032"/>
          </a:xfrm>
          <a:prstGeom prst="rect">
            <a:avLst/>
          </a:prstGeom>
          <a:noFill/>
          <a:ln/>
        </p:spPr>
        <p:txBody>
          <a:bodyPr wrap="square" lIns="0" tIns="0" rIns="0" bIns="0" rtlCol="0" anchor="ctr"/>
          <a:lstStyle/>
          <a:p>
            <a:pPr marL="0" indent="0">
              <a:buNone/>
            </a:pPr>
            <a:r>
              <a:rPr lang="en-US" sz="1200" b="1" dirty="0">
                <a:solidFill>
                  <a:srgbClr val="8B0000"/>
                </a:solidFill>
                <a:latin typeface="Trebuchet MS" pitchFamily="34" charset="0"/>
                <a:ea typeface="Trebuchet MS" pitchFamily="34" charset="-122"/>
                <a:cs typeface="Trebuchet MS" pitchFamily="34" charset="-120"/>
              </a:rPr>
              <a:t>Overview</a:t>
            </a:r>
            <a:endParaRPr lang="en-US" sz="1200" dirty="0">
              <a:solidFill>
                <a:srgbClr val="8B0000"/>
              </a:solidFill>
            </a:endParaRPr>
          </a:p>
        </p:txBody>
      </p:sp>
      <p:sp>
        <p:nvSpPr>
          <p:cNvPr id="10" name="Text 8"/>
          <p:cNvSpPr/>
          <p:nvPr/>
        </p:nvSpPr>
        <p:spPr>
          <a:xfrm>
            <a:off x="457200" y="175564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KPI cards, respondent demographics, purchasing power indicators, savings indicators, expenditure distribution, and dashboard summary.</a:t>
            </a:r>
            <a:endParaRPr lang="en-US" sz="950" dirty="0">
              <a:solidFill>
                <a:srgbClr val="2C2C2C"/>
              </a:solidFill>
            </a:endParaRPr>
          </a:p>
        </p:txBody>
      </p:sp>
      <p:sp>
        <p:nvSpPr>
          <p:cNvPr id="11" name="Shape 9"/>
          <p:cNvSpPr/>
          <p:nvPr/>
        </p:nvSpPr>
        <p:spPr>
          <a:xfrm>
            <a:off x="4782312" y="1353312"/>
            <a:ext cx="4251960" cy="1115568"/>
          </a:xfrm>
          <a:prstGeom prst="rect">
            <a:avLst/>
          </a:prstGeom>
          <a:solidFill>
            <a:srgbClr val="F7F4EE"/>
          </a:solidFill>
          <a:ln w="15240">
            <a:solidFill>
              <a:srgbClr val="8B0000"/>
            </a:solidFill>
            <a:prstDash val="solid"/>
          </a:ln>
        </p:spPr>
      </p:sp>
      <p:sp>
        <p:nvSpPr>
          <p:cNvPr id="12" name="Shape 10"/>
          <p:cNvSpPr/>
          <p:nvPr/>
        </p:nvSpPr>
        <p:spPr>
          <a:xfrm>
            <a:off x="4782312" y="1353312"/>
            <a:ext cx="777240" cy="347472"/>
          </a:xfrm>
          <a:prstGeom prst="rect">
            <a:avLst/>
          </a:prstGeom>
          <a:solidFill>
            <a:srgbClr val="B71C1C"/>
          </a:solidFill>
          <a:ln w="12700">
            <a:solidFill>
              <a:srgbClr val="4A7C59"/>
            </a:solidFill>
            <a:prstDash val="solid"/>
          </a:ln>
        </p:spPr>
      </p:sp>
      <p:sp>
        <p:nvSpPr>
          <p:cNvPr id="13" name="Text 11"/>
          <p:cNvSpPr/>
          <p:nvPr/>
        </p:nvSpPr>
        <p:spPr>
          <a:xfrm>
            <a:off x="4782312" y="1353312"/>
            <a:ext cx="777240" cy="347472"/>
          </a:xfrm>
          <a:prstGeom prst="rect">
            <a:avLst/>
          </a:prstGeom>
          <a:no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2</a:t>
            </a:r>
            <a:endParaRPr lang="en-US" sz="1100" dirty="0">
              <a:solidFill>
                <a:srgbClr val="F7F4EE"/>
              </a:solidFill>
            </a:endParaRPr>
          </a:p>
        </p:txBody>
      </p:sp>
      <p:sp>
        <p:nvSpPr>
          <p:cNvPr id="14" name="Text 12"/>
          <p:cNvSpPr/>
          <p:nvPr/>
        </p:nvSpPr>
        <p:spPr>
          <a:xfrm>
            <a:off x="5696712" y="1417320"/>
            <a:ext cx="3246120" cy="256032"/>
          </a:xfrm>
          <a:prstGeom prst="rect">
            <a:avLst/>
          </a:prstGeom>
          <a:noFill/>
          <a:ln/>
        </p:spPr>
        <p:txBody>
          <a:bodyPr wrap="square" lIns="0" tIns="0" rIns="0" bIns="0" rtlCol="0" anchor="ctr"/>
          <a:lstStyle/>
          <a:p>
            <a:pPr marL="0" indent="0">
              <a:buNone/>
            </a:pPr>
            <a:r>
              <a:rPr lang="en-US" sz="1200" b="1" dirty="0">
                <a:solidFill>
                  <a:srgbClr val="B71C1C"/>
                </a:solidFill>
                <a:latin typeface="Trebuchet MS" pitchFamily="34" charset="0"/>
                <a:ea typeface="Trebuchet MS" pitchFamily="34" charset="-122"/>
                <a:cs typeface="Trebuchet MS" pitchFamily="34" charset="-120"/>
              </a:rPr>
              <a:t>Purchasing Power Analysis</a:t>
            </a:r>
            <a:endParaRPr lang="en-US" sz="1200" dirty="0">
              <a:solidFill>
                <a:srgbClr val="B71C1C"/>
              </a:solidFill>
            </a:endParaRPr>
          </a:p>
        </p:txBody>
      </p:sp>
      <p:sp>
        <p:nvSpPr>
          <p:cNvPr id="15" name="Text 13"/>
          <p:cNvSpPr/>
          <p:nvPr/>
        </p:nvSpPr>
        <p:spPr>
          <a:xfrm>
            <a:off x="4892040" y="175564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Salary adequacy, purchasing power decline, income expenditure, debt rate, financial pressure, and key purchasing power insights.</a:t>
            </a:r>
            <a:endParaRPr lang="en-US" sz="950" dirty="0">
              <a:solidFill>
                <a:srgbClr val="2C2C2C"/>
              </a:solidFill>
            </a:endParaRPr>
          </a:p>
        </p:txBody>
      </p:sp>
      <p:sp>
        <p:nvSpPr>
          <p:cNvPr id="16" name="Shape 14"/>
          <p:cNvSpPr/>
          <p:nvPr/>
        </p:nvSpPr>
        <p:spPr>
          <a:xfrm>
            <a:off x="347472" y="2587752"/>
            <a:ext cx="4251960" cy="1115568"/>
          </a:xfrm>
          <a:prstGeom prst="rect">
            <a:avLst/>
          </a:prstGeom>
          <a:solidFill>
            <a:srgbClr val="F7F4EE"/>
          </a:solidFill>
          <a:ln w="15240">
            <a:solidFill>
              <a:srgbClr val="8B0000"/>
            </a:solidFill>
            <a:prstDash val="solid"/>
          </a:ln>
        </p:spPr>
      </p:sp>
      <p:sp>
        <p:nvSpPr>
          <p:cNvPr id="17" name="Shape 15"/>
          <p:cNvSpPr/>
          <p:nvPr/>
        </p:nvSpPr>
        <p:spPr>
          <a:xfrm>
            <a:off x="347472" y="2587752"/>
            <a:ext cx="777240" cy="347472"/>
          </a:xfrm>
          <a:prstGeom prst="rect">
            <a:avLst/>
          </a:prstGeom>
          <a:solidFill>
            <a:srgbClr val="F57C00"/>
          </a:solidFill>
          <a:ln w="12700">
            <a:solidFill>
              <a:srgbClr val="2E86AB"/>
            </a:solidFill>
            <a:prstDash val="solid"/>
          </a:ln>
        </p:spPr>
      </p:sp>
      <p:sp>
        <p:nvSpPr>
          <p:cNvPr id="18" name="Text 16"/>
          <p:cNvSpPr/>
          <p:nvPr/>
        </p:nvSpPr>
        <p:spPr>
          <a:xfrm>
            <a:off x="347472" y="2587752"/>
            <a:ext cx="777240" cy="347472"/>
          </a:xfrm>
          <a:prstGeom prst="rect">
            <a:avLst/>
          </a:prstGeom>
          <a:no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3</a:t>
            </a:r>
            <a:endParaRPr lang="en-US" sz="1100" dirty="0">
              <a:solidFill>
                <a:srgbClr val="F7F4EE"/>
              </a:solidFill>
            </a:endParaRPr>
          </a:p>
        </p:txBody>
      </p:sp>
      <p:sp>
        <p:nvSpPr>
          <p:cNvPr id="19" name="Text 17"/>
          <p:cNvSpPr/>
          <p:nvPr/>
        </p:nvSpPr>
        <p:spPr>
          <a:xfrm>
            <a:off x="1261872" y="2651760"/>
            <a:ext cx="3246120" cy="256032"/>
          </a:xfrm>
          <a:prstGeom prst="rect">
            <a:avLst/>
          </a:prstGeom>
          <a:noFill/>
          <a:ln/>
        </p:spPr>
        <p:txBody>
          <a:bodyPr wrap="square" lIns="0" tIns="0" rIns="0" bIns="0" rtlCol="0" anchor="ctr"/>
          <a:lstStyle/>
          <a:p>
            <a:pPr marL="0" indent="0">
              <a:buNone/>
            </a:pPr>
            <a:r>
              <a:rPr lang="en-US" sz="1200" b="1" dirty="0">
                <a:solidFill>
                  <a:srgbClr val="F57C00"/>
                </a:solidFill>
                <a:latin typeface="Trebuchet MS" pitchFamily="34" charset="0"/>
                <a:ea typeface="Trebuchet MS" pitchFamily="34" charset="-122"/>
                <a:cs typeface="Trebuchet MS" pitchFamily="34" charset="-120"/>
              </a:rPr>
              <a:t>Expenditure Impact Analysis</a:t>
            </a:r>
            <a:endParaRPr lang="en-US" sz="1200" dirty="0">
              <a:solidFill>
                <a:srgbClr val="F57C00"/>
              </a:solidFill>
            </a:endParaRPr>
          </a:p>
        </p:txBody>
      </p:sp>
      <p:sp>
        <p:nvSpPr>
          <p:cNvPr id="20" name="Text 18"/>
          <p:cNvSpPr/>
          <p:nvPr/>
        </p:nvSpPr>
        <p:spPr>
          <a:xfrm>
            <a:off x="457200" y="299008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Impact scores for food, transportation, healthcare, expenditure categories, income group analysis, and employment sector comparison.</a:t>
            </a:r>
            <a:endParaRPr lang="en-US" sz="950" dirty="0">
              <a:solidFill>
                <a:srgbClr val="2C2C2C"/>
              </a:solidFill>
            </a:endParaRPr>
          </a:p>
        </p:txBody>
      </p:sp>
      <p:sp>
        <p:nvSpPr>
          <p:cNvPr id="21" name="Shape 19"/>
          <p:cNvSpPr/>
          <p:nvPr/>
        </p:nvSpPr>
        <p:spPr>
          <a:xfrm>
            <a:off x="4782312" y="2587752"/>
            <a:ext cx="4251960" cy="1115568"/>
          </a:xfrm>
          <a:prstGeom prst="rect">
            <a:avLst/>
          </a:prstGeom>
          <a:solidFill>
            <a:srgbClr val="F7F4EE"/>
          </a:solidFill>
          <a:ln w="15240">
            <a:solidFill>
              <a:srgbClr val="8B0000"/>
            </a:solidFill>
            <a:prstDash val="solid"/>
          </a:ln>
        </p:spPr>
      </p:sp>
      <p:sp>
        <p:nvSpPr>
          <p:cNvPr id="22" name="Shape 20"/>
          <p:cNvSpPr/>
          <p:nvPr/>
        </p:nvSpPr>
        <p:spPr>
          <a:xfrm>
            <a:off x="4782312" y="2587752"/>
            <a:ext cx="777240" cy="347472"/>
          </a:xfrm>
          <a:prstGeom prst="rect">
            <a:avLst/>
          </a:prstGeom>
          <a:solidFill>
            <a:srgbClr val="2E7D32"/>
          </a:solidFill>
          <a:ln w="12700">
            <a:solidFill>
              <a:srgbClr val="D4A017"/>
            </a:solidFill>
            <a:prstDash val="solid"/>
          </a:ln>
        </p:spPr>
      </p:sp>
      <p:sp>
        <p:nvSpPr>
          <p:cNvPr id="23" name="Text 21"/>
          <p:cNvSpPr/>
          <p:nvPr/>
        </p:nvSpPr>
        <p:spPr>
          <a:xfrm>
            <a:off x="4782312" y="2587752"/>
            <a:ext cx="777240" cy="347472"/>
          </a:xfrm>
          <a:prstGeom prst="rect">
            <a:avLst/>
          </a:prstGeom>
          <a:no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4</a:t>
            </a:r>
            <a:endParaRPr lang="en-US" sz="1100" dirty="0">
              <a:solidFill>
                <a:srgbClr val="F7F4EE"/>
              </a:solidFill>
            </a:endParaRPr>
          </a:p>
        </p:txBody>
      </p:sp>
      <p:sp>
        <p:nvSpPr>
          <p:cNvPr id="24" name="Text 22"/>
          <p:cNvSpPr/>
          <p:nvPr/>
        </p:nvSpPr>
        <p:spPr>
          <a:xfrm>
            <a:off x="5696712" y="2651760"/>
            <a:ext cx="3246120" cy="256032"/>
          </a:xfrm>
          <a:prstGeom prst="rect">
            <a:avLst/>
          </a:prstGeom>
          <a:noFill/>
          <a:ln/>
        </p:spPr>
        <p:txBody>
          <a:bodyPr wrap="square" lIns="0" tIns="0" rIns="0" bIns="0" rtlCol="0" anchor="ctr"/>
          <a:lstStyle/>
          <a:p>
            <a:pPr marL="0" indent="0">
              <a:buNone/>
            </a:pPr>
            <a:r>
              <a:rPr lang="en-US" sz="1200" b="1" dirty="0">
                <a:solidFill>
                  <a:srgbClr val="2E7D32"/>
                </a:solidFill>
                <a:latin typeface="Trebuchet MS" pitchFamily="34" charset="0"/>
                <a:ea typeface="Trebuchet MS" pitchFamily="34" charset="-122"/>
                <a:cs typeface="Trebuchet MS" pitchFamily="34" charset="-120"/>
              </a:rPr>
              <a:t>Savings </a:t>
            </a:r>
            <a:r>
              <a:rPr lang="en-US" sz="1200" b="1" dirty="0" err="1">
                <a:solidFill>
                  <a:srgbClr val="2E7D32"/>
                </a:solidFill>
                <a:latin typeface="Trebuchet MS" pitchFamily="34" charset="0"/>
                <a:ea typeface="Trebuchet MS" pitchFamily="34" charset="-122"/>
                <a:cs typeface="Trebuchet MS" pitchFamily="34" charset="-120"/>
              </a:rPr>
              <a:t>Behaviour</a:t>
            </a:r>
            <a:r>
              <a:rPr lang="en-US" sz="1200" b="1" dirty="0">
                <a:solidFill>
                  <a:srgbClr val="2E7D32"/>
                </a:solidFill>
                <a:latin typeface="Trebuchet MS" pitchFamily="34" charset="0"/>
                <a:ea typeface="Trebuchet MS" pitchFamily="34" charset="-122"/>
                <a:cs typeface="Trebuchet MS" pitchFamily="34" charset="-120"/>
              </a:rPr>
              <a:t> Analysis</a:t>
            </a:r>
            <a:endParaRPr lang="en-US" sz="1200" dirty="0">
              <a:solidFill>
                <a:srgbClr val="2E7D32"/>
              </a:solidFill>
            </a:endParaRPr>
          </a:p>
        </p:txBody>
      </p:sp>
      <p:sp>
        <p:nvSpPr>
          <p:cNvPr id="25" name="Text 23"/>
          <p:cNvSpPr/>
          <p:nvPr/>
        </p:nvSpPr>
        <p:spPr>
          <a:xfrm>
            <a:off x="4892040" y="299008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Savings capacity, financial planning </a:t>
            </a:r>
            <a:r>
              <a:rPr lang="en-US" sz="950" dirty="0" err="1">
                <a:solidFill>
                  <a:srgbClr val="2C2C2C"/>
                </a:solidFill>
                <a:latin typeface="Calibri" pitchFamily="34" charset="0"/>
                <a:ea typeface="Calibri" pitchFamily="34" charset="-122"/>
                <a:cs typeface="Calibri" pitchFamily="34" charset="-120"/>
              </a:rPr>
              <a:t>behaviour</a:t>
            </a:r>
            <a:r>
              <a:rPr lang="en-US" sz="950" dirty="0">
                <a:solidFill>
                  <a:srgbClr val="2C2C2C"/>
                </a:solidFill>
                <a:latin typeface="Calibri" pitchFamily="34" charset="0"/>
                <a:ea typeface="Calibri" pitchFamily="34" charset="-122"/>
                <a:cs typeface="Calibri" pitchFamily="34" charset="-120"/>
              </a:rPr>
              <a:t>, emergency savings, inflation impact on savings, and long-term financial resilience.</a:t>
            </a:r>
            <a:endParaRPr lang="en-US" sz="950" dirty="0">
              <a:solidFill>
                <a:srgbClr val="2C2C2C"/>
              </a:solidFill>
            </a:endParaRPr>
          </a:p>
        </p:txBody>
      </p:sp>
      <p:sp>
        <p:nvSpPr>
          <p:cNvPr id="26" name="Shape 24"/>
          <p:cNvSpPr/>
          <p:nvPr/>
        </p:nvSpPr>
        <p:spPr>
          <a:xfrm>
            <a:off x="347472" y="3822192"/>
            <a:ext cx="4251960" cy="1115568"/>
          </a:xfrm>
          <a:prstGeom prst="rect">
            <a:avLst/>
          </a:prstGeom>
          <a:solidFill>
            <a:srgbClr val="F7F4EE"/>
          </a:solidFill>
          <a:ln w="15240">
            <a:solidFill>
              <a:srgbClr val="8B0000"/>
            </a:solidFill>
            <a:prstDash val="solid"/>
          </a:ln>
        </p:spPr>
      </p:sp>
      <p:sp>
        <p:nvSpPr>
          <p:cNvPr id="27" name="Shape 25"/>
          <p:cNvSpPr/>
          <p:nvPr/>
        </p:nvSpPr>
        <p:spPr>
          <a:xfrm>
            <a:off x="347472" y="3822192"/>
            <a:ext cx="777240" cy="347472"/>
          </a:xfrm>
          <a:prstGeom prst="rect">
            <a:avLst/>
          </a:prstGeom>
          <a:solidFill>
            <a:srgbClr val="6A1B9A"/>
          </a:solidFill>
          <a:ln w="12700">
            <a:solidFill>
              <a:srgbClr val="C1440E"/>
            </a:solidFill>
            <a:prstDash val="solid"/>
          </a:ln>
        </p:spPr>
      </p:sp>
      <p:sp>
        <p:nvSpPr>
          <p:cNvPr id="28" name="Text 26"/>
          <p:cNvSpPr/>
          <p:nvPr/>
        </p:nvSpPr>
        <p:spPr>
          <a:xfrm>
            <a:off x="347472" y="3822192"/>
            <a:ext cx="777240" cy="347472"/>
          </a:xfrm>
          <a:prstGeom prst="rect">
            <a:avLst/>
          </a:prstGeom>
          <a:no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5</a:t>
            </a:r>
            <a:endParaRPr lang="en-US" sz="1100" dirty="0">
              <a:solidFill>
                <a:srgbClr val="F7F4EE"/>
              </a:solidFill>
            </a:endParaRPr>
          </a:p>
        </p:txBody>
      </p:sp>
      <p:sp>
        <p:nvSpPr>
          <p:cNvPr id="29" name="Text 27"/>
          <p:cNvSpPr/>
          <p:nvPr/>
        </p:nvSpPr>
        <p:spPr>
          <a:xfrm>
            <a:off x="1261872" y="3886200"/>
            <a:ext cx="3246120" cy="256032"/>
          </a:xfrm>
          <a:prstGeom prst="rect">
            <a:avLst/>
          </a:prstGeom>
          <a:noFill/>
          <a:ln/>
        </p:spPr>
        <p:txBody>
          <a:bodyPr wrap="square" lIns="0" tIns="0" rIns="0" bIns="0" rtlCol="0" anchor="ctr"/>
          <a:lstStyle/>
          <a:p>
            <a:pPr marL="0" indent="0">
              <a:buNone/>
            </a:pPr>
            <a:r>
              <a:rPr lang="en-US" sz="1200" b="1" dirty="0">
                <a:solidFill>
                  <a:srgbClr val="6A1B9A"/>
                </a:solidFill>
                <a:latin typeface="Trebuchet MS" pitchFamily="34" charset="0"/>
                <a:ea typeface="Trebuchet MS" pitchFamily="34" charset="-122"/>
                <a:cs typeface="Trebuchet MS" pitchFamily="34" charset="-120"/>
              </a:rPr>
              <a:t>Demographic Impact Analysis</a:t>
            </a:r>
            <a:endParaRPr lang="en-US" sz="1200" dirty="0">
              <a:solidFill>
                <a:srgbClr val="6A1B9A"/>
              </a:solidFill>
            </a:endParaRPr>
          </a:p>
        </p:txBody>
      </p:sp>
      <p:sp>
        <p:nvSpPr>
          <p:cNvPr id="30" name="Text 28"/>
          <p:cNvSpPr/>
          <p:nvPr/>
        </p:nvSpPr>
        <p:spPr>
          <a:xfrm>
            <a:off x="457200" y="422452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Gender, income level, age group, and employment sector comparisons highlighting differences in purchasing power and savings </a:t>
            </a:r>
            <a:r>
              <a:rPr lang="en-US" sz="950" dirty="0" err="1">
                <a:solidFill>
                  <a:srgbClr val="2C2C2C"/>
                </a:solidFill>
                <a:latin typeface="Calibri" pitchFamily="34" charset="0"/>
                <a:ea typeface="Calibri" pitchFamily="34" charset="-122"/>
                <a:cs typeface="Calibri" pitchFamily="34" charset="-120"/>
              </a:rPr>
              <a:t>behaviour</a:t>
            </a:r>
            <a:r>
              <a:rPr lang="en-US" sz="950" dirty="0">
                <a:solidFill>
                  <a:srgbClr val="2C2C2C"/>
                </a:solidFill>
                <a:latin typeface="Calibri" pitchFamily="34" charset="0"/>
                <a:ea typeface="Calibri" pitchFamily="34" charset="-122"/>
                <a:cs typeface="Calibri" pitchFamily="34" charset="-120"/>
              </a:rPr>
              <a:t>.</a:t>
            </a:r>
            <a:endParaRPr lang="en-US" sz="950" dirty="0">
              <a:solidFill>
                <a:srgbClr val="2C2C2C"/>
              </a:solidFill>
            </a:endParaRPr>
          </a:p>
        </p:txBody>
      </p:sp>
      <p:sp>
        <p:nvSpPr>
          <p:cNvPr id="31" name="Shape 29"/>
          <p:cNvSpPr/>
          <p:nvPr/>
        </p:nvSpPr>
        <p:spPr>
          <a:xfrm>
            <a:off x="4782312" y="3822192"/>
            <a:ext cx="4251960" cy="1115568"/>
          </a:xfrm>
          <a:prstGeom prst="rect">
            <a:avLst/>
          </a:prstGeom>
          <a:solidFill>
            <a:srgbClr val="F7F4EE"/>
          </a:solidFill>
          <a:ln w="15240">
            <a:solidFill>
              <a:srgbClr val="8B0000"/>
            </a:solidFill>
            <a:prstDash val="solid"/>
          </a:ln>
        </p:spPr>
      </p:sp>
      <p:sp>
        <p:nvSpPr>
          <p:cNvPr id="32" name="Shape 30"/>
          <p:cNvSpPr/>
          <p:nvPr/>
        </p:nvSpPr>
        <p:spPr>
          <a:xfrm>
            <a:off x="4782312" y="3822192"/>
            <a:ext cx="777240" cy="347472"/>
          </a:xfrm>
          <a:prstGeom prst="rect">
            <a:avLst/>
          </a:prstGeom>
          <a:solidFill>
            <a:srgbClr val="4A7C59"/>
          </a:solidFill>
          <a:ln w="12700">
            <a:solidFill>
              <a:srgbClr val="4A7C59"/>
            </a:solidFill>
            <a:prstDash val="solid"/>
          </a:ln>
        </p:spPr>
      </p:sp>
      <p:sp>
        <p:nvSpPr>
          <p:cNvPr id="33" name="Text 31"/>
          <p:cNvSpPr/>
          <p:nvPr/>
        </p:nvSpPr>
        <p:spPr>
          <a:xfrm>
            <a:off x="4782312" y="3822192"/>
            <a:ext cx="777240" cy="347472"/>
          </a:xfrm>
          <a:prstGeom prst="rect">
            <a:avLst/>
          </a:prstGeom>
          <a:solidFill>
            <a:srgbClr val="0070C0"/>
          </a:solidFill>
          <a:ln/>
        </p:spPr>
        <p:txBody>
          <a:bodyPr wrap="square" lIns="0" tIns="0" rIns="0" bIns="0" rtlCol="0" anchor="ctr"/>
          <a:lstStyle/>
          <a:p>
            <a:pPr marL="0" indent="0" algn="ctr">
              <a:buNone/>
            </a:pPr>
            <a:r>
              <a:rPr lang="en-US" sz="1100" b="1" dirty="0">
                <a:solidFill>
                  <a:srgbClr val="F7F4EE"/>
                </a:solidFill>
                <a:latin typeface="Trebuchet MS" pitchFamily="34" charset="0"/>
                <a:ea typeface="Trebuchet MS" pitchFamily="34" charset="-122"/>
                <a:cs typeface="Trebuchet MS" pitchFamily="34" charset="-120"/>
              </a:rPr>
              <a:t>Page 6</a:t>
            </a:r>
            <a:endParaRPr lang="en-US" sz="1100" dirty="0">
              <a:solidFill>
                <a:srgbClr val="F7F4EE"/>
              </a:solidFill>
            </a:endParaRPr>
          </a:p>
        </p:txBody>
      </p:sp>
      <p:sp>
        <p:nvSpPr>
          <p:cNvPr id="34" name="Text 32"/>
          <p:cNvSpPr/>
          <p:nvPr/>
        </p:nvSpPr>
        <p:spPr>
          <a:xfrm>
            <a:off x="5696712" y="3886200"/>
            <a:ext cx="3246120" cy="256032"/>
          </a:xfrm>
          <a:prstGeom prst="rect">
            <a:avLst/>
          </a:prstGeom>
          <a:noFill/>
          <a:ln/>
        </p:spPr>
        <p:txBody>
          <a:bodyPr wrap="square" lIns="0" tIns="0" rIns="0" bIns="0" rtlCol="0" anchor="ctr"/>
          <a:lstStyle/>
          <a:p>
            <a:pPr marL="0" indent="0">
              <a:buNone/>
            </a:pPr>
            <a:r>
              <a:rPr lang="en-US" sz="1200" b="1" dirty="0">
                <a:solidFill>
                  <a:srgbClr val="0070C0"/>
                </a:solidFill>
                <a:latin typeface="Trebuchet MS" pitchFamily="34" charset="0"/>
                <a:ea typeface="Trebuchet MS" pitchFamily="34" charset="-122"/>
                <a:cs typeface="Trebuchet MS" pitchFamily="34" charset="-120"/>
              </a:rPr>
              <a:t>Coping Strategies &amp; Recommendations</a:t>
            </a:r>
            <a:endParaRPr lang="en-US" sz="1200" dirty="0">
              <a:solidFill>
                <a:srgbClr val="0070C0"/>
              </a:solidFill>
            </a:endParaRPr>
          </a:p>
        </p:txBody>
      </p:sp>
      <p:sp>
        <p:nvSpPr>
          <p:cNvPr id="35" name="Text 33"/>
          <p:cNvSpPr/>
          <p:nvPr/>
        </p:nvSpPr>
        <p:spPr>
          <a:xfrm>
            <a:off x="4892040" y="4224528"/>
            <a:ext cx="4041648"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Financial coping strategies, key findings, practical recommendations, and policy insights for improving purchasing power and rebuilding savings.</a:t>
            </a:r>
            <a:endParaRPr lang="en-US" sz="950" dirty="0">
              <a:solidFill>
                <a:srgbClr val="2C2C2C"/>
              </a:solidFill>
            </a:endParaRPr>
          </a:p>
        </p:txBody>
      </p:sp>
      <p:sp>
        <p:nvSpPr>
          <p:cNvPr id="37" name="Text 35"/>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06  KEY FINDINGS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Key Findings from the Analysis</a:t>
            </a:r>
            <a:endParaRPr lang="en-US" sz="2600" dirty="0">
              <a:solidFill>
                <a:srgbClr val="8B0000"/>
              </a:solidFill>
            </a:endParaRPr>
          </a:p>
        </p:txBody>
      </p:sp>
      <p:sp>
        <p:nvSpPr>
          <p:cNvPr id="5" name="Shape 3"/>
          <p:cNvSpPr/>
          <p:nvPr/>
        </p:nvSpPr>
        <p:spPr>
          <a:xfrm>
            <a:off x="347472" y="1353312"/>
            <a:ext cx="4251960" cy="1143000"/>
          </a:xfrm>
          <a:prstGeom prst="rect">
            <a:avLst/>
          </a:prstGeom>
          <a:solidFill>
            <a:srgbClr val="F7F4EE"/>
          </a:solidFill>
          <a:ln w="15240">
            <a:solidFill>
              <a:srgbClr val="8B0000"/>
            </a:solidFill>
            <a:prstDash val="solid"/>
          </a:ln>
        </p:spPr>
      </p:sp>
      <p:sp>
        <p:nvSpPr>
          <p:cNvPr id="6" name="Shape 4"/>
          <p:cNvSpPr/>
          <p:nvPr/>
        </p:nvSpPr>
        <p:spPr>
          <a:xfrm>
            <a:off x="347472" y="1353312"/>
            <a:ext cx="91440" cy="1143000"/>
          </a:xfrm>
          <a:prstGeom prst="rect">
            <a:avLst/>
          </a:prstGeom>
          <a:solidFill>
            <a:srgbClr val="FF0000"/>
          </a:solidFill>
          <a:ln w="12700">
            <a:solidFill>
              <a:srgbClr val="4A7C59"/>
            </a:solidFill>
            <a:prstDash val="solid"/>
          </a:ln>
        </p:spPr>
      </p:sp>
      <p:sp>
        <p:nvSpPr>
          <p:cNvPr id="7" name="Text 5"/>
          <p:cNvSpPr/>
          <p:nvPr/>
        </p:nvSpPr>
        <p:spPr>
          <a:xfrm>
            <a:off x="548640" y="1444752"/>
            <a:ext cx="3950208" cy="237744"/>
          </a:xfrm>
          <a:prstGeom prst="rect">
            <a:avLst/>
          </a:prstGeom>
          <a:noFill/>
          <a:ln/>
        </p:spPr>
        <p:txBody>
          <a:bodyPr wrap="square" lIns="0" tIns="0" rIns="0" bIns="0" rtlCol="0" anchor="ctr"/>
          <a:lstStyle/>
          <a:p>
            <a:pPr marL="0" indent="0">
              <a:buNone/>
            </a:pPr>
            <a:r>
              <a:rPr lang="en-US" sz="1100" b="1" dirty="0">
                <a:solidFill>
                  <a:srgbClr val="FF0000"/>
                </a:solidFill>
                <a:latin typeface="Trebuchet MS" pitchFamily="34" charset="0"/>
                <a:ea typeface="Trebuchet MS" pitchFamily="34" charset="-122"/>
                <a:cs typeface="Trebuchet MS" pitchFamily="34" charset="-120"/>
              </a:rPr>
              <a:t>PURCHASING POWER HAS DECLINED SIGNIFICANTLY</a:t>
            </a:r>
            <a:endParaRPr lang="en-US" sz="1100" dirty="0">
              <a:solidFill>
                <a:srgbClr val="FF0000"/>
              </a:solidFill>
            </a:endParaRPr>
          </a:p>
        </p:txBody>
      </p:sp>
      <p:sp>
        <p:nvSpPr>
          <p:cNvPr id="8" name="Text 6"/>
          <p:cNvSpPr/>
          <p:nvPr/>
        </p:nvSpPr>
        <p:spPr>
          <a:xfrm>
            <a:off x="548640" y="1719072"/>
            <a:ext cx="3950208" cy="713232"/>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Nearly half of the respondents (49.7%) reported a decline in purchasing power, while 70% spend more than 70% of their monthly income on essential needs, indicating that inflation has substantially reduced financial stability.</a:t>
            </a:r>
            <a:endParaRPr lang="en-US" sz="1000" dirty="0">
              <a:solidFill>
                <a:srgbClr val="2C2C2C"/>
              </a:solidFill>
            </a:endParaRPr>
          </a:p>
        </p:txBody>
      </p:sp>
      <p:sp>
        <p:nvSpPr>
          <p:cNvPr id="9" name="Shape 7"/>
          <p:cNvSpPr/>
          <p:nvPr/>
        </p:nvSpPr>
        <p:spPr>
          <a:xfrm>
            <a:off x="4782312" y="1353312"/>
            <a:ext cx="4251960" cy="1143000"/>
          </a:xfrm>
          <a:prstGeom prst="rect">
            <a:avLst/>
          </a:prstGeom>
          <a:solidFill>
            <a:srgbClr val="F7F4EE"/>
          </a:solidFill>
          <a:ln w="15240">
            <a:solidFill>
              <a:srgbClr val="8B0000"/>
            </a:solidFill>
            <a:prstDash val="solid"/>
          </a:ln>
        </p:spPr>
      </p:sp>
      <p:sp>
        <p:nvSpPr>
          <p:cNvPr id="10" name="Shape 8"/>
          <p:cNvSpPr/>
          <p:nvPr/>
        </p:nvSpPr>
        <p:spPr>
          <a:xfrm>
            <a:off x="4782312" y="1353312"/>
            <a:ext cx="91440" cy="1143000"/>
          </a:xfrm>
          <a:prstGeom prst="rect">
            <a:avLst/>
          </a:prstGeom>
          <a:solidFill>
            <a:srgbClr val="F57C00"/>
          </a:solidFill>
          <a:ln w="12700">
            <a:solidFill>
              <a:srgbClr val="D4A017"/>
            </a:solidFill>
            <a:prstDash val="solid"/>
          </a:ln>
        </p:spPr>
      </p:sp>
      <p:sp>
        <p:nvSpPr>
          <p:cNvPr id="11" name="Text 9"/>
          <p:cNvSpPr/>
          <p:nvPr/>
        </p:nvSpPr>
        <p:spPr>
          <a:xfrm>
            <a:off x="4983480" y="1444752"/>
            <a:ext cx="3950208" cy="237744"/>
          </a:xfrm>
          <a:prstGeom prst="rect">
            <a:avLst/>
          </a:prstGeom>
          <a:noFill/>
          <a:ln/>
        </p:spPr>
        <p:txBody>
          <a:bodyPr wrap="square" lIns="0" tIns="0" rIns="0" bIns="0" rtlCol="0" anchor="ctr"/>
          <a:lstStyle/>
          <a:p>
            <a:pPr marL="0" indent="0" algn="just">
              <a:buNone/>
            </a:pPr>
            <a:r>
              <a:rPr lang="en-US" sz="1100" b="1" dirty="0">
                <a:solidFill>
                  <a:srgbClr val="F57C00"/>
                </a:solidFill>
                <a:latin typeface="Trebuchet MS" pitchFamily="34" charset="0"/>
                <a:ea typeface="Trebuchet MS" pitchFamily="34" charset="-122"/>
                <a:cs typeface="Trebuchet MS" pitchFamily="34" charset="-120"/>
              </a:rPr>
              <a:t>Food, Transportation And Healthcare Are The Most Affected Expenditure Categories</a:t>
            </a:r>
            <a:endParaRPr lang="en-US" sz="1100" dirty="0">
              <a:solidFill>
                <a:srgbClr val="F57C00"/>
              </a:solidFill>
            </a:endParaRPr>
          </a:p>
        </p:txBody>
      </p:sp>
      <p:sp>
        <p:nvSpPr>
          <p:cNvPr id="12" name="Text 10"/>
          <p:cNvSpPr/>
          <p:nvPr/>
        </p:nvSpPr>
        <p:spPr>
          <a:xfrm>
            <a:off x="4983480" y="1719072"/>
            <a:ext cx="3950208" cy="713232"/>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Food &amp; Groceries recorded the highest inflation impact score, followed by Transportation &amp; Fuel and Healthcare, making them the largest contributors to household financial pressure.</a:t>
            </a:r>
            <a:endParaRPr lang="en-US" sz="1000" dirty="0">
              <a:solidFill>
                <a:srgbClr val="2C2C2C"/>
              </a:solidFill>
            </a:endParaRPr>
          </a:p>
        </p:txBody>
      </p:sp>
      <p:sp>
        <p:nvSpPr>
          <p:cNvPr id="13" name="Shape 11"/>
          <p:cNvSpPr/>
          <p:nvPr/>
        </p:nvSpPr>
        <p:spPr>
          <a:xfrm>
            <a:off x="347472" y="2615184"/>
            <a:ext cx="4251960" cy="1143000"/>
          </a:xfrm>
          <a:prstGeom prst="rect">
            <a:avLst/>
          </a:prstGeom>
          <a:solidFill>
            <a:srgbClr val="F7F4EE"/>
          </a:solidFill>
          <a:ln w="15240">
            <a:solidFill>
              <a:srgbClr val="8B0000"/>
            </a:solidFill>
            <a:prstDash val="solid"/>
          </a:ln>
        </p:spPr>
      </p:sp>
      <p:sp>
        <p:nvSpPr>
          <p:cNvPr id="14" name="Shape 12"/>
          <p:cNvSpPr/>
          <p:nvPr/>
        </p:nvSpPr>
        <p:spPr>
          <a:xfrm>
            <a:off x="347472" y="2615184"/>
            <a:ext cx="91440" cy="1143000"/>
          </a:xfrm>
          <a:prstGeom prst="rect">
            <a:avLst/>
          </a:prstGeom>
          <a:solidFill>
            <a:srgbClr val="2E7D32"/>
          </a:solidFill>
          <a:ln w="12700">
            <a:solidFill>
              <a:srgbClr val="C1440E"/>
            </a:solidFill>
            <a:prstDash val="solid"/>
          </a:ln>
        </p:spPr>
      </p:sp>
      <p:sp>
        <p:nvSpPr>
          <p:cNvPr id="15" name="Text 13"/>
          <p:cNvSpPr/>
          <p:nvPr/>
        </p:nvSpPr>
        <p:spPr>
          <a:xfrm>
            <a:off x="548640" y="2706624"/>
            <a:ext cx="3950208" cy="237744"/>
          </a:xfrm>
          <a:prstGeom prst="rect">
            <a:avLst/>
          </a:prstGeom>
          <a:noFill/>
          <a:ln/>
        </p:spPr>
        <p:txBody>
          <a:bodyPr wrap="square" lIns="0" tIns="0" rIns="0" bIns="0" rtlCol="0" anchor="ctr"/>
          <a:lstStyle/>
          <a:p>
            <a:pPr marL="0" indent="0">
              <a:buNone/>
            </a:pPr>
            <a:r>
              <a:rPr lang="en-US" sz="1100" b="1" dirty="0">
                <a:solidFill>
                  <a:srgbClr val="2E7D32"/>
                </a:solidFill>
                <a:latin typeface="Trebuchet MS" pitchFamily="34" charset="0"/>
                <a:ea typeface="Trebuchet MS" pitchFamily="34" charset="-122"/>
                <a:cs typeface="Trebuchet MS" pitchFamily="34" charset="-120"/>
              </a:rPr>
              <a:t>Savings Capacity Has Reduced Considerably</a:t>
            </a:r>
            <a:endParaRPr lang="en-US" sz="1100" dirty="0">
              <a:solidFill>
                <a:srgbClr val="2E7D32"/>
              </a:solidFill>
            </a:endParaRPr>
          </a:p>
        </p:txBody>
      </p:sp>
      <p:sp>
        <p:nvSpPr>
          <p:cNvPr id="16" name="Text 14"/>
          <p:cNvSpPr/>
          <p:nvPr/>
        </p:nvSpPr>
        <p:spPr>
          <a:xfrm>
            <a:off x="548640" y="2980944"/>
            <a:ext cx="3950208" cy="713232"/>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Only 16.4% of respondents reported saving more than before, while many indicated reduced savings or complete inability to save due to rising living costs.</a:t>
            </a:r>
            <a:endParaRPr lang="en-US" sz="1000" dirty="0">
              <a:solidFill>
                <a:srgbClr val="2C2C2C"/>
              </a:solidFill>
            </a:endParaRPr>
          </a:p>
        </p:txBody>
      </p:sp>
      <p:sp>
        <p:nvSpPr>
          <p:cNvPr id="17" name="Shape 15"/>
          <p:cNvSpPr/>
          <p:nvPr/>
        </p:nvSpPr>
        <p:spPr>
          <a:xfrm>
            <a:off x="4782312" y="2615184"/>
            <a:ext cx="4251960" cy="1143000"/>
          </a:xfrm>
          <a:prstGeom prst="rect">
            <a:avLst/>
          </a:prstGeom>
          <a:solidFill>
            <a:srgbClr val="F7F4EE"/>
          </a:solidFill>
          <a:ln w="15240">
            <a:solidFill>
              <a:srgbClr val="8B0000"/>
            </a:solidFill>
            <a:prstDash val="solid"/>
          </a:ln>
        </p:spPr>
      </p:sp>
      <p:sp>
        <p:nvSpPr>
          <p:cNvPr id="18" name="Shape 16"/>
          <p:cNvSpPr/>
          <p:nvPr/>
        </p:nvSpPr>
        <p:spPr>
          <a:xfrm>
            <a:off x="4782312" y="2615184"/>
            <a:ext cx="91440" cy="1143000"/>
          </a:xfrm>
          <a:prstGeom prst="rect">
            <a:avLst/>
          </a:prstGeom>
          <a:solidFill>
            <a:srgbClr val="4A7C59"/>
          </a:solidFill>
          <a:ln w="12700">
            <a:solidFill>
              <a:srgbClr val="4A7C59"/>
            </a:solidFill>
            <a:prstDash val="solid"/>
          </a:ln>
        </p:spPr>
      </p:sp>
      <p:sp>
        <p:nvSpPr>
          <p:cNvPr id="19" name="Text 17"/>
          <p:cNvSpPr/>
          <p:nvPr/>
        </p:nvSpPr>
        <p:spPr>
          <a:xfrm>
            <a:off x="4983480" y="2706624"/>
            <a:ext cx="3950208" cy="237744"/>
          </a:xfrm>
          <a:prstGeom prst="rect">
            <a:avLst/>
          </a:prstGeom>
          <a:noFill/>
          <a:ln/>
        </p:spPr>
        <p:txBody>
          <a:bodyPr wrap="square" lIns="0" tIns="0" rIns="0" bIns="0" rtlCol="0" anchor="ctr"/>
          <a:lstStyle/>
          <a:p>
            <a:pPr marL="0" indent="0">
              <a:buNone/>
            </a:pPr>
            <a:r>
              <a:rPr lang="en-US" sz="1100" b="1" dirty="0">
                <a:solidFill>
                  <a:srgbClr val="C00000"/>
                </a:solidFill>
                <a:latin typeface="Trebuchet MS" pitchFamily="34" charset="0"/>
                <a:ea typeface="Trebuchet MS" pitchFamily="34" charset="-122"/>
                <a:cs typeface="Trebuchet MS" pitchFamily="34" charset="-120"/>
              </a:rPr>
              <a:t>Lower-income Earners Experienced The Greatest Financial Impact</a:t>
            </a:r>
            <a:endParaRPr lang="en-US" sz="1100" dirty="0">
              <a:solidFill>
                <a:srgbClr val="C00000"/>
              </a:solidFill>
            </a:endParaRPr>
          </a:p>
        </p:txBody>
      </p:sp>
      <p:sp>
        <p:nvSpPr>
          <p:cNvPr id="20" name="Text 18"/>
          <p:cNvSpPr/>
          <p:nvPr/>
        </p:nvSpPr>
        <p:spPr>
          <a:xfrm>
            <a:off x="4983480" y="2980944"/>
            <a:ext cx="3950208" cy="713232"/>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Respondents earning below ₦150,000 recorded the highest purchasing power impact, while differences were also observed across gender, age groups and employment sectors.</a:t>
            </a:r>
            <a:endParaRPr lang="en-US" sz="1000" dirty="0">
              <a:solidFill>
                <a:srgbClr val="2C2C2C"/>
              </a:solidFill>
            </a:endParaRPr>
          </a:p>
        </p:txBody>
      </p:sp>
      <p:sp>
        <p:nvSpPr>
          <p:cNvPr id="21" name="Shape 19"/>
          <p:cNvSpPr/>
          <p:nvPr/>
        </p:nvSpPr>
        <p:spPr>
          <a:xfrm>
            <a:off x="347472" y="3877056"/>
            <a:ext cx="4251960" cy="1143000"/>
          </a:xfrm>
          <a:prstGeom prst="rect">
            <a:avLst/>
          </a:prstGeom>
          <a:solidFill>
            <a:srgbClr val="F7F4EE"/>
          </a:solidFill>
          <a:ln w="15240">
            <a:solidFill>
              <a:srgbClr val="8B0000"/>
            </a:solidFill>
            <a:prstDash val="solid"/>
          </a:ln>
        </p:spPr>
      </p:sp>
      <p:sp>
        <p:nvSpPr>
          <p:cNvPr id="22" name="Shape 20"/>
          <p:cNvSpPr/>
          <p:nvPr/>
        </p:nvSpPr>
        <p:spPr>
          <a:xfrm>
            <a:off x="347472" y="3877056"/>
            <a:ext cx="91440" cy="1143000"/>
          </a:xfrm>
          <a:prstGeom prst="rect">
            <a:avLst/>
          </a:prstGeom>
          <a:solidFill>
            <a:srgbClr val="6A1B9A"/>
          </a:solidFill>
          <a:ln w="12700">
            <a:solidFill>
              <a:srgbClr val="C1440E"/>
            </a:solidFill>
            <a:prstDash val="solid"/>
          </a:ln>
        </p:spPr>
      </p:sp>
      <p:sp>
        <p:nvSpPr>
          <p:cNvPr id="23" name="Text 21"/>
          <p:cNvSpPr/>
          <p:nvPr/>
        </p:nvSpPr>
        <p:spPr>
          <a:xfrm>
            <a:off x="548640" y="3968496"/>
            <a:ext cx="3950208" cy="237744"/>
          </a:xfrm>
          <a:prstGeom prst="rect">
            <a:avLst/>
          </a:prstGeom>
          <a:noFill/>
          <a:ln/>
        </p:spPr>
        <p:txBody>
          <a:bodyPr wrap="square" lIns="0" tIns="0" rIns="0" bIns="0" rtlCol="0" anchor="ctr"/>
          <a:lstStyle/>
          <a:p>
            <a:pPr marL="0" indent="0" algn="just">
              <a:buNone/>
            </a:pPr>
            <a:r>
              <a:rPr lang="en-US" sz="1100" b="1" dirty="0">
                <a:solidFill>
                  <a:srgbClr val="6A1B9A"/>
                </a:solidFill>
                <a:latin typeface="Trebuchet MS" pitchFamily="34" charset="0"/>
                <a:ea typeface="Trebuchet MS" pitchFamily="34" charset="-122"/>
                <a:cs typeface="Trebuchet MS" pitchFamily="34" charset="-120"/>
              </a:rPr>
              <a:t>Public Sector Workers Experienced The Highest Purchasing Power Impact</a:t>
            </a:r>
            <a:endParaRPr lang="en-US" sz="1100" dirty="0">
              <a:solidFill>
                <a:srgbClr val="6A1B9A"/>
              </a:solidFill>
            </a:endParaRPr>
          </a:p>
        </p:txBody>
      </p:sp>
      <p:sp>
        <p:nvSpPr>
          <p:cNvPr id="24" name="Text 22"/>
          <p:cNvSpPr/>
          <p:nvPr/>
        </p:nvSpPr>
        <p:spPr>
          <a:xfrm>
            <a:off x="548640" y="4242816"/>
            <a:ext cx="3950208" cy="713232"/>
          </a:xfrm>
          <a:prstGeom prst="rect">
            <a:avLst/>
          </a:prstGeom>
          <a:noFill/>
          <a:ln/>
        </p:spPr>
        <p:txBody>
          <a:bodyPr wrap="square" lIns="0" tIns="0" rIns="0" bIns="0" rtlCol="0" anchor="ctr"/>
          <a:lstStyle/>
          <a:p>
            <a:pPr marL="0" indent="0" algn="just">
              <a:buNone/>
            </a:pPr>
            <a:r>
              <a:rPr lang="en-US" sz="1000" dirty="0">
                <a:solidFill>
                  <a:srgbClr val="2C2C2C"/>
                </a:solidFill>
                <a:latin typeface="Calibri" pitchFamily="34" charset="0"/>
                <a:ea typeface="Calibri" pitchFamily="34" charset="-122"/>
                <a:cs typeface="Calibri" pitchFamily="34" charset="-120"/>
              </a:rPr>
              <a:t>Among employment sectors, public sector employees recorded the highest average purchasing power impact score, indicating greater financial pressure compared with other sectors.</a:t>
            </a:r>
            <a:endParaRPr lang="en-US" sz="1000" dirty="0">
              <a:solidFill>
                <a:srgbClr val="2C2C2C"/>
              </a:solidFill>
            </a:endParaRPr>
          </a:p>
        </p:txBody>
      </p:sp>
      <p:sp>
        <p:nvSpPr>
          <p:cNvPr id="25" name="Shape 23"/>
          <p:cNvSpPr/>
          <p:nvPr/>
        </p:nvSpPr>
        <p:spPr>
          <a:xfrm>
            <a:off x="4782312" y="3877056"/>
            <a:ext cx="4251960" cy="1143000"/>
          </a:xfrm>
          <a:prstGeom prst="rect">
            <a:avLst/>
          </a:prstGeom>
          <a:solidFill>
            <a:srgbClr val="F7F4EE"/>
          </a:solidFill>
          <a:ln w="15240">
            <a:solidFill>
              <a:srgbClr val="8B0000"/>
            </a:solidFill>
            <a:prstDash val="solid"/>
          </a:ln>
        </p:spPr>
      </p:sp>
      <p:sp>
        <p:nvSpPr>
          <p:cNvPr id="26" name="Shape 24"/>
          <p:cNvSpPr/>
          <p:nvPr/>
        </p:nvSpPr>
        <p:spPr>
          <a:xfrm>
            <a:off x="4782312" y="3877056"/>
            <a:ext cx="91440" cy="1143000"/>
          </a:xfrm>
          <a:prstGeom prst="rect">
            <a:avLst/>
          </a:prstGeom>
          <a:solidFill>
            <a:srgbClr val="2E86AB"/>
          </a:solidFill>
          <a:ln w="12700">
            <a:solidFill>
              <a:srgbClr val="2E86AB"/>
            </a:solidFill>
            <a:prstDash val="solid"/>
          </a:ln>
        </p:spPr>
      </p:sp>
      <p:sp>
        <p:nvSpPr>
          <p:cNvPr id="27" name="Text 25"/>
          <p:cNvSpPr/>
          <p:nvPr/>
        </p:nvSpPr>
        <p:spPr>
          <a:xfrm>
            <a:off x="4983480" y="3968496"/>
            <a:ext cx="3950208" cy="237744"/>
          </a:xfrm>
          <a:prstGeom prst="rect">
            <a:avLst/>
          </a:prstGeom>
          <a:noFill/>
          <a:ln/>
        </p:spPr>
        <p:txBody>
          <a:bodyPr wrap="square" lIns="0" tIns="0" rIns="0" bIns="0" rtlCol="0" anchor="ctr"/>
          <a:lstStyle/>
          <a:p>
            <a:pPr marL="0" indent="0" algn="just">
              <a:buNone/>
            </a:pPr>
            <a:r>
              <a:rPr lang="en-US" sz="1100" b="1" dirty="0">
                <a:solidFill>
                  <a:srgbClr val="2E86AB"/>
                </a:solidFill>
                <a:latin typeface="Trebuchet MS" pitchFamily="34" charset="0"/>
                <a:ea typeface="Trebuchet MS" pitchFamily="34" charset="-122"/>
                <a:cs typeface="Trebuchet MS" pitchFamily="34" charset="-120"/>
              </a:rPr>
              <a:t>Nigerian Salary Earners Are Adopting Multiple Coping Strategies</a:t>
            </a:r>
            <a:endParaRPr lang="en-US" sz="1100" dirty="0"/>
          </a:p>
        </p:txBody>
      </p:sp>
      <p:sp>
        <p:nvSpPr>
          <p:cNvPr id="28" name="Text 26"/>
          <p:cNvSpPr/>
          <p:nvPr/>
        </p:nvSpPr>
        <p:spPr>
          <a:xfrm>
            <a:off x="4983480" y="4242816"/>
            <a:ext cx="3950208" cy="713232"/>
          </a:xfrm>
          <a:prstGeom prst="rect">
            <a:avLst/>
          </a:prstGeom>
          <a:noFill/>
          <a:ln/>
        </p:spPr>
        <p:txBody>
          <a:bodyPr wrap="square" lIns="0" tIns="0" rIns="0" bIns="0" rtlCol="0" anchor="ctr"/>
          <a:lstStyle/>
          <a:p>
            <a:pPr algn="just"/>
            <a:r>
              <a:rPr lang="en-US" sz="1000" dirty="0">
                <a:solidFill>
                  <a:srgbClr val="2C2C2C"/>
                </a:solidFill>
              </a:rPr>
              <a:t>Respondents are adjusting spending habits, prioritizing essential expenses, reducing savings and adopting other financial coping strategies to manage the effects of inflation.</a:t>
            </a:r>
          </a:p>
        </p:txBody>
      </p:sp>
      <p:sp>
        <p:nvSpPr>
          <p:cNvPr id="29" name="Text 27"/>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201168"/>
            <a:ext cx="1371600" cy="256032"/>
          </a:xfrm>
          <a:prstGeom prst="rect">
            <a:avLst/>
          </a:prstGeom>
          <a:solidFill>
            <a:srgbClr val="8B0000"/>
          </a:solidFill>
          <a:ln w="12700">
            <a:solidFill>
              <a:srgbClr val="8B0000"/>
            </a:solidFill>
            <a:prstDash val="solid"/>
          </a:ln>
        </p:spPr>
      </p:sp>
      <p:sp>
        <p:nvSpPr>
          <p:cNvPr id="3" name="Text 1"/>
          <p:cNvSpPr/>
          <p:nvPr/>
        </p:nvSpPr>
        <p:spPr>
          <a:xfrm>
            <a:off x="365760" y="201168"/>
            <a:ext cx="1371600" cy="256032"/>
          </a:xfrm>
          <a:prstGeom prst="rect">
            <a:avLst/>
          </a:prstGeom>
          <a:noFill/>
          <a:ln/>
        </p:spPr>
        <p:txBody>
          <a:bodyPr wrap="square" lIns="0" tIns="0" rIns="0" bIns="0" rtlCol="0" anchor="ctr"/>
          <a:lstStyle/>
          <a:p>
            <a:pPr marL="0" indent="0" algn="ctr">
              <a:buNone/>
            </a:pPr>
            <a:r>
              <a:rPr lang="en-US" sz="900" b="1" dirty="0">
                <a:solidFill>
                  <a:srgbClr val="F7F4EE"/>
                </a:solidFill>
              </a:rPr>
              <a:t>07  LIMITATIONS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Project Limitations &amp; Future Research</a:t>
            </a:r>
            <a:endParaRPr lang="en-US" sz="2600" dirty="0">
              <a:solidFill>
                <a:srgbClr val="8B0000"/>
              </a:solidFill>
            </a:endParaRPr>
          </a:p>
        </p:txBody>
      </p:sp>
      <p:sp>
        <p:nvSpPr>
          <p:cNvPr id="5" name="Shape 3"/>
          <p:cNvSpPr/>
          <p:nvPr/>
        </p:nvSpPr>
        <p:spPr>
          <a:xfrm>
            <a:off x="347472" y="1097280"/>
            <a:ext cx="4178808" cy="3845052"/>
          </a:xfrm>
          <a:prstGeom prst="rect">
            <a:avLst/>
          </a:prstGeom>
          <a:solidFill>
            <a:srgbClr val="F7F4EE"/>
          </a:solidFill>
          <a:ln w="15240">
            <a:solidFill>
              <a:srgbClr val="8B0000"/>
            </a:solidFill>
            <a:prstDash val="solid"/>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470916" y="1217772"/>
            <a:ext cx="3931920" cy="256032"/>
          </a:xfrm>
          <a:prstGeom prst="rect">
            <a:avLst/>
          </a:prstGeom>
          <a:noFill/>
          <a:ln/>
        </p:spPr>
        <p:txBody>
          <a:bodyPr wrap="square" lIns="0" tIns="0" rIns="0" bIns="0" rtlCol="0" anchor="ctr"/>
          <a:lstStyle/>
          <a:p>
            <a:pPr marL="0" indent="0">
              <a:buNone/>
            </a:pPr>
            <a:r>
              <a:rPr lang="en-US" sz="1100" b="1" dirty="0">
                <a:solidFill>
                  <a:srgbClr val="C1440E"/>
                </a:solidFill>
                <a:latin typeface="Trebuchet MS" pitchFamily="34" charset="0"/>
                <a:ea typeface="Trebuchet MS" pitchFamily="34" charset="-122"/>
                <a:cs typeface="Trebuchet MS" pitchFamily="34" charset="-120"/>
              </a:rPr>
              <a:t>STUDY LIMITATIONS</a:t>
            </a:r>
            <a:endParaRPr lang="en-US" sz="1100" dirty="0"/>
          </a:p>
        </p:txBody>
      </p:sp>
      <p:sp>
        <p:nvSpPr>
          <p:cNvPr id="7" name="Text 5"/>
          <p:cNvSpPr/>
          <p:nvPr/>
        </p:nvSpPr>
        <p:spPr>
          <a:xfrm>
            <a:off x="502920" y="1783080"/>
            <a:ext cx="3950208" cy="2971800"/>
          </a:xfrm>
          <a:prstGeom prst="rect">
            <a:avLst/>
          </a:prstGeom>
          <a:noFill/>
          <a:ln/>
        </p:spPr>
        <p:txBody>
          <a:bodyPr wrap="square" rtlCol="0" anchor="ctr"/>
          <a:lstStyle/>
          <a:p>
            <a:pPr marL="342900" indent="-342900">
              <a:lnSpc>
                <a:spcPct val="115000"/>
              </a:lnSpc>
              <a:spcAft>
                <a:spcPts val="600"/>
              </a:spcAft>
              <a:buSzPct val="100000"/>
              <a:buChar char="•"/>
            </a:pPr>
            <a:endParaRPr lang="en-US" sz="1050" dirty="0"/>
          </a:p>
        </p:txBody>
      </p:sp>
      <p:sp>
        <p:nvSpPr>
          <p:cNvPr id="8" name="Shape 6"/>
          <p:cNvSpPr/>
          <p:nvPr/>
        </p:nvSpPr>
        <p:spPr>
          <a:xfrm>
            <a:off x="4617720" y="1097280"/>
            <a:ext cx="4178808" cy="3845052"/>
          </a:xfrm>
          <a:prstGeom prst="rect">
            <a:avLst/>
          </a:prstGeom>
          <a:solidFill>
            <a:srgbClr val="F7F4EE"/>
          </a:solidFill>
          <a:ln w="15240">
            <a:solidFill>
              <a:srgbClr val="8B0000"/>
            </a:solidFill>
            <a:prstDash val="solid"/>
          </a:ln>
          <a:effectLst>
            <a:outerShdw blurRad="101600" dist="38100" dir="8100000" algn="bl" rotWithShape="0">
              <a:srgbClr val="000000">
                <a:alpha val="25000"/>
              </a:srgbClr>
            </a:outerShdw>
          </a:effectLst>
        </p:spPr>
      </p:sp>
      <p:sp>
        <p:nvSpPr>
          <p:cNvPr id="9" name="Text 7"/>
          <p:cNvSpPr/>
          <p:nvPr/>
        </p:nvSpPr>
        <p:spPr>
          <a:xfrm>
            <a:off x="4778208" y="1223424"/>
            <a:ext cx="3749040" cy="256032"/>
          </a:xfrm>
          <a:prstGeom prst="rect">
            <a:avLst/>
          </a:prstGeom>
          <a:noFill/>
          <a:ln/>
        </p:spPr>
        <p:txBody>
          <a:bodyPr wrap="square" lIns="0" tIns="0" rIns="0" bIns="0" rtlCol="0" anchor="ctr"/>
          <a:lstStyle/>
          <a:p>
            <a:pPr marL="0" indent="0">
              <a:buNone/>
            </a:pPr>
            <a:r>
              <a:rPr lang="en-US" sz="1100" b="1" dirty="0">
                <a:solidFill>
                  <a:srgbClr val="4A7C59"/>
                </a:solidFill>
                <a:latin typeface="Trebuchet MS" pitchFamily="34" charset="0"/>
                <a:ea typeface="Trebuchet MS" pitchFamily="34" charset="-122"/>
                <a:cs typeface="Trebuchet MS" pitchFamily="34" charset="-120"/>
              </a:rPr>
              <a:t>FUTURE RESEARCH DIRECTIONS</a:t>
            </a:r>
            <a:endParaRPr lang="en-US" sz="1100" dirty="0"/>
          </a:p>
        </p:txBody>
      </p:sp>
      <p:sp>
        <p:nvSpPr>
          <p:cNvPr id="10" name="Text 8"/>
          <p:cNvSpPr/>
          <p:nvPr/>
        </p:nvSpPr>
        <p:spPr>
          <a:xfrm>
            <a:off x="4864608" y="1525176"/>
            <a:ext cx="3794760" cy="3417156"/>
          </a:xfrm>
          <a:prstGeom prst="rect">
            <a:avLst/>
          </a:prstGeom>
          <a:noFill/>
          <a:ln/>
        </p:spPr>
        <p:txBody>
          <a:bodyPr wrap="square" rtlCol="0" anchor="ctr"/>
          <a:lstStyle/>
          <a:p>
            <a:pPr marL="171450" lvl="0" indent="-171450" algn="just">
              <a:buFont typeface="Arial" panose="020B0604020202020204" pitchFamily="34" charset="0"/>
              <a:buChar char="•"/>
            </a:pPr>
            <a:r>
              <a:rPr lang="en-NG" sz="1000" dirty="0">
                <a:solidFill>
                  <a:srgbClr val="2C2C2C"/>
                </a:solidFill>
              </a:rPr>
              <a:t>A longitudinal study tracking the same cohort of Nigerian salary earners over three to five years to measure how purchasing power and savings behaviour change as inflation fluctuates over time.</a:t>
            </a:r>
          </a:p>
          <a:p>
            <a:pPr marL="171450" lvl="0" indent="-171450" algn="just">
              <a:buFont typeface="Arial" panose="020B0604020202020204" pitchFamily="34" charset="0"/>
              <a:buChar char="•"/>
            </a:pPr>
            <a:endParaRPr lang="en-US" sz="1000" dirty="0">
              <a:solidFill>
                <a:srgbClr val="2C2C2C"/>
              </a:solidFill>
            </a:endParaRPr>
          </a:p>
          <a:p>
            <a:pPr marL="171450" lvl="0" indent="-171450" algn="just">
              <a:buFont typeface="Arial" panose="020B0604020202020204" pitchFamily="34" charset="0"/>
              <a:buChar char="•"/>
            </a:pPr>
            <a:r>
              <a:rPr lang="en-NG" sz="1000" dirty="0">
                <a:solidFill>
                  <a:srgbClr val="2C2C2C"/>
                </a:solidFill>
              </a:rPr>
              <a:t>A qualitative study using in-depth interviews with salary earners in the below ₦50,000 income bracket to gain deeper insight into the lived experience of financial distress caused by inflation, going beyond what questionnaire data can capture.</a:t>
            </a:r>
            <a:endParaRPr lang="en-US" sz="1000" dirty="0">
              <a:solidFill>
                <a:srgbClr val="2C2C2C"/>
              </a:solidFill>
            </a:endParaRPr>
          </a:p>
          <a:p>
            <a:pPr lvl="0" algn="just"/>
            <a:endParaRPr lang="en-NG" sz="1000" dirty="0">
              <a:solidFill>
                <a:srgbClr val="2C2C2C"/>
              </a:solidFill>
            </a:endParaRPr>
          </a:p>
          <a:p>
            <a:pPr marL="171450" lvl="0" indent="-171450" algn="just">
              <a:buFont typeface="Arial" panose="020B0604020202020204" pitchFamily="34" charset="0"/>
              <a:buChar char="•"/>
            </a:pPr>
            <a:r>
              <a:rPr lang="en-NG" sz="1000" dirty="0">
                <a:solidFill>
                  <a:srgbClr val="2C2C2C"/>
                </a:solidFill>
              </a:rPr>
              <a:t>A comparative study examining the differential impact of inflation on salary earners across Nigeria's six geopolitical zones, using stratified random sampling to ensure equal representation of all regions.</a:t>
            </a:r>
            <a:endParaRPr lang="en-US" sz="1000" dirty="0">
              <a:solidFill>
                <a:srgbClr val="2C2C2C"/>
              </a:solidFill>
            </a:endParaRPr>
          </a:p>
          <a:p>
            <a:pPr lvl="0" algn="just"/>
            <a:endParaRPr lang="en-NG" sz="1000" dirty="0">
              <a:solidFill>
                <a:srgbClr val="2C2C2C"/>
              </a:solidFill>
            </a:endParaRPr>
          </a:p>
          <a:p>
            <a:pPr marL="171450" lvl="0" indent="-171450" algn="just">
              <a:buFont typeface="Arial" panose="020B0604020202020204" pitchFamily="34" charset="0"/>
              <a:buChar char="•"/>
            </a:pPr>
            <a:r>
              <a:rPr lang="en-NG" sz="1000" dirty="0">
                <a:solidFill>
                  <a:srgbClr val="2C2C2C"/>
                </a:solidFill>
              </a:rPr>
              <a:t>A study specifically examining the impact of inflation on the retirement savings and long-term financial planning of Nigerian salary earners, as this study found significant savings collapse, but did not specifically measure retirement preparedness.</a:t>
            </a:r>
            <a:endParaRPr lang="en-US" sz="1000" dirty="0">
              <a:solidFill>
                <a:srgbClr val="2C2C2C"/>
              </a:solidFill>
            </a:endParaRPr>
          </a:p>
          <a:p>
            <a:pPr lvl="0" algn="just"/>
            <a:endParaRPr lang="en-NG" sz="1000" dirty="0">
              <a:solidFill>
                <a:srgbClr val="2C2C2C"/>
              </a:solidFill>
            </a:endParaRPr>
          </a:p>
          <a:p>
            <a:pPr marL="171450" indent="-171450" algn="just">
              <a:lnSpc>
                <a:spcPct val="115000"/>
              </a:lnSpc>
              <a:spcAft>
                <a:spcPts val="600"/>
              </a:spcAft>
              <a:buSzPct val="100000"/>
              <a:buFont typeface="Arial" panose="020B0604020202020204" pitchFamily="34" charset="0"/>
              <a:buChar char="•"/>
            </a:pPr>
            <a:r>
              <a:rPr lang="en-NG" sz="1000" dirty="0">
                <a:solidFill>
                  <a:srgbClr val="2C2C2C"/>
                </a:solidFill>
              </a:rPr>
              <a:t>An evaluation study measuring the actual effectiveness of cooperative savings groups as a financial resilience tool for low-income salary earners in Nigeria</a:t>
            </a:r>
            <a:r>
              <a:rPr lang="en-US" sz="1000" dirty="0">
                <a:solidFill>
                  <a:srgbClr val="2C2C2C"/>
                </a:solidFill>
              </a:rPr>
              <a:t>.</a:t>
            </a:r>
          </a:p>
        </p:txBody>
      </p:sp>
      <p:sp>
        <p:nvSpPr>
          <p:cNvPr id="12" name="Text 10"/>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14</a:t>
            </a:r>
            <a:endParaRPr lang="en-US" sz="900" dirty="0"/>
          </a:p>
        </p:txBody>
      </p:sp>
      <p:graphicFrame>
        <p:nvGraphicFramePr>
          <p:cNvPr id="13" name="Table 12">
            <a:extLst>
              <a:ext uri="{FF2B5EF4-FFF2-40B4-BE49-F238E27FC236}">
                <a16:creationId xmlns:a16="http://schemas.microsoft.com/office/drawing/2014/main" id="{39BAD460-7E6E-1961-2E74-51EB9102809B}"/>
              </a:ext>
            </a:extLst>
          </p:cNvPr>
          <p:cNvGraphicFramePr>
            <a:graphicFrameLocks noGrp="1"/>
          </p:cNvGraphicFramePr>
          <p:nvPr>
            <p:extLst>
              <p:ext uri="{D42A27DB-BD31-4B8C-83A1-F6EECF244321}">
                <p14:modId xmlns:p14="http://schemas.microsoft.com/office/powerpoint/2010/main" val="3061559534"/>
              </p:ext>
            </p:extLst>
          </p:nvPr>
        </p:nvGraphicFramePr>
        <p:xfrm>
          <a:off x="411480" y="1411200"/>
          <a:ext cx="3991356" cy="3985260"/>
        </p:xfrm>
        <a:graphic>
          <a:graphicData uri="http://schemas.openxmlformats.org/drawingml/2006/table">
            <a:tbl>
              <a:tblPr/>
              <a:tblGrid>
                <a:gridCol w="3991356">
                  <a:extLst>
                    <a:ext uri="{9D8B030D-6E8A-4147-A177-3AD203B41FA5}">
                      <a16:colId xmlns:a16="http://schemas.microsoft.com/office/drawing/2014/main" val="327522272"/>
                    </a:ext>
                  </a:extLst>
                </a:gridCol>
              </a:tblGrid>
              <a:tr h="353113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C1440E"/>
                          </a:solidFill>
                          <a:latin typeface="Trebuchet MS" pitchFamily="34" charset="0"/>
                          <a:ea typeface="Trebuchet MS" pitchFamily="34" charset="-122"/>
                          <a:cs typeface="Trebuchet MS" pitchFamily="34" charset="-120"/>
                        </a:rPr>
                        <a:t>Convenience Sampling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G" sz="1000" kern="1200" dirty="0">
                          <a:solidFill>
                            <a:srgbClr val="2C2C2C"/>
                          </a:solidFill>
                          <a:effectLst/>
                          <a:latin typeface="+mn-lt"/>
                          <a:ea typeface="+mn-ea"/>
                          <a:cs typeface="+mn-cs"/>
                        </a:rPr>
                        <a:t>This may have excluded salary earners in remote or rural areas with limited internet access, potentially introducing a selection bias toward more urban and digitally connected respondents.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solidFill>
                          <a:srgbClr val="F5F0E8"/>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D4A017"/>
                          </a:solidFill>
                          <a:latin typeface="Trebuchet MS" pitchFamily="34" charset="0"/>
                          <a:ea typeface="Trebuchet MS" pitchFamily="34" charset="-122"/>
                          <a:cs typeface="Trebuchet MS" pitchFamily="34" charset="-120"/>
                        </a:rPr>
                        <a:t>Self-Reported Data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G" sz="1000" kern="1200" dirty="0">
                          <a:solidFill>
                            <a:srgbClr val="2C2C2C"/>
                          </a:solidFill>
                          <a:effectLst/>
                          <a:latin typeface="+mn-lt"/>
                          <a:ea typeface="+mn-ea"/>
                          <a:cs typeface="+mn-cs"/>
                        </a:rPr>
                        <a:t>There is a possibility that some respondents may not have accurately disclosed their true income levels, savings habits, or debt situations due to social desirability bias, the tendency to present oneself more favourably than reality</a:t>
                      </a:r>
                      <a:endParaRPr lang="en-US" sz="1000" kern="1200" dirty="0">
                        <a:solidFill>
                          <a:srgbClr val="2C2C2C"/>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dirty="0">
                        <a:solidFill>
                          <a:schemeClr val="bg2"/>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solidFill>
                            <a:srgbClr val="2E86AB"/>
                          </a:solidFill>
                          <a:latin typeface="Trebuchet MS" pitchFamily="34" charset="0"/>
                          <a:ea typeface="Trebuchet MS" pitchFamily="34" charset="-122"/>
                          <a:cs typeface="Trebuchet MS" pitchFamily="34" charset="-120"/>
                        </a:rPr>
                        <a:t>Exclusion of Informal Salary Earners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G" sz="1000" kern="1200" dirty="0">
                          <a:solidFill>
                            <a:srgbClr val="2C2C2C"/>
                          </a:solidFill>
                          <a:effectLst/>
                          <a:latin typeface="+mn-lt"/>
                          <a:ea typeface="+mn-ea"/>
                          <a:cs typeface="+mn-cs"/>
                        </a:rPr>
                        <a:t>The screening question requiring a minimum of three years of salary-earning experience, while methodologically sound, excluded newer entrants to the workforce, including recent graduates and those who recently transitioned from informal to formal employment. These groups may have different and equally important experiences of inflation's impact on their early-career financial 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b="1" dirty="0">
                        <a:solidFill>
                          <a:srgbClr val="2E86AB"/>
                        </a:solidFill>
                        <a:latin typeface="Trebuchet MS" pitchFamily="34" charset="0"/>
                        <a:ea typeface="Trebuchet MS" pitchFamily="34" charset="-122"/>
                        <a:cs typeface="Trebuchet MS"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solidFill>
                          <a:srgbClr val="F5F0E8"/>
                        </a:solidFill>
                        <a:latin typeface="Calibri" pitchFamily="34" charset="0"/>
                        <a:ea typeface="Calibri" pitchFamily="34" charset="-122"/>
                        <a:cs typeface="Calibri" pitchFamily="34" charset="-12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endParaRPr lang="en-US" sz="105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35525038"/>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8B0000"/>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08  SUMMARY</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Summary</a:t>
            </a:r>
            <a:endParaRPr lang="en-US" sz="2600" dirty="0">
              <a:solidFill>
                <a:srgbClr val="8B0000"/>
              </a:solidFill>
            </a:endParaRPr>
          </a:p>
        </p:txBody>
      </p:sp>
      <p:sp>
        <p:nvSpPr>
          <p:cNvPr id="5" name="Shape 3"/>
          <p:cNvSpPr/>
          <p:nvPr/>
        </p:nvSpPr>
        <p:spPr>
          <a:xfrm>
            <a:off x="347472" y="1353312"/>
            <a:ext cx="8449056" cy="1508760"/>
          </a:xfrm>
          <a:prstGeom prst="rect">
            <a:avLst/>
          </a:prstGeom>
          <a:solidFill>
            <a:srgbClr val="F7F4EE"/>
          </a:solidFill>
          <a:ln w="15240">
            <a:solidFill>
              <a:srgbClr val="8B0000"/>
            </a:solidFill>
            <a:prstDash val="solid"/>
          </a:ln>
        </p:spPr>
      </p:sp>
      <p:sp>
        <p:nvSpPr>
          <p:cNvPr id="6" name="Text 4"/>
          <p:cNvSpPr/>
          <p:nvPr/>
        </p:nvSpPr>
        <p:spPr>
          <a:xfrm>
            <a:off x="502920" y="1463040"/>
            <a:ext cx="8138160" cy="1325880"/>
          </a:xfrm>
          <a:prstGeom prst="rect">
            <a:avLst/>
          </a:prstGeom>
          <a:noFill/>
          <a:ln/>
        </p:spPr>
        <p:txBody>
          <a:bodyPr wrap="square" lIns="0" tIns="0" rIns="0" bIns="0" rtlCol="0" anchor="ctr"/>
          <a:lstStyle/>
          <a:p>
            <a:pPr algn="just"/>
            <a:r>
              <a:rPr lang="en-NG" sz="1100" dirty="0">
                <a:solidFill>
                  <a:srgbClr val="2C2C2C"/>
                </a:solidFill>
              </a:rPr>
              <a:t>This study confirms that inflation has created a real, widespread, and deepening financial crisis for Nigerian salary earners. Nearly half of all respondents</a:t>
            </a:r>
            <a:r>
              <a:rPr lang="en-US" sz="1100" dirty="0">
                <a:solidFill>
                  <a:srgbClr val="2C2C2C"/>
                </a:solidFill>
              </a:rPr>
              <a:t>,</a:t>
            </a:r>
            <a:r>
              <a:rPr lang="en-NG" sz="1100" dirty="0">
                <a:solidFill>
                  <a:srgbClr val="2C2C2C"/>
                </a:solidFill>
              </a:rPr>
              <a:t> 49.7%</a:t>
            </a:r>
            <a:r>
              <a:rPr lang="en-US" sz="1100" dirty="0">
                <a:solidFill>
                  <a:srgbClr val="2C2C2C"/>
                </a:solidFill>
              </a:rPr>
              <a:t>, </a:t>
            </a:r>
            <a:r>
              <a:rPr lang="en-NG" sz="1100" dirty="0">
                <a:solidFill>
                  <a:srgbClr val="2C2C2C"/>
                </a:solidFill>
              </a:rPr>
              <a:t>can no longer afford what their salary comfortably covered two to three years ago, and over 70% are spending more than 70% of their entire monthly income on essential needs alone, leaving virtually nothing for savings or emergencies.</a:t>
            </a:r>
          </a:p>
          <a:p>
            <a:pPr algn="just"/>
            <a:r>
              <a:rPr lang="en-NG" sz="1100" dirty="0">
                <a:solidFill>
                  <a:srgbClr val="2C2C2C"/>
                </a:solidFill>
              </a:rPr>
              <a:t>Food and Groceries emerged as the single most devastating expenditure category, confirming that the most fundamental human need</a:t>
            </a:r>
            <a:r>
              <a:rPr lang="en-US" sz="1100" dirty="0">
                <a:solidFill>
                  <a:srgbClr val="2C2C2C"/>
                </a:solidFill>
              </a:rPr>
              <a:t>, </a:t>
            </a:r>
            <a:r>
              <a:rPr lang="en-NG" sz="1100" dirty="0">
                <a:solidFill>
                  <a:srgbClr val="2C2C2C"/>
                </a:solidFill>
              </a:rPr>
              <a:t>eating</a:t>
            </a:r>
            <a:r>
              <a:rPr lang="en-US" sz="1100" dirty="0">
                <a:solidFill>
                  <a:srgbClr val="2C2C2C"/>
                </a:solidFill>
              </a:rPr>
              <a:t>, </a:t>
            </a:r>
            <a:r>
              <a:rPr lang="en-NG" sz="1100" dirty="0">
                <a:solidFill>
                  <a:srgbClr val="2C2C2C"/>
                </a:solidFill>
              </a:rPr>
              <a:t>has become one of the greatest financial burdens for Nigeria’s working population. The savings crisis is equally alarming, with 58.08% of respondents either stopping or significantly reducing savings, and only 1 in 5 respondents </a:t>
            </a:r>
            <a:r>
              <a:rPr lang="en-US" sz="1100" dirty="0">
                <a:solidFill>
                  <a:srgbClr val="2C2C2C"/>
                </a:solidFill>
              </a:rPr>
              <a:t>is </a:t>
            </a:r>
            <a:r>
              <a:rPr lang="en-NG" sz="1100" dirty="0">
                <a:solidFill>
                  <a:srgbClr val="2C2C2C"/>
                </a:solidFill>
              </a:rPr>
              <a:t>genuinely financially stable.</a:t>
            </a:r>
          </a:p>
        </p:txBody>
      </p:sp>
      <p:sp>
        <p:nvSpPr>
          <p:cNvPr id="7" name="Shape 5"/>
          <p:cNvSpPr/>
          <p:nvPr/>
        </p:nvSpPr>
        <p:spPr>
          <a:xfrm>
            <a:off x="347472" y="2971800"/>
            <a:ext cx="8449056" cy="1970532"/>
          </a:xfrm>
          <a:prstGeom prst="rect">
            <a:avLst/>
          </a:prstGeom>
          <a:solidFill>
            <a:srgbClr val="F7F4EE"/>
          </a:solidFill>
          <a:ln w="15240">
            <a:solidFill>
              <a:srgbClr val="8B0000"/>
            </a:solidFill>
            <a:prstDash val="solid"/>
          </a:ln>
        </p:spPr>
      </p:sp>
      <p:sp>
        <p:nvSpPr>
          <p:cNvPr id="8" name="Text 6"/>
          <p:cNvSpPr/>
          <p:nvPr/>
        </p:nvSpPr>
        <p:spPr>
          <a:xfrm>
            <a:off x="502920" y="3090672"/>
            <a:ext cx="3657600" cy="237744"/>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WHAT THE DATA TELLS US</a:t>
            </a:r>
            <a:endParaRPr lang="en-US" sz="1100" dirty="0">
              <a:solidFill>
                <a:srgbClr val="8B0000"/>
              </a:solidFill>
            </a:endParaRPr>
          </a:p>
        </p:txBody>
      </p:sp>
      <p:sp>
        <p:nvSpPr>
          <p:cNvPr id="9" name="Text 7"/>
          <p:cNvSpPr/>
          <p:nvPr/>
        </p:nvSpPr>
        <p:spPr>
          <a:xfrm>
            <a:off x="502920" y="3346704"/>
            <a:ext cx="8138160" cy="1499616"/>
          </a:xfrm>
          <a:prstGeom prst="rect">
            <a:avLst/>
          </a:prstGeom>
          <a:noFill/>
          <a:ln/>
        </p:spPr>
        <p:txBody>
          <a:bodyPr wrap="square" rtlCol="0" anchor="ctr"/>
          <a:lstStyle/>
          <a:p>
            <a:pPr marL="171450" indent="-171450" algn="just">
              <a:buFont typeface="Arial" panose="020B0604020202020204" pitchFamily="34" charset="0"/>
              <a:buChar char="•"/>
            </a:pPr>
            <a:r>
              <a:rPr lang="en-NG" sz="1100" dirty="0"/>
              <a:t>Inflation has significantly weakened the purchasing power of Nigerian salary earners, making it increasingly difficult for many households to meet essential financial needs. </a:t>
            </a:r>
          </a:p>
          <a:p>
            <a:pPr marL="171450" indent="-171450" algn="just">
              <a:buFont typeface="Arial" panose="020B0604020202020204" pitchFamily="34" charset="0"/>
              <a:buChar char="•"/>
            </a:pPr>
            <a:r>
              <a:rPr lang="en-NG" sz="1100" dirty="0"/>
              <a:t>Food &amp; Groceries, Transportation &amp; Fuel, and Healthcare have become the greatest sources of financial pressure, consuming a larger share of household income. </a:t>
            </a:r>
          </a:p>
          <a:p>
            <a:pPr marL="171450" indent="-171450" algn="just">
              <a:buFont typeface="Arial" panose="020B0604020202020204" pitchFamily="34" charset="0"/>
              <a:buChar char="•"/>
            </a:pPr>
            <a:r>
              <a:rPr lang="en-NG" sz="1100" dirty="0"/>
              <a:t>The decline in savings capacity and the increasing reliance on financial coping strategies indicate that many salary earners are struggling to maintain long-term financial security. </a:t>
            </a:r>
          </a:p>
          <a:p>
            <a:pPr marL="171450" indent="-171450" algn="just">
              <a:buFont typeface="Arial" panose="020B0604020202020204" pitchFamily="34" charset="0"/>
              <a:buChar char="•"/>
            </a:pPr>
            <a:r>
              <a:rPr lang="en-NG" sz="1100" dirty="0"/>
              <a:t>Lower-income earners experienced the greatest financial impact, highlighting the need for targeted economic policies and income-support measures for vulnerable households. </a:t>
            </a:r>
          </a:p>
        </p:txBody>
      </p:sp>
      <p:sp>
        <p:nvSpPr>
          <p:cNvPr id="10" name="Text 8"/>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8B0000"/>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09  CONCLUSION</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Conclusion</a:t>
            </a:r>
            <a:endParaRPr lang="en-US" sz="2600" dirty="0">
              <a:solidFill>
                <a:srgbClr val="8B0000"/>
              </a:solidFill>
            </a:endParaRPr>
          </a:p>
        </p:txBody>
      </p:sp>
      <p:sp>
        <p:nvSpPr>
          <p:cNvPr id="5" name="Shape 3"/>
          <p:cNvSpPr/>
          <p:nvPr/>
        </p:nvSpPr>
        <p:spPr>
          <a:xfrm>
            <a:off x="347472" y="1353312"/>
            <a:ext cx="8449056" cy="3310128"/>
          </a:xfrm>
          <a:prstGeom prst="rect">
            <a:avLst/>
          </a:prstGeom>
          <a:solidFill>
            <a:srgbClr val="F7F4EE"/>
          </a:solidFill>
          <a:ln w="15240">
            <a:solidFill>
              <a:srgbClr val="8B0000"/>
            </a:solidFill>
            <a:prstDash val="solid"/>
          </a:ln>
        </p:spPr>
      </p:sp>
      <p:sp>
        <p:nvSpPr>
          <p:cNvPr id="6" name="Text 4"/>
          <p:cNvSpPr/>
          <p:nvPr/>
        </p:nvSpPr>
        <p:spPr>
          <a:xfrm>
            <a:off x="502920" y="1481328"/>
            <a:ext cx="8138160" cy="256032"/>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WHAT THIS PROJECT CONCLUDES</a:t>
            </a:r>
            <a:endParaRPr lang="en-US" sz="1100" dirty="0">
              <a:solidFill>
                <a:srgbClr val="8B0000"/>
              </a:solidFill>
            </a:endParaRPr>
          </a:p>
        </p:txBody>
      </p:sp>
      <p:sp>
        <p:nvSpPr>
          <p:cNvPr id="7" name="Text 5"/>
          <p:cNvSpPr/>
          <p:nvPr/>
        </p:nvSpPr>
        <p:spPr>
          <a:xfrm>
            <a:off x="502920" y="1783080"/>
            <a:ext cx="8138160" cy="1024128"/>
          </a:xfrm>
          <a:prstGeom prst="rect">
            <a:avLst/>
          </a:prstGeom>
          <a:noFill/>
          <a:ln/>
        </p:spPr>
        <p:txBody>
          <a:bodyPr wrap="square" lIns="0" tIns="0" rIns="0" bIns="0" rtlCol="0" anchor="ctr"/>
          <a:lstStyle/>
          <a:p>
            <a:pPr algn="just">
              <a:spcAft>
                <a:spcPts val="400"/>
              </a:spcAft>
            </a:pPr>
            <a:r>
              <a:rPr lang="en-NG" sz="1200" dirty="0">
                <a:solidFill>
                  <a:srgbClr val="2C2C2C"/>
                </a:solidFill>
              </a:rPr>
              <a:t>This study confirms that inflation has created a real, widespread, and deepening financial crisis for Nigerian salary earners. Nearly half of all respondents</a:t>
            </a:r>
            <a:r>
              <a:rPr lang="en-US" sz="1200" dirty="0">
                <a:solidFill>
                  <a:srgbClr val="2C2C2C"/>
                </a:solidFill>
              </a:rPr>
              <a:t>, </a:t>
            </a:r>
            <a:r>
              <a:rPr lang="en-NG" sz="1200" dirty="0">
                <a:solidFill>
                  <a:srgbClr val="2C2C2C"/>
                </a:solidFill>
              </a:rPr>
              <a:t>49.7%</a:t>
            </a:r>
            <a:r>
              <a:rPr lang="en-US" sz="1200" dirty="0">
                <a:solidFill>
                  <a:srgbClr val="2C2C2C"/>
                </a:solidFill>
              </a:rPr>
              <a:t>, </a:t>
            </a:r>
            <a:r>
              <a:rPr lang="en-NG" sz="1200" dirty="0">
                <a:solidFill>
                  <a:srgbClr val="2C2C2C"/>
                </a:solidFill>
              </a:rPr>
              <a:t>can no longer afford what their salary comfortably covered two to three years ago, and over 70% are spending more than 70% of their entire monthly income on essential needs alone, leaving virtually nothing for savings or emergencies.</a:t>
            </a:r>
            <a:endParaRPr lang="en-US" sz="1150" dirty="0">
              <a:solidFill>
                <a:srgbClr val="2C2C2C"/>
              </a:solidFill>
            </a:endParaRPr>
          </a:p>
        </p:txBody>
      </p:sp>
      <p:sp>
        <p:nvSpPr>
          <p:cNvPr id="8" name="Shape 6"/>
          <p:cNvSpPr/>
          <p:nvPr/>
        </p:nvSpPr>
        <p:spPr>
          <a:xfrm>
            <a:off x="502920" y="2852928"/>
            <a:ext cx="8138160" cy="36576"/>
          </a:xfrm>
          <a:prstGeom prst="rect">
            <a:avLst/>
          </a:prstGeom>
          <a:solidFill>
            <a:srgbClr val="8B0000"/>
          </a:solidFill>
          <a:ln w="12700">
            <a:solidFill>
              <a:srgbClr val="8B0000"/>
            </a:solidFill>
            <a:prstDash val="solid"/>
          </a:ln>
        </p:spPr>
      </p:sp>
      <p:sp>
        <p:nvSpPr>
          <p:cNvPr id="9" name="Text 7"/>
          <p:cNvSpPr/>
          <p:nvPr/>
        </p:nvSpPr>
        <p:spPr>
          <a:xfrm>
            <a:off x="502920" y="2926080"/>
            <a:ext cx="8138160" cy="237744"/>
          </a:xfrm>
          <a:prstGeom prst="rect">
            <a:avLst/>
          </a:prstGeom>
          <a:noFill/>
          <a:ln/>
        </p:spPr>
        <p:txBody>
          <a:bodyPr wrap="square" lIns="0" tIns="0" rIns="0" bIns="0" rtlCol="0" anchor="ctr"/>
          <a:lstStyle/>
          <a:p>
            <a:pPr marL="0" indent="0">
              <a:buNone/>
            </a:pPr>
            <a:r>
              <a:rPr lang="en-US" sz="1100" b="1" dirty="0">
                <a:solidFill>
                  <a:srgbClr val="8B0000"/>
                </a:solidFill>
                <a:latin typeface="Trebuchet MS" pitchFamily="34" charset="0"/>
                <a:ea typeface="Trebuchet MS" pitchFamily="34" charset="-122"/>
                <a:cs typeface="Trebuchet MS" pitchFamily="34" charset="-120"/>
              </a:rPr>
              <a:t>SIGNIFICANCE OF THE FINDINGS</a:t>
            </a:r>
            <a:endParaRPr lang="en-US" sz="1100" dirty="0">
              <a:solidFill>
                <a:srgbClr val="8B0000"/>
              </a:solidFill>
            </a:endParaRPr>
          </a:p>
        </p:txBody>
      </p:sp>
      <p:sp>
        <p:nvSpPr>
          <p:cNvPr id="10" name="Text 8"/>
          <p:cNvSpPr/>
          <p:nvPr/>
        </p:nvSpPr>
        <p:spPr>
          <a:xfrm>
            <a:off x="502920" y="3200400"/>
            <a:ext cx="8138160" cy="1389888"/>
          </a:xfrm>
          <a:prstGeom prst="rect">
            <a:avLst/>
          </a:prstGeom>
          <a:noFill/>
          <a:ln/>
        </p:spPr>
        <p:txBody>
          <a:bodyPr wrap="square" rtlCol="0" anchor="ctr"/>
          <a:lstStyle/>
          <a:p>
            <a:pPr marL="342900" indent="-342900" algn="just">
              <a:lnSpc>
                <a:spcPct val="115000"/>
              </a:lnSpc>
              <a:spcAft>
                <a:spcPts val="600"/>
              </a:spcAft>
              <a:buSzPct val="100000"/>
              <a:buChar char="•"/>
            </a:pPr>
            <a:r>
              <a:rPr lang="en-US" sz="1100" dirty="0">
                <a:solidFill>
                  <a:srgbClr val="2C2C2C"/>
                </a:solidFill>
              </a:rPr>
              <a:t>Lower-income</a:t>
            </a:r>
            <a:r>
              <a:rPr lang="en-NG" sz="1100" dirty="0">
                <a:solidFill>
                  <a:srgbClr val="2C2C2C"/>
                </a:solidFill>
              </a:rPr>
              <a:t> salary earners are not just earning less</a:t>
            </a:r>
            <a:r>
              <a:rPr lang="en-US" sz="1100" dirty="0">
                <a:solidFill>
                  <a:srgbClr val="2C2C2C"/>
                </a:solidFill>
              </a:rPr>
              <a:t>; </a:t>
            </a:r>
            <a:r>
              <a:rPr lang="en-NG" sz="1100" dirty="0">
                <a:solidFill>
                  <a:srgbClr val="2C2C2C"/>
                </a:solidFill>
              </a:rPr>
              <a:t>they are also coping less effectively. </a:t>
            </a:r>
            <a:endParaRPr lang="en-US" sz="1100" dirty="0">
              <a:solidFill>
                <a:srgbClr val="2C2C2C"/>
              </a:solidFill>
            </a:endParaRPr>
          </a:p>
          <a:p>
            <a:pPr marL="342900" indent="-342900" algn="just">
              <a:lnSpc>
                <a:spcPct val="115000"/>
              </a:lnSpc>
              <a:spcAft>
                <a:spcPts val="600"/>
              </a:spcAft>
              <a:buSzPct val="100000"/>
              <a:buChar char="•"/>
            </a:pPr>
            <a:r>
              <a:rPr lang="en-NG" sz="1100" dirty="0">
                <a:solidFill>
                  <a:srgbClr val="2C2C2C"/>
                </a:solidFill>
              </a:rPr>
              <a:t>The poorest salary earners borrow money to survive</a:t>
            </a:r>
            <a:r>
              <a:rPr lang="en-US" sz="1100" dirty="0">
                <a:solidFill>
                  <a:srgbClr val="2C2C2C"/>
                </a:solidFill>
              </a:rPr>
              <a:t>,</a:t>
            </a:r>
            <a:r>
              <a:rPr lang="en-NG" sz="1100" dirty="0">
                <a:solidFill>
                  <a:srgbClr val="2C2C2C"/>
                </a:solidFill>
              </a:rPr>
              <a:t> while the most financially stable earners join cooperative savings groups to build wealth. </a:t>
            </a:r>
            <a:endParaRPr lang="en-US" sz="1100" dirty="0">
              <a:solidFill>
                <a:srgbClr val="2C2C2C"/>
              </a:solidFill>
            </a:endParaRPr>
          </a:p>
          <a:p>
            <a:pPr marL="342900" indent="-342900" algn="just">
              <a:lnSpc>
                <a:spcPct val="115000"/>
              </a:lnSpc>
              <a:spcAft>
                <a:spcPts val="600"/>
              </a:spcAft>
              <a:buSzPct val="100000"/>
              <a:buChar char="•"/>
            </a:pPr>
            <a:r>
              <a:rPr lang="en-NG" sz="1100" dirty="0">
                <a:solidFill>
                  <a:srgbClr val="2C2C2C"/>
                </a:solidFill>
              </a:rPr>
              <a:t>This compounding disadvantage confirms that addressing Nigeria's inflation crisis requires simultaneous action from government, employers, financial institutions, and individuals</a:t>
            </a:r>
            <a:r>
              <a:rPr lang="en-US" sz="1100" dirty="0">
                <a:solidFill>
                  <a:srgbClr val="2C2C2C"/>
                </a:solidFill>
              </a:rPr>
              <a:t>, </a:t>
            </a:r>
            <a:r>
              <a:rPr lang="en-NG" sz="1100" dirty="0">
                <a:solidFill>
                  <a:srgbClr val="2C2C2C"/>
                </a:solidFill>
              </a:rPr>
              <a:t>moving away from reactive debt-driven survival toward proactive income diversification, cooperative savings, and financial planning.</a:t>
            </a:r>
            <a:endParaRPr lang="en-US" sz="1100" dirty="0">
              <a:solidFill>
                <a:srgbClr val="2C2C2C"/>
              </a:solidFill>
            </a:endParaRPr>
          </a:p>
        </p:txBody>
      </p:sp>
      <p:sp>
        <p:nvSpPr>
          <p:cNvPr id="11" name="Text 9"/>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8B0000"/>
          </a:solidFill>
          <a:ln w="12700">
            <a:solidFill>
              <a:srgbClr val="D4A017"/>
            </a:solidFill>
            <a:prstDash val="solid"/>
          </a:ln>
        </p:spPr>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900" b="1" dirty="0">
                <a:solidFill>
                  <a:srgbClr val="F7F4EE"/>
                </a:solidFill>
              </a:rPr>
              <a:t>10  RECOMMENDATIONS</a:t>
            </a:r>
            <a:endParaRPr lang="en-US" sz="900" dirty="0">
              <a:solidFill>
                <a:srgbClr val="F7F4EE"/>
              </a:solidFill>
            </a:endParaRPr>
          </a:p>
        </p:txBody>
      </p:sp>
      <p:sp>
        <p:nvSpPr>
          <p:cNvPr id="4" name="Text 2"/>
          <p:cNvSpPr/>
          <p:nvPr/>
        </p:nvSpPr>
        <p:spPr>
          <a:xfrm>
            <a:off x="365760" y="548640"/>
            <a:ext cx="8412480" cy="502920"/>
          </a:xfrm>
          <a:prstGeom prst="rect">
            <a:avLst/>
          </a:prstGeom>
          <a:noFill/>
          <a:ln/>
        </p:spPr>
        <p:txBody>
          <a:bodyPr wrap="square" lIns="0" tIns="0" rIns="0" bIns="0" rtlCol="0" anchor="ctr"/>
          <a:lstStyle/>
          <a:p>
            <a:pPr marL="0" indent="0">
              <a:buNone/>
            </a:pPr>
            <a:r>
              <a:rPr lang="en-US" sz="2600" b="1" dirty="0">
                <a:solidFill>
                  <a:srgbClr val="8B0000"/>
                </a:solidFill>
                <a:latin typeface="Trebuchet MS" pitchFamily="34" charset="0"/>
                <a:ea typeface="Trebuchet MS" pitchFamily="34" charset="-122"/>
                <a:cs typeface="Trebuchet MS" pitchFamily="34" charset="-120"/>
              </a:rPr>
              <a:t>Recommendations</a:t>
            </a:r>
            <a:endParaRPr lang="en-US" sz="2600" dirty="0">
              <a:solidFill>
                <a:srgbClr val="8B0000"/>
              </a:solidFill>
            </a:endParaRPr>
          </a:p>
        </p:txBody>
      </p:sp>
      <p:sp>
        <p:nvSpPr>
          <p:cNvPr id="5" name="Text 3"/>
          <p:cNvSpPr/>
          <p:nvPr/>
        </p:nvSpPr>
        <p:spPr>
          <a:xfrm>
            <a:off x="365760" y="1078992"/>
            <a:ext cx="8412480" cy="274320"/>
          </a:xfrm>
          <a:prstGeom prst="rect">
            <a:avLst/>
          </a:prstGeom>
          <a:noFill/>
          <a:ln/>
        </p:spPr>
        <p:txBody>
          <a:bodyPr wrap="square" lIns="0" tIns="0" rIns="0" bIns="0" rtlCol="0" anchor="ctr"/>
          <a:lstStyle/>
          <a:p>
            <a:pPr marL="0" indent="0">
              <a:buNone/>
            </a:pPr>
            <a:r>
              <a:rPr lang="en-US" sz="1200" i="1" dirty="0">
                <a:solidFill>
                  <a:srgbClr val="2C2C2C"/>
                </a:solidFill>
                <a:latin typeface="Calibri" pitchFamily="34" charset="0"/>
                <a:ea typeface="Calibri" pitchFamily="34" charset="-122"/>
                <a:cs typeface="Calibri" pitchFamily="34" charset="-120"/>
              </a:rPr>
              <a:t>Evidence-based actions for governments, employers, financial institutions, and all salary earners</a:t>
            </a:r>
            <a:endParaRPr lang="en-US" sz="1200" dirty="0">
              <a:solidFill>
                <a:srgbClr val="2C2C2C"/>
              </a:solidFill>
            </a:endParaRPr>
          </a:p>
        </p:txBody>
      </p:sp>
      <p:sp>
        <p:nvSpPr>
          <p:cNvPr id="6" name="Shape 4"/>
          <p:cNvSpPr/>
          <p:nvPr/>
        </p:nvSpPr>
        <p:spPr>
          <a:xfrm>
            <a:off x="347472" y="1389888"/>
            <a:ext cx="4251960" cy="1115568"/>
          </a:xfrm>
          <a:prstGeom prst="rect">
            <a:avLst/>
          </a:prstGeom>
          <a:solidFill>
            <a:srgbClr val="F7F4EE"/>
          </a:solidFill>
          <a:ln w="15240">
            <a:solidFill>
              <a:srgbClr val="8B0000"/>
            </a:solidFill>
            <a:prstDash val="solid"/>
          </a:ln>
        </p:spPr>
      </p:sp>
      <p:sp>
        <p:nvSpPr>
          <p:cNvPr id="7" name="Shape 5"/>
          <p:cNvSpPr/>
          <p:nvPr/>
        </p:nvSpPr>
        <p:spPr>
          <a:xfrm>
            <a:off x="347472" y="1389888"/>
            <a:ext cx="91440" cy="1115568"/>
          </a:xfrm>
          <a:prstGeom prst="rect">
            <a:avLst/>
          </a:prstGeom>
          <a:solidFill>
            <a:srgbClr val="C1440E"/>
          </a:solidFill>
          <a:ln w="12700">
            <a:solidFill>
              <a:srgbClr val="C1440E"/>
            </a:solidFill>
            <a:prstDash val="solid"/>
          </a:ln>
        </p:spPr>
      </p:sp>
      <p:sp>
        <p:nvSpPr>
          <p:cNvPr id="8" name="Text 6"/>
          <p:cNvSpPr/>
          <p:nvPr/>
        </p:nvSpPr>
        <p:spPr>
          <a:xfrm>
            <a:off x="548640" y="1463040"/>
            <a:ext cx="3950208" cy="237744"/>
          </a:xfrm>
          <a:prstGeom prst="rect">
            <a:avLst/>
          </a:prstGeom>
          <a:noFill/>
          <a:ln/>
        </p:spPr>
        <p:txBody>
          <a:bodyPr wrap="square" lIns="0" tIns="0" rIns="0" bIns="0" rtlCol="0" anchor="ctr"/>
          <a:lstStyle/>
          <a:p>
            <a:pPr marL="0" indent="0">
              <a:buNone/>
            </a:pPr>
            <a:r>
              <a:rPr lang="en-US" sz="1050" b="1" dirty="0">
                <a:solidFill>
                  <a:srgbClr val="C1440E"/>
                </a:solidFill>
                <a:latin typeface="Trebuchet MS" pitchFamily="34" charset="0"/>
                <a:ea typeface="Trebuchet MS" pitchFamily="34" charset="-122"/>
                <a:cs typeface="Trebuchet MS" pitchFamily="34" charset="-120"/>
              </a:rPr>
              <a:t>Federal Government: Annual Minimum Wage Review Tied to CPI</a:t>
            </a:r>
            <a:endParaRPr lang="en-US" sz="1050" dirty="0"/>
          </a:p>
        </p:txBody>
      </p:sp>
      <p:sp>
        <p:nvSpPr>
          <p:cNvPr id="9" name="Text 7"/>
          <p:cNvSpPr/>
          <p:nvPr/>
        </p:nvSpPr>
        <p:spPr>
          <a:xfrm>
            <a:off x="548640" y="1719072"/>
            <a:ext cx="3950208" cy="731520"/>
          </a:xfrm>
          <a:prstGeom prst="rect">
            <a:avLst/>
          </a:prstGeom>
          <a:noFill/>
          <a:ln/>
        </p:spPr>
        <p:txBody>
          <a:bodyPr wrap="square" lIns="0" tIns="0" rIns="0" bIns="0" rtlCol="0" anchor="ctr"/>
          <a:lstStyle/>
          <a:p>
            <a:pPr algn="just"/>
            <a:r>
              <a:rPr lang="en-NG" sz="1000" dirty="0">
                <a:solidFill>
                  <a:srgbClr val="2C2C2C"/>
                </a:solidFill>
              </a:rPr>
              <a:t>The federal government must establish a formal mechanism for automatically reviewing the national minimum wage annually in line with the Consumer Price Index, similar to systems used in the United Kingdom and South Africa. This would ensure that salary earners do not silently lose purchasing power between formal wage negotiations. </a:t>
            </a:r>
            <a:endParaRPr lang="en-US" sz="1000" dirty="0">
              <a:solidFill>
                <a:srgbClr val="2C2C2C"/>
              </a:solidFill>
            </a:endParaRPr>
          </a:p>
        </p:txBody>
      </p:sp>
      <p:sp>
        <p:nvSpPr>
          <p:cNvPr id="10" name="Shape 8"/>
          <p:cNvSpPr/>
          <p:nvPr/>
        </p:nvSpPr>
        <p:spPr>
          <a:xfrm>
            <a:off x="4782312" y="1389888"/>
            <a:ext cx="4251960" cy="1115568"/>
          </a:xfrm>
          <a:prstGeom prst="rect">
            <a:avLst/>
          </a:prstGeom>
          <a:solidFill>
            <a:srgbClr val="F7F4EE"/>
          </a:solidFill>
          <a:ln w="15240">
            <a:solidFill>
              <a:srgbClr val="8B0000"/>
            </a:solidFill>
            <a:prstDash val="solid"/>
          </a:ln>
        </p:spPr>
      </p:sp>
      <p:sp>
        <p:nvSpPr>
          <p:cNvPr id="11" name="Shape 9"/>
          <p:cNvSpPr/>
          <p:nvPr/>
        </p:nvSpPr>
        <p:spPr>
          <a:xfrm>
            <a:off x="4782312" y="1389888"/>
            <a:ext cx="91440" cy="1115568"/>
          </a:xfrm>
          <a:prstGeom prst="rect">
            <a:avLst/>
          </a:prstGeom>
          <a:solidFill>
            <a:srgbClr val="4A7C59"/>
          </a:solidFill>
          <a:ln w="12700">
            <a:solidFill>
              <a:srgbClr val="4A7C59"/>
            </a:solidFill>
            <a:prstDash val="solid"/>
          </a:ln>
        </p:spPr>
      </p:sp>
      <p:sp>
        <p:nvSpPr>
          <p:cNvPr id="12" name="Text 10"/>
          <p:cNvSpPr/>
          <p:nvPr/>
        </p:nvSpPr>
        <p:spPr>
          <a:xfrm>
            <a:off x="4983480" y="1463040"/>
            <a:ext cx="3950208" cy="237744"/>
          </a:xfrm>
          <a:prstGeom prst="rect">
            <a:avLst/>
          </a:prstGeom>
          <a:noFill/>
          <a:ln/>
        </p:spPr>
        <p:txBody>
          <a:bodyPr wrap="square" lIns="0" tIns="0" rIns="0" bIns="0" rtlCol="0" anchor="ctr"/>
          <a:lstStyle/>
          <a:p>
            <a:pPr marL="0" indent="0">
              <a:buNone/>
            </a:pPr>
            <a:r>
              <a:rPr lang="en-US" sz="1050" b="1" dirty="0">
                <a:solidFill>
                  <a:srgbClr val="4A7C59"/>
                </a:solidFill>
                <a:latin typeface="Trebuchet MS" pitchFamily="34" charset="0"/>
                <a:ea typeface="Trebuchet MS" pitchFamily="34" charset="-122"/>
                <a:cs typeface="Trebuchet MS" pitchFamily="34" charset="-120"/>
              </a:rPr>
              <a:t>Government: Targeted Food Price Stabilization Measures</a:t>
            </a:r>
            <a:endParaRPr lang="en-US" sz="1050" dirty="0"/>
          </a:p>
        </p:txBody>
      </p:sp>
      <p:sp>
        <p:nvSpPr>
          <p:cNvPr id="13" name="Text 11"/>
          <p:cNvSpPr/>
          <p:nvPr/>
        </p:nvSpPr>
        <p:spPr>
          <a:xfrm>
            <a:off x="4983480" y="1719072"/>
            <a:ext cx="3950208" cy="731520"/>
          </a:xfrm>
          <a:prstGeom prst="rect">
            <a:avLst/>
          </a:prstGeom>
          <a:noFill/>
          <a:ln/>
        </p:spPr>
        <p:txBody>
          <a:bodyPr wrap="square" lIns="0" tIns="0" rIns="0" bIns="0" rtlCol="0" anchor="ctr"/>
          <a:lstStyle/>
          <a:p>
            <a:pPr algn="just"/>
            <a:r>
              <a:rPr lang="en-NG" sz="1000" dirty="0">
                <a:solidFill>
                  <a:srgbClr val="2C2C2C"/>
                </a:solidFill>
              </a:rPr>
              <a:t>Investment in food storage infrastructure across all six geopolitical zones would reduce post-harvest losses and stabilise prices year-round. Repair of rural feeder roads connecting farming communities to urban markets would directly reduce transportation costs currently being passed on to consumers.</a:t>
            </a:r>
          </a:p>
        </p:txBody>
      </p:sp>
      <p:sp>
        <p:nvSpPr>
          <p:cNvPr id="14" name="Shape 12"/>
          <p:cNvSpPr/>
          <p:nvPr/>
        </p:nvSpPr>
        <p:spPr>
          <a:xfrm>
            <a:off x="347472" y="2624328"/>
            <a:ext cx="4251960" cy="1115568"/>
          </a:xfrm>
          <a:prstGeom prst="rect">
            <a:avLst/>
          </a:prstGeom>
          <a:solidFill>
            <a:srgbClr val="F7F4EE"/>
          </a:solidFill>
          <a:ln w="15240">
            <a:solidFill>
              <a:srgbClr val="8B0000"/>
            </a:solidFill>
            <a:prstDash val="solid"/>
          </a:ln>
        </p:spPr>
      </p:sp>
      <p:sp>
        <p:nvSpPr>
          <p:cNvPr id="15" name="Shape 13"/>
          <p:cNvSpPr/>
          <p:nvPr/>
        </p:nvSpPr>
        <p:spPr>
          <a:xfrm>
            <a:off x="347472" y="2624328"/>
            <a:ext cx="91440" cy="1115568"/>
          </a:xfrm>
          <a:prstGeom prst="rect">
            <a:avLst/>
          </a:prstGeom>
          <a:solidFill>
            <a:srgbClr val="D4A017"/>
          </a:solidFill>
          <a:ln w="12700">
            <a:solidFill>
              <a:srgbClr val="D4A017"/>
            </a:solidFill>
            <a:prstDash val="solid"/>
          </a:ln>
        </p:spPr>
      </p:sp>
      <p:sp>
        <p:nvSpPr>
          <p:cNvPr id="16" name="Text 14"/>
          <p:cNvSpPr/>
          <p:nvPr/>
        </p:nvSpPr>
        <p:spPr>
          <a:xfrm>
            <a:off x="548640" y="2697480"/>
            <a:ext cx="3950208" cy="237744"/>
          </a:xfrm>
          <a:prstGeom prst="rect">
            <a:avLst/>
          </a:prstGeom>
          <a:noFill/>
          <a:ln/>
        </p:spPr>
        <p:txBody>
          <a:bodyPr wrap="square" lIns="0" tIns="0" rIns="0" bIns="0" rtlCol="0" anchor="ctr"/>
          <a:lstStyle/>
          <a:p>
            <a:pPr marL="0" indent="0">
              <a:buNone/>
            </a:pPr>
            <a:r>
              <a:rPr lang="en-US" sz="1050" b="1" dirty="0">
                <a:solidFill>
                  <a:srgbClr val="D4A017"/>
                </a:solidFill>
                <a:latin typeface="Trebuchet MS" pitchFamily="34" charset="0"/>
                <a:ea typeface="Trebuchet MS" pitchFamily="34" charset="-122"/>
                <a:cs typeface="Trebuchet MS" pitchFamily="34" charset="-120"/>
              </a:rPr>
              <a:t>All Salary Earners: Embrace Cooperative Savings Groups</a:t>
            </a:r>
            <a:endParaRPr lang="en-US" sz="1050" dirty="0"/>
          </a:p>
        </p:txBody>
      </p:sp>
      <p:sp>
        <p:nvSpPr>
          <p:cNvPr id="17" name="Text 15"/>
          <p:cNvSpPr/>
          <p:nvPr/>
        </p:nvSpPr>
        <p:spPr>
          <a:xfrm>
            <a:off x="548640" y="2953512"/>
            <a:ext cx="3950208" cy="731520"/>
          </a:xfrm>
          <a:prstGeom prst="rect">
            <a:avLst/>
          </a:prstGeom>
          <a:noFill/>
          <a:ln/>
        </p:spPr>
        <p:txBody>
          <a:bodyPr wrap="square" lIns="0" tIns="0" rIns="0" bIns="0" rtlCol="0" anchor="ctr"/>
          <a:lstStyle/>
          <a:p>
            <a:pPr algn="just"/>
            <a:r>
              <a:rPr lang="en-NG" sz="1000" dirty="0">
                <a:solidFill>
                  <a:srgbClr val="2C2C2C"/>
                </a:solidFill>
              </a:rPr>
              <a:t>Employers should facilitate this by creating formal workplace savings cooperatives, allowing members to make regular contributions directly from their salary and access emergency loans at low or zero interest rates from the collective pool.</a:t>
            </a:r>
          </a:p>
        </p:txBody>
      </p:sp>
      <p:sp>
        <p:nvSpPr>
          <p:cNvPr id="18" name="Shape 16"/>
          <p:cNvSpPr/>
          <p:nvPr/>
        </p:nvSpPr>
        <p:spPr>
          <a:xfrm>
            <a:off x="4782312" y="2624328"/>
            <a:ext cx="4251960" cy="1115568"/>
          </a:xfrm>
          <a:prstGeom prst="rect">
            <a:avLst/>
          </a:prstGeom>
          <a:solidFill>
            <a:srgbClr val="F7F4EE"/>
          </a:solidFill>
          <a:ln w="15240">
            <a:solidFill>
              <a:srgbClr val="8B0000"/>
            </a:solidFill>
            <a:prstDash val="solid"/>
          </a:ln>
        </p:spPr>
        <p:txBody>
          <a:bodyPr/>
          <a:lstStyle/>
          <a:p>
            <a:endParaRPr lang="en-US"/>
          </a:p>
        </p:txBody>
      </p:sp>
      <p:sp>
        <p:nvSpPr>
          <p:cNvPr id="19" name="Shape 17"/>
          <p:cNvSpPr/>
          <p:nvPr/>
        </p:nvSpPr>
        <p:spPr>
          <a:xfrm>
            <a:off x="4782312" y="2624328"/>
            <a:ext cx="91440" cy="1115568"/>
          </a:xfrm>
          <a:prstGeom prst="rect">
            <a:avLst/>
          </a:prstGeom>
          <a:solidFill>
            <a:srgbClr val="2E86AB"/>
          </a:solidFill>
          <a:ln w="12700">
            <a:solidFill>
              <a:srgbClr val="2E86AB"/>
            </a:solidFill>
            <a:prstDash val="solid"/>
          </a:ln>
        </p:spPr>
      </p:sp>
      <p:sp>
        <p:nvSpPr>
          <p:cNvPr id="20" name="Text 18"/>
          <p:cNvSpPr/>
          <p:nvPr/>
        </p:nvSpPr>
        <p:spPr>
          <a:xfrm>
            <a:off x="4983480" y="2697480"/>
            <a:ext cx="3950208" cy="237744"/>
          </a:xfrm>
          <a:prstGeom prst="rect">
            <a:avLst/>
          </a:prstGeom>
          <a:noFill/>
          <a:ln/>
        </p:spPr>
        <p:txBody>
          <a:bodyPr wrap="square" lIns="0" tIns="0" rIns="0" bIns="0" rtlCol="0" anchor="ctr"/>
          <a:lstStyle/>
          <a:p>
            <a:pPr marL="0" indent="0">
              <a:buNone/>
            </a:pPr>
            <a:r>
              <a:rPr lang="en-US" sz="1050" b="1" dirty="0">
                <a:solidFill>
                  <a:srgbClr val="2E86AB"/>
                </a:solidFill>
                <a:latin typeface="Trebuchet MS" pitchFamily="34" charset="0"/>
                <a:ea typeface="Trebuchet MS" pitchFamily="34" charset="-122"/>
                <a:cs typeface="Trebuchet MS" pitchFamily="34" charset="-120"/>
              </a:rPr>
              <a:t>Employers: Cost of Living Allowances</a:t>
            </a:r>
            <a:endParaRPr lang="en-US" sz="1050" dirty="0"/>
          </a:p>
        </p:txBody>
      </p:sp>
      <p:sp>
        <p:nvSpPr>
          <p:cNvPr id="21" name="Text 19"/>
          <p:cNvSpPr/>
          <p:nvPr/>
        </p:nvSpPr>
        <p:spPr>
          <a:xfrm>
            <a:off x="4983480" y="2953512"/>
            <a:ext cx="3950208" cy="804672"/>
          </a:xfrm>
          <a:prstGeom prst="rect">
            <a:avLst/>
          </a:prstGeom>
          <a:noFill/>
          <a:ln/>
        </p:spPr>
        <p:txBody>
          <a:bodyPr wrap="square" lIns="0" tIns="0" rIns="0" bIns="0" rtlCol="0" anchor="ctr"/>
          <a:lstStyle/>
          <a:p>
            <a:pPr algn="just"/>
            <a:r>
              <a:rPr lang="en-NG" sz="1000" dirty="0">
                <a:solidFill>
                  <a:srgbClr val="2C2C2C"/>
                </a:solidFill>
              </a:rPr>
              <a:t>Private sector employers and government institutions should introduce Cost of Living Allowances specifically designed to bridge the gap between current salary levels and actual living costs. Subsidised meal programmes, transportation allowances, and medical allowances would directly address the three expenditure categories confirmed as most severely impact</a:t>
            </a:r>
            <a:r>
              <a:rPr lang="en-US" sz="1000" dirty="0">
                <a:solidFill>
                  <a:srgbClr val="2C2C2C"/>
                </a:solidFill>
              </a:rPr>
              <a:t>ed.</a:t>
            </a:r>
          </a:p>
        </p:txBody>
      </p:sp>
      <p:sp>
        <p:nvSpPr>
          <p:cNvPr id="22" name="Shape 20"/>
          <p:cNvSpPr/>
          <p:nvPr/>
        </p:nvSpPr>
        <p:spPr>
          <a:xfrm>
            <a:off x="347472" y="3858768"/>
            <a:ext cx="4251960" cy="1115568"/>
          </a:xfrm>
          <a:prstGeom prst="rect">
            <a:avLst/>
          </a:prstGeom>
          <a:solidFill>
            <a:srgbClr val="F7F4EE"/>
          </a:solidFill>
          <a:ln w="15240">
            <a:solidFill>
              <a:srgbClr val="8B0000"/>
            </a:solidFill>
            <a:prstDash val="solid"/>
          </a:ln>
        </p:spPr>
      </p:sp>
      <p:sp>
        <p:nvSpPr>
          <p:cNvPr id="23" name="Shape 21"/>
          <p:cNvSpPr/>
          <p:nvPr/>
        </p:nvSpPr>
        <p:spPr>
          <a:xfrm>
            <a:off x="347472" y="3858768"/>
            <a:ext cx="91440" cy="1115568"/>
          </a:xfrm>
          <a:prstGeom prst="rect">
            <a:avLst/>
          </a:prstGeom>
          <a:solidFill>
            <a:srgbClr val="4A7C59"/>
          </a:solidFill>
          <a:ln w="12700">
            <a:solidFill>
              <a:srgbClr val="4A7C59"/>
            </a:solidFill>
            <a:prstDash val="solid"/>
          </a:ln>
        </p:spPr>
      </p:sp>
      <p:sp>
        <p:nvSpPr>
          <p:cNvPr id="24" name="Text 22"/>
          <p:cNvSpPr/>
          <p:nvPr/>
        </p:nvSpPr>
        <p:spPr>
          <a:xfrm>
            <a:off x="548640" y="3931920"/>
            <a:ext cx="3950208" cy="237744"/>
          </a:xfrm>
          <a:prstGeom prst="rect">
            <a:avLst/>
          </a:prstGeom>
          <a:noFill/>
          <a:ln/>
        </p:spPr>
        <p:txBody>
          <a:bodyPr wrap="square" lIns="0" tIns="0" rIns="0" bIns="0" rtlCol="0" anchor="ctr"/>
          <a:lstStyle/>
          <a:p>
            <a:pPr marL="0" indent="0">
              <a:buNone/>
            </a:pPr>
            <a:r>
              <a:rPr lang="en-US" sz="1050" b="1" dirty="0">
                <a:solidFill>
                  <a:srgbClr val="4A7C59"/>
                </a:solidFill>
                <a:latin typeface="Trebuchet MS" pitchFamily="34" charset="0"/>
                <a:ea typeface="Trebuchet MS" pitchFamily="34" charset="-122"/>
                <a:cs typeface="Trebuchet MS" pitchFamily="34" charset="-120"/>
              </a:rPr>
              <a:t>Government: Expand Social Protection </a:t>
            </a:r>
            <a:r>
              <a:rPr lang="en-US" sz="1050" b="1" dirty="0" err="1">
                <a:solidFill>
                  <a:srgbClr val="4A7C59"/>
                </a:solidFill>
                <a:latin typeface="Trebuchet MS" pitchFamily="34" charset="0"/>
                <a:ea typeface="Trebuchet MS" pitchFamily="34" charset="-122"/>
                <a:cs typeface="Trebuchet MS" pitchFamily="34" charset="-120"/>
              </a:rPr>
              <a:t>Programmes</a:t>
            </a:r>
            <a:endParaRPr lang="en-US" sz="1050" dirty="0"/>
          </a:p>
        </p:txBody>
      </p:sp>
      <p:sp>
        <p:nvSpPr>
          <p:cNvPr id="25" name="Text 23"/>
          <p:cNvSpPr/>
          <p:nvPr/>
        </p:nvSpPr>
        <p:spPr>
          <a:xfrm>
            <a:off x="548640" y="4187952"/>
            <a:ext cx="3950208" cy="731520"/>
          </a:xfrm>
          <a:prstGeom prst="rect">
            <a:avLst/>
          </a:prstGeom>
          <a:noFill/>
          <a:ln/>
        </p:spPr>
        <p:txBody>
          <a:bodyPr wrap="square" lIns="0" tIns="0" rIns="0" bIns="0" rtlCol="0" anchor="ctr"/>
          <a:lstStyle/>
          <a:p>
            <a:pPr algn="just"/>
            <a:r>
              <a:rPr lang="en-NG" sz="1000" dirty="0">
                <a:solidFill>
                  <a:srgbClr val="2C2C2C"/>
                </a:solidFill>
              </a:rPr>
              <a:t>The government's existing social protection programmes, including the Conditional Cash Transfer scheme and the National Social Investment Programme, must be significantly expanded to reach not just the unemployed poor but also the working poor, salary earners whose income has been so severely reduced by inflation</a:t>
            </a:r>
            <a:r>
              <a:rPr lang="en-US" sz="1000" dirty="0">
                <a:solidFill>
                  <a:srgbClr val="2C2C2C"/>
                </a:solidFill>
              </a:rPr>
              <a:t>.</a:t>
            </a:r>
            <a:endParaRPr lang="en-NG" sz="1000" dirty="0">
              <a:solidFill>
                <a:srgbClr val="2C2C2C"/>
              </a:solidFill>
            </a:endParaRPr>
          </a:p>
        </p:txBody>
      </p:sp>
      <p:sp>
        <p:nvSpPr>
          <p:cNvPr id="26" name="Shape 24"/>
          <p:cNvSpPr/>
          <p:nvPr/>
        </p:nvSpPr>
        <p:spPr>
          <a:xfrm>
            <a:off x="4782312" y="3858768"/>
            <a:ext cx="4251960" cy="1115568"/>
          </a:xfrm>
          <a:prstGeom prst="rect">
            <a:avLst/>
          </a:prstGeom>
          <a:solidFill>
            <a:srgbClr val="F7F4EE"/>
          </a:solidFill>
          <a:ln w="15240">
            <a:solidFill>
              <a:srgbClr val="8B0000"/>
            </a:solidFill>
            <a:prstDash val="solid"/>
          </a:ln>
        </p:spPr>
      </p:sp>
      <p:sp>
        <p:nvSpPr>
          <p:cNvPr id="27" name="Shape 25"/>
          <p:cNvSpPr/>
          <p:nvPr/>
        </p:nvSpPr>
        <p:spPr>
          <a:xfrm>
            <a:off x="4782312" y="3858768"/>
            <a:ext cx="91440" cy="1115568"/>
          </a:xfrm>
          <a:prstGeom prst="rect">
            <a:avLst/>
          </a:prstGeom>
          <a:solidFill>
            <a:srgbClr val="D4A017"/>
          </a:solidFill>
          <a:ln w="12700">
            <a:solidFill>
              <a:srgbClr val="D4A017"/>
            </a:solidFill>
            <a:prstDash val="solid"/>
          </a:ln>
        </p:spPr>
      </p:sp>
      <p:sp>
        <p:nvSpPr>
          <p:cNvPr id="28" name="Text 26"/>
          <p:cNvSpPr/>
          <p:nvPr/>
        </p:nvSpPr>
        <p:spPr>
          <a:xfrm>
            <a:off x="4983480" y="3931920"/>
            <a:ext cx="3950208" cy="237744"/>
          </a:xfrm>
          <a:prstGeom prst="rect">
            <a:avLst/>
          </a:prstGeom>
          <a:noFill/>
          <a:ln/>
        </p:spPr>
        <p:txBody>
          <a:bodyPr wrap="square" lIns="0" tIns="0" rIns="0" bIns="0" rtlCol="0" anchor="ctr"/>
          <a:lstStyle/>
          <a:p>
            <a:r>
              <a:rPr lang="en-NG" sz="1050" b="1" dirty="0">
                <a:solidFill>
                  <a:srgbClr val="F57C00"/>
                </a:solidFill>
              </a:rPr>
              <a:t>Employers and Government: Workplace Financial Literacy Programmes</a:t>
            </a:r>
            <a:endParaRPr lang="en-US" sz="1050" b="1" dirty="0">
              <a:solidFill>
                <a:srgbClr val="F57C00"/>
              </a:solidFill>
            </a:endParaRPr>
          </a:p>
        </p:txBody>
      </p:sp>
      <p:sp>
        <p:nvSpPr>
          <p:cNvPr id="29" name="Text 27"/>
          <p:cNvSpPr/>
          <p:nvPr/>
        </p:nvSpPr>
        <p:spPr>
          <a:xfrm>
            <a:off x="4983480" y="4187952"/>
            <a:ext cx="3950208" cy="731520"/>
          </a:xfrm>
          <a:prstGeom prst="rect">
            <a:avLst/>
          </a:prstGeom>
          <a:noFill/>
          <a:ln/>
        </p:spPr>
        <p:txBody>
          <a:bodyPr wrap="square" lIns="0" tIns="0" rIns="0" bIns="0" rtlCol="0" anchor="ctr"/>
          <a:lstStyle/>
          <a:p>
            <a:pPr algn="just"/>
            <a:r>
              <a:rPr lang="en-NG" sz="1000" dirty="0">
                <a:solidFill>
                  <a:srgbClr val="2C2C2C"/>
                </a:solidFill>
              </a:rPr>
              <a:t>Employers, financial institutions, and government agencies should collaborate to deliver regular, practical, and accessible financial literacy programmes in workplaces</a:t>
            </a:r>
            <a:r>
              <a:rPr lang="en-US" sz="1000" dirty="0">
                <a:solidFill>
                  <a:srgbClr val="2C2C2C"/>
                </a:solidFill>
              </a:rPr>
              <a:t> that cover</a:t>
            </a:r>
            <a:r>
              <a:rPr lang="en-NG" sz="1000" dirty="0">
                <a:solidFill>
                  <a:srgbClr val="2C2C2C"/>
                </a:solidFill>
              </a:rPr>
              <a:t> budgeting, debt management, cooperative savings, and income diversification.</a:t>
            </a:r>
            <a:endParaRPr lang="en-US" sz="1000" dirty="0">
              <a:solidFill>
                <a:srgbClr val="2C2C2C"/>
              </a:solidFill>
            </a:endParaRPr>
          </a:p>
        </p:txBody>
      </p:sp>
      <p:sp>
        <p:nvSpPr>
          <p:cNvPr id="30" name="Text 28"/>
          <p:cNvSpPr/>
          <p:nvPr/>
        </p:nvSpPr>
        <p:spPr>
          <a:xfrm>
            <a:off x="8686800" y="4846320"/>
            <a:ext cx="365760" cy="274320"/>
          </a:xfrm>
          <a:prstGeom prst="rect">
            <a:avLst/>
          </a:prstGeom>
          <a:noFill/>
          <a:ln/>
        </p:spPr>
        <p:txBody>
          <a:bodyPr wrap="square" lIns="0" tIns="0" rIns="0" bIns="0" rtlCol="0" anchor="ctr"/>
          <a:lstStyle/>
          <a:p>
            <a:pPr marL="0" indent="0" algn="r">
              <a:buNone/>
            </a:pPr>
            <a:r>
              <a:rPr lang="en-US" sz="900" dirty="0">
                <a:solidFill>
                  <a:srgbClr val="A0998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sp>
      <p:sp>
        <p:nvSpPr>
          <p:cNvPr id="3" name="Shape 1"/>
          <p:cNvSpPr/>
          <p:nvPr/>
        </p:nvSpPr>
        <p:spPr>
          <a:xfrm>
            <a:off x="8979408" y="0"/>
            <a:ext cx="164592" cy="5143500"/>
          </a:xfrm>
          <a:prstGeom prst="rect">
            <a:avLst/>
          </a:prstGeom>
          <a:solidFill>
            <a:srgbClr val="8B0000"/>
          </a:solidFill>
          <a:ln w="12700">
            <a:solidFill>
              <a:srgbClr val="8B0000"/>
            </a:solidFill>
            <a:prstDash val="solid"/>
          </a:ln>
        </p:spPr>
      </p:sp>
      <p:sp>
        <p:nvSpPr>
          <p:cNvPr id="4" name="Text 2"/>
          <p:cNvSpPr/>
          <p:nvPr/>
        </p:nvSpPr>
        <p:spPr>
          <a:xfrm>
            <a:off x="457200" y="594360"/>
            <a:ext cx="8229600" cy="822960"/>
          </a:xfrm>
          <a:prstGeom prst="rect">
            <a:avLst/>
          </a:prstGeom>
          <a:noFill/>
          <a:ln/>
        </p:spPr>
        <p:txBody>
          <a:bodyPr wrap="square" lIns="0" tIns="0" rIns="0" bIns="0" rtlCol="0" anchor="ctr"/>
          <a:lstStyle/>
          <a:p>
            <a:pPr marL="0" indent="0" algn="ctr">
              <a:buNone/>
            </a:pPr>
            <a:r>
              <a:rPr lang="en-US" sz="5800" b="1" kern="0" spc="800" dirty="0">
                <a:solidFill>
                  <a:srgbClr val="8B0000"/>
                </a:solidFill>
                <a:latin typeface="Trebuchet MS" pitchFamily="34" charset="0"/>
                <a:ea typeface="Trebuchet MS" pitchFamily="34" charset="-122"/>
                <a:cs typeface="Trebuchet MS" pitchFamily="34" charset="-120"/>
              </a:rPr>
              <a:t>THANK YOU</a:t>
            </a:r>
            <a:endParaRPr lang="en-US" sz="5800" dirty="0">
              <a:solidFill>
                <a:srgbClr val="8B0000"/>
              </a:solidFill>
            </a:endParaRPr>
          </a:p>
        </p:txBody>
      </p:sp>
      <p:sp>
        <p:nvSpPr>
          <p:cNvPr id="5" name="Text 3"/>
          <p:cNvSpPr/>
          <p:nvPr/>
        </p:nvSpPr>
        <p:spPr>
          <a:xfrm>
            <a:off x="457200" y="1481328"/>
            <a:ext cx="8229600" cy="365760"/>
          </a:xfrm>
          <a:prstGeom prst="rect">
            <a:avLst/>
          </a:prstGeom>
          <a:noFill/>
          <a:ln/>
        </p:spPr>
        <p:txBody>
          <a:bodyPr wrap="square" lIns="0" tIns="0" rIns="0" bIns="0" rtlCol="0" anchor="ctr"/>
          <a:lstStyle/>
          <a:p>
            <a:pPr marL="0" indent="0" algn="ctr">
              <a:buNone/>
            </a:pPr>
            <a:r>
              <a:rPr lang="en-US" sz="1300" i="1" dirty="0">
                <a:solidFill>
                  <a:srgbClr val="2C2C2C"/>
                </a:solidFill>
                <a:latin typeface="Calibri" pitchFamily="34" charset="0"/>
                <a:ea typeface="Calibri" pitchFamily="34" charset="-122"/>
                <a:cs typeface="Calibri" pitchFamily="34" charset="-120"/>
              </a:rPr>
              <a:t>Analysis of Inflation on the purchasing power and savings </a:t>
            </a:r>
            <a:r>
              <a:rPr lang="en-US" sz="1300" i="1" dirty="0" err="1">
                <a:solidFill>
                  <a:srgbClr val="2C2C2C"/>
                </a:solidFill>
                <a:latin typeface="Calibri" pitchFamily="34" charset="0"/>
                <a:ea typeface="Calibri" pitchFamily="34" charset="-122"/>
                <a:cs typeface="Calibri" pitchFamily="34" charset="-120"/>
              </a:rPr>
              <a:t>Behaviour</a:t>
            </a:r>
            <a:r>
              <a:rPr lang="en-US" sz="1300" i="1" dirty="0">
                <a:solidFill>
                  <a:srgbClr val="2C2C2C"/>
                </a:solidFill>
                <a:latin typeface="Calibri" pitchFamily="34" charset="0"/>
                <a:ea typeface="Calibri" pitchFamily="34" charset="-122"/>
                <a:cs typeface="Calibri" pitchFamily="34" charset="-120"/>
              </a:rPr>
              <a:t> of Nigerian Salary Earners</a:t>
            </a:r>
            <a:endParaRPr lang="en-US" sz="1300" dirty="0">
              <a:solidFill>
                <a:srgbClr val="2C2C2C"/>
              </a:solidFill>
            </a:endParaRPr>
          </a:p>
        </p:txBody>
      </p:sp>
      <p:sp>
        <p:nvSpPr>
          <p:cNvPr id="6" name="Shape 4"/>
          <p:cNvSpPr/>
          <p:nvPr/>
        </p:nvSpPr>
        <p:spPr>
          <a:xfrm>
            <a:off x="1371600" y="1920240"/>
            <a:ext cx="6400800" cy="41148"/>
          </a:xfrm>
          <a:prstGeom prst="rect">
            <a:avLst/>
          </a:prstGeom>
          <a:solidFill>
            <a:srgbClr val="8B0000"/>
          </a:solidFill>
          <a:ln w="12700">
            <a:solidFill>
              <a:srgbClr val="8B0000"/>
            </a:solidFill>
            <a:prstDash val="solid"/>
          </a:ln>
        </p:spPr>
      </p:sp>
      <p:sp>
        <p:nvSpPr>
          <p:cNvPr id="7" name="Shape 5"/>
          <p:cNvSpPr/>
          <p:nvPr/>
        </p:nvSpPr>
        <p:spPr>
          <a:xfrm>
            <a:off x="731520" y="2029968"/>
            <a:ext cx="7680960" cy="749808"/>
          </a:xfrm>
          <a:prstGeom prst="rect">
            <a:avLst/>
          </a:prstGeom>
          <a:solidFill>
            <a:srgbClr val="F7F4EE"/>
          </a:solidFill>
          <a:ln w="15240">
            <a:solidFill>
              <a:srgbClr val="8B0000"/>
            </a:solidFill>
            <a:prstDash val="solid"/>
          </a:ln>
        </p:spPr>
      </p:sp>
      <p:sp>
        <p:nvSpPr>
          <p:cNvPr id="8" name="Text 6"/>
          <p:cNvSpPr/>
          <p:nvPr/>
        </p:nvSpPr>
        <p:spPr>
          <a:xfrm>
            <a:off x="896112" y="2103120"/>
            <a:ext cx="7351776" cy="603504"/>
          </a:xfrm>
          <a:prstGeom prst="rect">
            <a:avLst/>
          </a:prstGeom>
          <a:noFill/>
          <a:ln/>
        </p:spPr>
        <p:txBody>
          <a:bodyPr wrap="square" lIns="0" tIns="0" rIns="0" bIns="0" rtlCol="0" anchor="ctr"/>
          <a:lstStyle/>
          <a:p>
            <a:pPr algn="ctr"/>
            <a:r>
              <a:rPr lang="en-US" sz="1400" i="1" dirty="0">
                <a:solidFill>
                  <a:srgbClr val="2C2C2C"/>
                </a:solidFill>
                <a:latin typeface="Cambria" pitchFamily="34" charset="0"/>
                <a:ea typeface="Cambria" pitchFamily="34" charset="-122"/>
                <a:cs typeface="Cambria" pitchFamily="34" charset="-120"/>
              </a:rPr>
              <a:t>"Every salary earner deserves more than sympathy. They deserve answers. And they deserve solutions."</a:t>
            </a:r>
            <a:endParaRPr lang="en-US" sz="1400" dirty="0">
              <a:solidFill>
                <a:srgbClr val="2C2C2C"/>
              </a:solidFill>
            </a:endParaRPr>
          </a:p>
        </p:txBody>
      </p:sp>
      <p:sp>
        <p:nvSpPr>
          <p:cNvPr id="9" name="Text 7"/>
          <p:cNvSpPr/>
          <p:nvPr/>
        </p:nvSpPr>
        <p:spPr>
          <a:xfrm>
            <a:off x="457200" y="2907792"/>
            <a:ext cx="8229600" cy="384048"/>
          </a:xfrm>
          <a:prstGeom prst="rect">
            <a:avLst/>
          </a:prstGeom>
          <a:noFill/>
          <a:ln/>
        </p:spPr>
        <p:txBody>
          <a:bodyPr wrap="square" lIns="0" tIns="0" rIns="0" bIns="0" rtlCol="0" anchor="ctr"/>
          <a:lstStyle/>
          <a:p>
            <a:pPr marL="0" indent="0" algn="ctr">
              <a:buNone/>
            </a:pPr>
            <a:r>
              <a:rPr lang="en-US" sz="2000" b="1" dirty="0">
                <a:solidFill>
                  <a:srgbClr val="F5F0E8"/>
                </a:solidFill>
                <a:latin typeface="Trebuchet MS" pitchFamily="34" charset="0"/>
                <a:ea typeface="Trebuchet MS" pitchFamily="34" charset="-122"/>
                <a:cs typeface="Trebuchet MS" pitchFamily="34" charset="-120"/>
              </a:rPr>
              <a:t>Questions and Answers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4623</TotalTime>
  <Words>2794</Words>
  <Application>Microsoft Office PowerPoint</Application>
  <PresentationFormat>On-screen Show (16:9)</PresentationFormat>
  <Paragraphs>315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Dioxide Emissions and Economic Growth Across African Nations</dc:title>
  <dc:subject>PptxGenJS Presentation</dc:subject>
  <dc:creator>PptxGenJS</dc:creator>
  <cp:lastModifiedBy>halimah olatunji</cp:lastModifiedBy>
  <cp:revision>17</cp:revision>
  <dcterms:created xsi:type="dcterms:W3CDTF">2026-06-09T10:31:44Z</dcterms:created>
  <dcterms:modified xsi:type="dcterms:W3CDTF">2026-07-13T12:01:45Z</dcterms:modified>
</cp:coreProperties>
</file>